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3"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230C2E-0079-47A2-80F0-08B68F243514}" v="5" dt="2026-10-27T13:53:28.0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snapToObjects="1">
      <p:cViewPr varScale="1">
        <p:scale>
          <a:sx n="91" d="100"/>
          <a:sy n="91" d="100"/>
        </p:scale>
        <p:origin x="36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idhar kusugal" userId="ebc50c2c1b7afc0d" providerId="LiveId" clId="{DBF1DDBD-4C51-4663-80F6-6BA8388F5B4D}"/>
    <pc:docChg chg="undo redo custSel addSld delSld modSld">
      <pc:chgData name="shridhar kusugal" userId="ebc50c2c1b7afc0d" providerId="LiveId" clId="{DBF1DDBD-4C51-4663-80F6-6BA8388F5B4D}" dt="2026-10-27T13:54:50.429" v="423" actId="207"/>
      <pc:docMkLst>
        <pc:docMk/>
      </pc:docMkLst>
      <pc:sldChg chg="addSp delSp mod">
        <pc:chgData name="shridhar kusugal" userId="ebc50c2c1b7afc0d" providerId="LiveId" clId="{DBF1DDBD-4C51-4663-80F6-6BA8388F5B4D}" dt="2026-10-27T13:14:03.110" v="201" actId="478"/>
        <pc:sldMkLst>
          <pc:docMk/>
          <pc:sldMk cId="0" sldId="256"/>
        </pc:sldMkLst>
        <pc:spChg chg="add del">
          <ac:chgData name="shridhar kusugal" userId="ebc50c2c1b7afc0d" providerId="LiveId" clId="{DBF1DDBD-4C51-4663-80F6-6BA8388F5B4D}" dt="2026-10-27T13:14:03.110" v="201" actId="478"/>
          <ac:spMkLst>
            <pc:docMk/>
            <pc:sldMk cId="0" sldId="256"/>
            <ac:spMk id="2" creationId="{00000000-0000-0000-0000-000000000000}"/>
          </ac:spMkLst>
        </pc:spChg>
      </pc:sldChg>
      <pc:sldChg chg="modSp mod">
        <pc:chgData name="shridhar kusugal" userId="ebc50c2c1b7afc0d" providerId="LiveId" clId="{DBF1DDBD-4C51-4663-80F6-6BA8388F5B4D}" dt="2026-10-27T13:02:03.781" v="163" actId="14100"/>
        <pc:sldMkLst>
          <pc:docMk/>
          <pc:sldMk cId="0" sldId="257"/>
        </pc:sldMkLst>
        <pc:spChg chg="mod">
          <ac:chgData name="shridhar kusugal" userId="ebc50c2c1b7afc0d" providerId="LiveId" clId="{DBF1DDBD-4C51-4663-80F6-6BA8388F5B4D}" dt="2026-10-27T13:02:03.781" v="163" actId="14100"/>
          <ac:spMkLst>
            <pc:docMk/>
            <pc:sldMk cId="0" sldId="257"/>
            <ac:spMk id="4" creationId="{00000000-0000-0000-0000-000000000000}"/>
          </ac:spMkLst>
        </pc:spChg>
        <pc:spChg chg="mod">
          <ac:chgData name="shridhar kusugal" userId="ebc50c2c1b7afc0d" providerId="LiveId" clId="{DBF1DDBD-4C51-4663-80F6-6BA8388F5B4D}" dt="2026-10-27T13:01:29.679" v="160" actId="255"/>
          <ac:spMkLst>
            <pc:docMk/>
            <pc:sldMk cId="0" sldId="257"/>
            <ac:spMk id="6" creationId="{00000000-0000-0000-0000-000000000000}"/>
          </ac:spMkLst>
        </pc:spChg>
        <pc:spChg chg="mod">
          <ac:chgData name="shridhar kusugal" userId="ebc50c2c1b7afc0d" providerId="LiveId" clId="{DBF1DDBD-4C51-4663-80F6-6BA8388F5B4D}" dt="2026-10-27T13:01:57.429" v="162" actId="14100"/>
          <ac:spMkLst>
            <pc:docMk/>
            <pc:sldMk cId="0" sldId="257"/>
            <ac:spMk id="7" creationId="{00000000-0000-0000-0000-000000000000}"/>
          </ac:spMkLst>
        </pc:spChg>
        <pc:spChg chg="mod">
          <ac:chgData name="shridhar kusugal" userId="ebc50c2c1b7afc0d" providerId="LiveId" clId="{DBF1DDBD-4C51-4663-80F6-6BA8388F5B4D}" dt="2026-10-27T13:01:51.829" v="161" actId="255"/>
          <ac:spMkLst>
            <pc:docMk/>
            <pc:sldMk cId="0" sldId="257"/>
            <ac:spMk id="9" creationId="{00000000-0000-0000-0000-000000000000}"/>
          </ac:spMkLst>
        </pc:spChg>
      </pc:sldChg>
      <pc:sldChg chg="modSp mod">
        <pc:chgData name="shridhar kusugal" userId="ebc50c2c1b7afc0d" providerId="LiveId" clId="{DBF1DDBD-4C51-4663-80F6-6BA8388F5B4D}" dt="2026-10-27T13:13:13.721" v="199" actId="207"/>
        <pc:sldMkLst>
          <pc:docMk/>
          <pc:sldMk cId="0" sldId="258"/>
        </pc:sldMkLst>
        <pc:spChg chg="mod">
          <ac:chgData name="shridhar kusugal" userId="ebc50c2c1b7afc0d" providerId="LiveId" clId="{DBF1DDBD-4C51-4663-80F6-6BA8388F5B4D}" dt="2026-10-27T13:13:13.721" v="199" actId="207"/>
          <ac:spMkLst>
            <pc:docMk/>
            <pc:sldMk cId="0" sldId="258"/>
            <ac:spMk id="3" creationId="{00000000-0000-0000-0000-000000000000}"/>
          </ac:spMkLst>
        </pc:spChg>
        <pc:spChg chg="mod">
          <ac:chgData name="shridhar kusugal" userId="ebc50c2c1b7afc0d" providerId="LiveId" clId="{DBF1DDBD-4C51-4663-80F6-6BA8388F5B4D}" dt="2026-10-27T13:03:19.455" v="173" actId="122"/>
          <ac:spMkLst>
            <pc:docMk/>
            <pc:sldMk cId="0" sldId="258"/>
            <ac:spMk id="5" creationId="{00000000-0000-0000-0000-000000000000}"/>
          </ac:spMkLst>
        </pc:spChg>
        <pc:spChg chg="mod">
          <ac:chgData name="shridhar kusugal" userId="ebc50c2c1b7afc0d" providerId="LiveId" clId="{DBF1DDBD-4C51-4663-80F6-6BA8388F5B4D}" dt="2026-10-27T04:25:42.402" v="0" actId="255"/>
          <ac:spMkLst>
            <pc:docMk/>
            <pc:sldMk cId="0" sldId="258"/>
            <ac:spMk id="6" creationId="{00000000-0000-0000-0000-000000000000}"/>
          </ac:spMkLst>
        </pc:spChg>
        <pc:spChg chg="mod">
          <ac:chgData name="shridhar kusugal" userId="ebc50c2c1b7afc0d" providerId="LiveId" clId="{DBF1DDBD-4C51-4663-80F6-6BA8388F5B4D}" dt="2026-10-27T13:03:00.530" v="169" actId="255"/>
          <ac:spMkLst>
            <pc:docMk/>
            <pc:sldMk cId="0" sldId="258"/>
            <ac:spMk id="8" creationId="{00000000-0000-0000-0000-000000000000}"/>
          </ac:spMkLst>
        </pc:spChg>
        <pc:spChg chg="mod">
          <ac:chgData name="shridhar kusugal" userId="ebc50c2c1b7afc0d" providerId="LiveId" clId="{DBF1DDBD-4C51-4663-80F6-6BA8388F5B4D}" dt="2026-10-27T04:26:01.564" v="1" actId="255"/>
          <ac:spMkLst>
            <pc:docMk/>
            <pc:sldMk cId="0" sldId="258"/>
            <ac:spMk id="9" creationId="{00000000-0000-0000-0000-000000000000}"/>
          </ac:spMkLst>
        </pc:spChg>
        <pc:spChg chg="mod">
          <ac:chgData name="shridhar kusugal" userId="ebc50c2c1b7afc0d" providerId="LiveId" clId="{DBF1DDBD-4C51-4663-80F6-6BA8388F5B4D}" dt="2026-10-27T13:03:14.947" v="172" actId="122"/>
          <ac:spMkLst>
            <pc:docMk/>
            <pc:sldMk cId="0" sldId="258"/>
            <ac:spMk id="11" creationId="{00000000-0000-0000-0000-000000000000}"/>
          </ac:spMkLst>
        </pc:spChg>
        <pc:spChg chg="mod">
          <ac:chgData name="shridhar kusugal" userId="ebc50c2c1b7afc0d" providerId="LiveId" clId="{DBF1DDBD-4C51-4663-80F6-6BA8388F5B4D}" dt="2026-10-27T04:27:11.492" v="2" actId="255"/>
          <ac:spMkLst>
            <pc:docMk/>
            <pc:sldMk cId="0" sldId="258"/>
            <ac:spMk id="12" creationId="{00000000-0000-0000-0000-000000000000}"/>
          </ac:spMkLst>
        </pc:spChg>
        <pc:spChg chg="mod">
          <ac:chgData name="shridhar kusugal" userId="ebc50c2c1b7afc0d" providerId="LiveId" clId="{DBF1DDBD-4C51-4663-80F6-6BA8388F5B4D}" dt="2026-10-27T13:03:33.238" v="176" actId="122"/>
          <ac:spMkLst>
            <pc:docMk/>
            <pc:sldMk cId="0" sldId="258"/>
            <ac:spMk id="14" creationId="{00000000-0000-0000-0000-000000000000}"/>
          </ac:spMkLst>
        </pc:spChg>
        <pc:spChg chg="mod">
          <ac:chgData name="shridhar kusugal" userId="ebc50c2c1b7afc0d" providerId="LiveId" clId="{DBF1DDBD-4C51-4663-80F6-6BA8388F5B4D}" dt="2026-10-27T04:27:50.174" v="5" actId="255"/>
          <ac:spMkLst>
            <pc:docMk/>
            <pc:sldMk cId="0" sldId="258"/>
            <ac:spMk id="15" creationId="{00000000-0000-0000-0000-000000000000}"/>
          </ac:spMkLst>
        </pc:spChg>
      </pc:sldChg>
      <pc:sldChg chg="modSp mod">
        <pc:chgData name="shridhar kusugal" userId="ebc50c2c1b7afc0d" providerId="LiveId" clId="{DBF1DDBD-4C51-4663-80F6-6BA8388F5B4D}" dt="2026-10-27T13:05:32.303" v="181" actId="113"/>
        <pc:sldMkLst>
          <pc:docMk/>
          <pc:sldMk cId="0" sldId="259"/>
        </pc:sldMkLst>
        <pc:spChg chg="mod">
          <ac:chgData name="shridhar kusugal" userId="ebc50c2c1b7afc0d" providerId="LiveId" clId="{DBF1DDBD-4C51-4663-80F6-6BA8388F5B4D}" dt="2026-10-27T13:05:32.303" v="181" actId="113"/>
          <ac:spMkLst>
            <pc:docMk/>
            <pc:sldMk cId="0" sldId="259"/>
            <ac:spMk id="3" creationId="{00000000-0000-0000-0000-000000000000}"/>
          </ac:spMkLst>
        </pc:spChg>
        <pc:spChg chg="mod">
          <ac:chgData name="shridhar kusugal" userId="ebc50c2c1b7afc0d" providerId="LiveId" clId="{DBF1DDBD-4C51-4663-80F6-6BA8388F5B4D}" dt="2026-10-27T04:32:01.454" v="24" actId="255"/>
          <ac:spMkLst>
            <pc:docMk/>
            <pc:sldMk cId="0" sldId="259"/>
            <ac:spMk id="6" creationId="{00000000-0000-0000-0000-000000000000}"/>
          </ac:spMkLst>
        </pc:spChg>
        <pc:spChg chg="mod">
          <ac:chgData name="shridhar kusugal" userId="ebc50c2c1b7afc0d" providerId="LiveId" clId="{DBF1DDBD-4C51-4663-80F6-6BA8388F5B4D}" dt="2026-10-27T04:32:10.216" v="25" actId="14100"/>
          <ac:spMkLst>
            <pc:docMk/>
            <pc:sldMk cId="0" sldId="259"/>
            <ac:spMk id="7" creationId="{00000000-0000-0000-0000-000000000000}"/>
          </ac:spMkLst>
        </pc:spChg>
        <pc:spChg chg="mod">
          <ac:chgData name="shridhar kusugal" userId="ebc50c2c1b7afc0d" providerId="LiveId" clId="{DBF1DDBD-4C51-4663-80F6-6BA8388F5B4D}" dt="2026-10-27T04:31:34.715" v="20" actId="113"/>
          <ac:spMkLst>
            <pc:docMk/>
            <pc:sldMk cId="0" sldId="259"/>
            <ac:spMk id="9" creationId="{00000000-0000-0000-0000-000000000000}"/>
          </ac:spMkLst>
        </pc:spChg>
        <pc:spChg chg="mod">
          <ac:chgData name="shridhar kusugal" userId="ebc50c2c1b7afc0d" providerId="LiveId" clId="{DBF1DDBD-4C51-4663-80F6-6BA8388F5B4D}" dt="2026-10-27T04:33:20.871" v="32" actId="1076"/>
          <ac:spMkLst>
            <pc:docMk/>
            <pc:sldMk cId="0" sldId="259"/>
            <ac:spMk id="10" creationId="{00000000-0000-0000-0000-000000000000}"/>
          </ac:spMkLst>
        </pc:spChg>
        <pc:spChg chg="mod">
          <ac:chgData name="shridhar kusugal" userId="ebc50c2c1b7afc0d" providerId="LiveId" clId="{DBF1DDBD-4C51-4663-80F6-6BA8388F5B4D}" dt="2026-10-27T04:33:24.514" v="33" actId="1076"/>
          <ac:spMkLst>
            <pc:docMk/>
            <pc:sldMk cId="0" sldId="259"/>
            <ac:spMk id="11" creationId="{00000000-0000-0000-0000-000000000000}"/>
          </ac:spMkLst>
        </pc:spChg>
        <pc:spChg chg="mod">
          <ac:chgData name="shridhar kusugal" userId="ebc50c2c1b7afc0d" providerId="LiveId" clId="{DBF1DDBD-4C51-4663-80F6-6BA8388F5B4D}" dt="2026-10-27T04:31:40.863" v="21" actId="113"/>
          <ac:spMkLst>
            <pc:docMk/>
            <pc:sldMk cId="0" sldId="259"/>
            <ac:spMk id="12" creationId="{00000000-0000-0000-0000-000000000000}"/>
          </ac:spMkLst>
        </pc:spChg>
        <pc:spChg chg="mod">
          <ac:chgData name="shridhar kusugal" userId="ebc50c2c1b7afc0d" providerId="LiveId" clId="{DBF1DDBD-4C51-4663-80F6-6BA8388F5B4D}" dt="2026-10-27T04:33:07.812" v="30" actId="1076"/>
          <ac:spMkLst>
            <pc:docMk/>
            <pc:sldMk cId="0" sldId="259"/>
            <ac:spMk id="13" creationId="{00000000-0000-0000-0000-000000000000}"/>
          </ac:spMkLst>
        </pc:spChg>
        <pc:spChg chg="mod">
          <ac:chgData name="shridhar kusugal" userId="ebc50c2c1b7afc0d" providerId="LiveId" clId="{DBF1DDBD-4C51-4663-80F6-6BA8388F5B4D}" dt="2026-10-27T04:33:14.348" v="31" actId="1076"/>
          <ac:spMkLst>
            <pc:docMk/>
            <pc:sldMk cId="0" sldId="259"/>
            <ac:spMk id="14" creationId="{00000000-0000-0000-0000-000000000000}"/>
          </ac:spMkLst>
        </pc:spChg>
        <pc:spChg chg="mod">
          <ac:chgData name="shridhar kusugal" userId="ebc50c2c1b7afc0d" providerId="LiveId" clId="{DBF1DDBD-4C51-4663-80F6-6BA8388F5B4D}" dt="2026-10-27T04:31:44.567" v="22" actId="113"/>
          <ac:spMkLst>
            <pc:docMk/>
            <pc:sldMk cId="0" sldId="259"/>
            <ac:spMk id="15" creationId="{00000000-0000-0000-0000-000000000000}"/>
          </ac:spMkLst>
        </pc:spChg>
        <pc:spChg chg="mod">
          <ac:chgData name="shridhar kusugal" userId="ebc50c2c1b7afc0d" providerId="LiveId" clId="{DBF1DDBD-4C51-4663-80F6-6BA8388F5B4D}" dt="2026-10-27T04:32:50.369" v="27" actId="1076"/>
          <ac:spMkLst>
            <pc:docMk/>
            <pc:sldMk cId="0" sldId="259"/>
            <ac:spMk id="16" creationId="{00000000-0000-0000-0000-000000000000}"/>
          </ac:spMkLst>
        </pc:spChg>
        <pc:spChg chg="mod">
          <ac:chgData name="shridhar kusugal" userId="ebc50c2c1b7afc0d" providerId="LiveId" clId="{DBF1DDBD-4C51-4663-80F6-6BA8388F5B4D}" dt="2026-10-27T04:32:56.092" v="28" actId="1076"/>
          <ac:spMkLst>
            <pc:docMk/>
            <pc:sldMk cId="0" sldId="259"/>
            <ac:spMk id="17" creationId="{00000000-0000-0000-0000-000000000000}"/>
          </ac:spMkLst>
        </pc:spChg>
        <pc:spChg chg="mod">
          <ac:chgData name="shridhar kusugal" userId="ebc50c2c1b7afc0d" providerId="LiveId" clId="{DBF1DDBD-4C51-4663-80F6-6BA8388F5B4D}" dt="2026-10-27T04:31:48.797" v="23" actId="113"/>
          <ac:spMkLst>
            <pc:docMk/>
            <pc:sldMk cId="0" sldId="259"/>
            <ac:spMk id="18" creationId="{00000000-0000-0000-0000-000000000000}"/>
          </ac:spMkLst>
        </pc:spChg>
      </pc:sldChg>
      <pc:sldChg chg="modSp mod">
        <pc:chgData name="shridhar kusugal" userId="ebc50c2c1b7afc0d" providerId="LiveId" clId="{DBF1DDBD-4C51-4663-80F6-6BA8388F5B4D}" dt="2026-10-27T13:47:12.885" v="372" actId="1076"/>
        <pc:sldMkLst>
          <pc:docMk/>
          <pc:sldMk cId="0" sldId="260"/>
        </pc:sldMkLst>
        <pc:spChg chg="mod">
          <ac:chgData name="shridhar kusugal" userId="ebc50c2c1b7afc0d" providerId="LiveId" clId="{DBF1DDBD-4C51-4663-80F6-6BA8388F5B4D}" dt="2026-10-27T13:46:52.811" v="369" actId="1076"/>
          <ac:spMkLst>
            <pc:docMk/>
            <pc:sldMk cId="0" sldId="260"/>
            <ac:spMk id="2" creationId="{00000000-0000-0000-0000-000000000000}"/>
          </ac:spMkLst>
        </pc:spChg>
        <pc:spChg chg="mod">
          <ac:chgData name="shridhar kusugal" userId="ebc50c2c1b7afc0d" providerId="LiveId" clId="{DBF1DDBD-4C51-4663-80F6-6BA8388F5B4D}" dt="2026-10-27T13:47:12.885" v="372" actId="1076"/>
          <ac:spMkLst>
            <pc:docMk/>
            <pc:sldMk cId="0" sldId="260"/>
            <ac:spMk id="3" creationId="{00000000-0000-0000-0000-000000000000}"/>
          </ac:spMkLst>
        </pc:spChg>
        <pc:graphicFrameChg chg="mod modGraphic">
          <ac:chgData name="shridhar kusugal" userId="ebc50c2c1b7afc0d" providerId="LiveId" clId="{DBF1DDBD-4C51-4663-80F6-6BA8388F5B4D}" dt="2026-10-27T13:46:46.775" v="368" actId="1076"/>
          <ac:graphicFrameMkLst>
            <pc:docMk/>
            <pc:sldMk cId="0" sldId="260"/>
            <ac:graphicFrameMk id="4" creationId="{00000000-0000-0000-0000-000000000000}"/>
          </ac:graphicFrameMkLst>
        </pc:graphicFrameChg>
      </pc:sldChg>
      <pc:sldChg chg="addSp delSp modSp add del mod">
        <pc:chgData name="shridhar kusugal" userId="ebc50c2c1b7afc0d" providerId="LiveId" clId="{DBF1DDBD-4C51-4663-80F6-6BA8388F5B4D}" dt="2026-10-27T13:33:17.507" v="315" actId="931"/>
        <pc:sldMkLst>
          <pc:docMk/>
          <pc:sldMk cId="0" sldId="261"/>
        </pc:sldMkLst>
        <pc:spChg chg="mod">
          <ac:chgData name="shridhar kusugal" userId="ebc50c2c1b7afc0d" providerId="LiveId" clId="{DBF1DDBD-4C51-4663-80F6-6BA8388F5B4D}" dt="2026-10-27T04:37:43.809" v="50" actId="1076"/>
          <ac:spMkLst>
            <pc:docMk/>
            <pc:sldMk cId="0" sldId="261"/>
            <ac:spMk id="2" creationId="{00000000-0000-0000-0000-000000000000}"/>
          </ac:spMkLst>
        </pc:spChg>
        <pc:spChg chg="mod">
          <ac:chgData name="shridhar kusugal" userId="ebc50c2c1b7afc0d" providerId="LiveId" clId="{DBF1DDBD-4C51-4663-80F6-6BA8388F5B4D}" dt="2026-10-27T13:10:45.064" v="185" actId="207"/>
          <ac:spMkLst>
            <pc:docMk/>
            <pc:sldMk cId="0" sldId="261"/>
            <ac:spMk id="3" creationId="{00000000-0000-0000-0000-000000000000}"/>
          </ac:spMkLst>
        </pc:spChg>
        <pc:spChg chg="mod">
          <ac:chgData name="shridhar kusugal" userId="ebc50c2c1b7afc0d" providerId="LiveId" clId="{DBF1DDBD-4C51-4663-80F6-6BA8388F5B4D}" dt="2026-10-27T04:44:38.462" v="81" actId="14100"/>
          <ac:spMkLst>
            <pc:docMk/>
            <pc:sldMk cId="0" sldId="261"/>
            <ac:spMk id="4" creationId="{00000000-0000-0000-0000-000000000000}"/>
          </ac:spMkLst>
        </pc:spChg>
        <pc:spChg chg="mod">
          <ac:chgData name="shridhar kusugal" userId="ebc50c2c1b7afc0d" providerId="LiveId" clId="{DBF1DDBD-4C51-4663-80F6-6BA8388F5B4D}" dt="2026-10-27T13:11:05.847" v="187" actId="207"/>
          <ac:spMkLst>
            <pc:docMk/>
            <pc:sldMk cId="0" sldId="261"/>
            <ac:spMk id="5" creationId="{00000000-0000-0000-0000-000000000000}"/>
          </ac:spMkLst>
        </pc:spChg>
        <pc:spChg chg="mod">
          <ac:chgData name="shridhar kusugal" userId="ebc50c2c1b7afc0d" providerId="LiveId" clId="{DBF1DDBD-4C51-4663-80F6-6BA8388F5B4D}" dt="2026-10-27T13:10:37.110" v="184" actId="20577"/>
          <ac:spMkLst>
            <pc:docMk/>
            <pc:sldMk cId="0" sldId="261"/>
            <ac:spMk id="6" creationId="{00000000-0000-0000-0000-000000000000}"/>
          </ac:spMkLst>
        </pc:spChg>
        <pc:spChg chg="mod">
          <ac:chgData name="shridhar kusugal" userId="ebc50c2c1b7afc0d" providerId="LiveId" clId="{DBF1DDBD-4C51-4663-80F6-6BA8388F5B4D}" dt="2026-10-27T04:42:14.596" v="68" actId="1076"/>
          <ac:spMkLst>
            <pc:docMk/>
            <pc:sldMk cId="0" sldId="261"/>
            <ac:spMk id="7" creationId="{00000000-0000-0000-0000-000000000000}"/>
          </ac:spMkLst>
        </pc:spChg>
        <pc:spChg chg="mod">
          <ac:chgData name="shridhar kusugal" userId="ebc50c2c1b7afc0d" providerId="LiveId" clId="{DBF1DDBD-4C51-4663-80F6-6BA8388F5B4D}" dt="2026-10-27T04:44:15.363" v="79" actId="1076"/>
          <ac:spMkLst>
            <pc:docMk/>
            <pc:sldMk cId="0" sldId="261"/>
            <ac:spMk id="8" creationId="{00000000-0000-0000-0000-000000000000}"/>
          </ac:spMkLst>
        </pc:spChg>
        <pc:spChg chg="mod">
          <ac:chgData name="shridhar kusugal" userId="ebc50c2c1b7afc0d" providerId="LiveId" clId="{DBF1DDBD-4C51-4663-80F6-6BA8388F5B4D}" dt="2026-10-27T04:44:23.169" v="80" actId="1076"/>
          <ac:spMkLst>
            <pc:docMk/>
            <pc:sldMk cId="0" sldId="261"/>
            <ac:spMk id="9" creationId="{00000000-0000-0000-0000-000000000000}"/>
          </ac:spMkLst>
        </pc:spChg>
        <pc:spChg chg="mod">
          <ac:chgData name="shridhar kusugal" userId="ebc50c2c1b7afc0d" providerId="LiveId" clId="{DBF1DDBD-4C51-4663-80F6-6BA8388F5B4D}" dt="2026-10-27T04:42:20.954" v="69" actId="14100"/>
          <ac:spMkLst>
            <pc:docMk/>
            <pc:sldMk cId="0" sldId="261"/>
            <ac:spMk id="10" creationId="{00000000-0000-0000-0000-000000000000}"/>
          </ac:spMkLst>
        </pc:spChg>
        <pc:spChg chg="mod">
          <ac:chgData name="shridhar kusugal" userId="ebc50c2c1b7afc0d" providerId="LiveId" clId="{DBF1DDBD-4C51-4663-80F6-6BA8388F5B4D}" dt="2026-10-27T04:43:21.019" v="74" actId="1076"/>
          <ac:spMkLst>
            <pc:docMk/>
            <pc:sldMk cId="0" sldId="261"/>
            <ac:spMk id="11" creationId="{00000000-0000-0000-0000-000000000000}"/>
          </ac:spMkLst>
        </pc:spChg>
        <pc:spChg chg="mod">
          <ac:chgData name="shridhar kusugal" userId="ebc50c2c1b7afc0d" providerId="LiveId" clId="{DBF1DDBD-4C51-4663-80F6-6BA8388F5B4D}" dt="2026-10-27T04:43:24.966" v="75" actId="1076"/>
          <ac:spMkLst>
            <pc:docMk/>
            <pc:sldMk cId="0" sldId="261"/>
            <ac:spMk id="12" creationId="{00000000-0000-0000-0000-000000000000}"/>
          </ac:spMkLst>
        </pc:spChg>
        <pc:spChg chg="mod">
          <ac:chgData name="shridhar kusugal" userId="ebc50c2c1b7afc0d" providerId="LiveId" clId="{DBF1DDBD-4C51-4663-80F6-6BA8388F5B4D}" dt="2026-10-27T13:30:52.868" v="273" actId="1076"/>
          <ac:spMkLst>
            <pc:docMk/>
            <pc:sldMk cId="0" sldId="261"/>
            <ac:spMk id="13" creationId="{00000000-0000-0000-0000-000000000000}"/>
          </ac:spMkLst>
        </pc:spChg>
        <pc:spChg chg="mod">
          <ac:chgData name="shridhar kusugal" userId="ebc50c2c1b7afc0d" providerId="LiveId" clId="{DBF1DDBD-4C51-4663-80F6-6BA8388F5B4D}" dt="2026-10-27T04:43:09.141" v="72" actId="122"/>
          <ac:spMkLst>
            <pc:docMk/>
            <pc:sldMk cId="0" sldId="261"/>
            <ac:spMk id="14" creationId="{00000000-0000-0000-0000-000000000000}"/>
          </ac:spMkLst>
        </pc:spChg>
        <pc:spChg chg="mod">
          <ac:chgData name="shridhar kusugal" userId="ebc50c2c1b7afc0d" providerId="LiveId" clId="{DBF1DDBD-4C51-4663-80F6-6BA8388F5B4D}" dt="2026-10-27T13:31:37.504" v="278" actId="1076"/>
          <ac:spMkLst>
            <pc:docMk/>
            <pc:sldMk cId="0" sldId="261"/>
            <ac:spMk id="15" creationId="{00000000-0000-0000-0000-000000000000}"/>
          </ac:spMkLst>
        </pc:spChg>
        <pc:picChg chg="add mod ord">
          <ac:chgData name="shridhar kusugal" userId="ebc50c2c1b7afc0d" providerId="LiveId" clId="{DBF1DDBD-4C51-4663-80F6-6BA8388F5B4D}" dt="2026-10-27T13:32:12.304" v="299" actId="171"/>
          <ac:picMkLst>
            <pc:docMk/>
            <pc:sldMk cId="0" sldId="261"/>
            <ac:picMk id="16" creationId="{D4605AFE-3B23-A5DF-31B8-9F97C04CD266}"/>
          </ac:picMkLst>
        </pc:picChg>
        <pc:picChg chg="add del mod ord">
          <ac:chgData name="shridhar kusugal" userId="ebc50c2c1b7afc0d" providerId="LiveId" clId="{DBF1DDBD-4C51-4663-80F6-6BA8388F5B4D}" dt="2026-10-27T13:31:52.584" v="287" actId="22"/>
          <ac:picMkLst>
            <pc:docMk/>
            <pc:sldMk cId="0" sldId="261"/>
            <ac:picMk id="18" creationId="{530BC9D4-DACF-B7B3-734B-0E685F90C42C}"/>
          </ac:picMkLst>
        </pc:picChg>
        <pc:picChg chg="add del">
          <ac:chgData name="shridhar kusugal" userId="ebc50c2c1b7afc0d" providerId="LiveId" clId="{DBF1DDBD-4C51-4663-80F6-6BA8388F5B4D}" dt="2026-10-27T13:32:16.859" v="301" actId="22"/>
          <ac:picMkLst>
            <pc:docMk/>
            <pc:sldMk cId="0" sldId="261"/>
            <ac:picMk id="20" creationId="{169726FF-2DB1-3AF1-B8EC-DD7469E532B6}"/>
          </ac:picMkLst>
        </pc:picChg>
        <pc:picChg chg="add ord">
          <ac:chgData name="shridhar kusugal" userId="ebc50c2c1b7afc0d" providerId="LiveId" clId="{DBF1DDBD-4C51-4663-80F6-6BA8388F5B4D}" dt="2026-10-27T13:32:34.579" v="304" actId="171"/>
          <ac:picMkLst>
            <pc:docMk/>
            <pc:sldMk cId="0" sldId="261"/>
            <ac:picMk id="21" creationId="{A6CFFF40-CADC-1A68-4D26-A21548D07107}"/>
          </ac:picMkLst>
        </pc:picChg>
        <pc:picChg chg="add del mod ord">
          <ac:chgData name="shridhar kusugal" userId="ebc50c2c1b7afc0d" providerId="LiveId" clId="{DBF1DDBD-4C51-4663-80F6-6BA8388F5B4D}" dt="2026-10-27T13:33:17.507" v="315" actId="931"/>
          <ac:picMkLst>
            <pc:docMk/>
            <pc:sldMk cId="0" sldId="261"/>
            <ac:picMk id="23" creationId="{5EE212DD-FD71-5319-49F5-D02D218C4B38}"/>
          </ac:picMkLst>
        </pc:picChg>
      </pc:sldChg>
      <pc:sldChg chg="modSp mod">
        <pc:chgData name="shridhar kusugal" userId="ebc50c2c1b7afc0d" providerId="LiveId" clId="{DBF1DDBD-4C51-4663-80F6-6BA8388F5B4D}" dt="2026-10-27T13:11:27.497" v="189" actId="207"/>
        <pc:sldMkLst>
          <pc:docMk/>
          <pc:sldMk cId="0" sldId="262"/>
        </pc:sldMkLst>
        <pc:spChg chg="mod">
          <ac:chgData name="shridhar kusugal" userId="ebc50c2c1b7afc0d" providerId="LiveId" clId="{DBF1DDBD-4C51-4663-80F6-6BA8388F5B4D}" dt="2026-10-27T13:11:27.497" v="189" actId="207"/>
          <ac:spMkLst>
            <pc:docMk/>
            <pc:sldMk cId="0" sldId="262"/>
            <ac:spMk id="3" creationId="{00000000-0000-0000-0000-000000000000}"/>
          </ac:spMkLst>
        </pc:spChg>
        <pc:spChg chg="mod">
          <ac:chgData name="shridhar kusugal" userId="ebc50c2c1b7afc0d" providerId="LiveId" clId="{DBF1DDBD-4C51-4663-80F6-6BA8388F5B4D}" dt="2026-10-27T07:12:37.579" v="104" actId="1076"/>
          <ac:spMkLst>
            <pc:docMk/>
            <pc:sldMk cId="0" sldId="262"/>
            <ac:spMk id="4" creationId="{00000000-0000-0000-0000-000000000000}"/>
          </ac:spMkLst>
        </pc:spChg>
        <pc:spChg chg="mod">
          <ac:chgData name="shridhar kusugal" userId="ebc50c2c1b7afc0d" providerId="LiveId" clId="{DBF1DDBD-4C51-4663-80F6-6BA8388F5B4D}" dt="2026-10-27T07:12:44.319" v="106" actId="1076"/>
          <ac:spMkLst>
            <pc:docMk/>
            <pc:sldMk cId="0" sldId="262"/>
            <ac:spMk id="5" creationId="{00000000-0000-0000-0000-000000000000}"/>
          </ac:spMkLst>
        </pc:spChg>
        <pc:spChg chg="mod">
          <ac:chgData name="shridhar kusugal" userId="ebc50c2c1b7afc0d" providerId="LiveId" clId="{DBF1DDBD-4C51-4663-80F6-6BA8388F5B4D}" dt="2026-10-27T07:12:40.992" v="105" actId="1076"/>
          <ac:spMkLst>
            <pc:docMk/>
            <pc:sldMk cId="0" sldId="262"/>
            <ac:spMk id="6" creationId="{00000000-0000-0000-0000-000000000000}"/>
          </ac:spMkLst>
        </pc:spChg>
        <pc:spChg chg="mod">
          <ac:chgData name="shridhar kusugal" userId="ebc50c2c1b7afc0d" providerId="LiveId" clId="{DBF1DDBD-4C51-4663-80F6-6BA8388F5B4D}" dt="2026-10-27T07:10:37.629" v="94" actId="122"/>
          <ac:spMkLst>
            <pc:docMk/>
            <pc:sldMk cId="0" sldId="262"/>
            <ac:spMk id="8" creationId="{00000000-0000-0000-0000-000000000000}"/>
          </ac:spMkLst>
        </pc:spChg>
        <pc:spChg chg="mod">
          <ac:chgData name="shridhar kusugal" userId="ebc50c2c1b7afc0d" providerId="LiveId" clId="{DBF1DDBD-4C51-4663-80F6-6BA8388F5B4D}" dt="2026-10-27T07:10:26.910" v="92" actId="255"/>
          <ac:spMkLst>
            <pc:docMk/>
            <pc:sldMk cId="0" sldId="262"/>
            <ac:spMk id="9" creationId="{00000000-0000-0000-0000-000000000000}"/>
          </ac:spMkLst>
        </pc:spChg>
        <pc:spChg chg="mod">
          <ac:chgData name="shridhar kusugal" userId="ebc50c2c1b7afc0d" providerId="LiveId" clId="{DBF1DDBD-4C51-4663-80F6-6BA8388F5B4D}" dt="2026-10-27T05:03:40.503" v="85" actId="14100"/>
          <ac:spMkLst>
            <pc:docMk/>
            <pc:sldMk cId="0" sldId="262"/>
            <ac:spMk id="10" creationId="{00000000-0000-0000-0000-000000000000}"/>
          </ac:spMkLst>
        </pc:spChg>
        <pc:spChg chg="mod">
          <ac:chgData name="shridhar kusugal" userId="ebc50c2c1b7afc0d" providerId="LiveId" clId="{DBF1DDBD-4C51-4663-80F6-6BA8388F5B4D}" dt="2026-10-27T07:11:04.427" v="98" actId="113"/>
          <ac:spMkLst>
            <pc:docMk/>
            <pc:sldMk cId="0" sldId="262"/>
            <ac:spMk id="11" creationId="{00000000-0000-0000-0000-000000000000}"/>
          </ac:spMkLst>
        </pc:spChg>
        <pc:spChg chg="mod">
          <ac:chgData name="shridhar kusugal" userId="ebc50c2c1b7afc0d" providerId="LiveId" clId="{DBF1DDBD-4C51-4663-80F6-6BA8388F5B4D}" dt="2026-10-27T07:10:56.210" v="96" actId="255"/>
          <ac:spMkLst>
            <pc:docMk/>
            <pc:sldMk cId="0" sldId="262"/>
            <ac:spMk id="12" creationId="{00000000-0000-0000-0000-000000000000}"/>
          </ac:spMkLst>
        </pc:spChg>
      </pc:sldChg>
      <pc:sldChg chg="modSp mod">
        <pc:chgData name="shridhar kusugal" userId="ebc50c2c1b7afc0d" providerId="LiveId" clId="{DBF1DDBD-4C51-4663-80F6-6BA8388F5B4D}" dt="2026-10-27T13:11:44.331" v="192" actId="255"/>
        <pc:sldMkLst>
          <pc:docMk/>
          <pc:sldMk cId="0" sldId="263"/>
        </pc:sldMkLst>
        <pc:spChg chg="mod">
          <ac:chgData name="shridhar kusugal" userId="ebc50c2c1b7afc0d" providerId="LiveId" clId="{DBF1DDBD-4C51-4663-80F6-6BA8388F5B4D}" dt="2026-10-27T13:11:44.331" v="192" actId="255"/>
          <ac:spMkLst>
            <pc:docMk/>
            <pc:sldMk cId="0" sldId="263"/>
            <ac:spMk id="3" creationId="{00000000-0000-0000-0000-000000000000}"/>
          </ac:spMkLst>
        </pc:spChg>
        <pc:spChg chg="mod">
          <ac:chgData name="shridhar kusugal" userId="ebc50c2c1b7afc0d" providerId="LiveId" clId="{DBF1DDBD-4C51-4663-80F6-6BA8388F5B4D}" dt="2026-10-27T07:15:14.370" v="120" actId="122"/>
          <ac:spMkLst>
            <pc:docMk/>
            <pc:sldMk cId="0" sldId="263"/>
            <ac:spMk id="5" creationId="{00000000-0000-0000-0000-000000000000}"/>
          </ac:spMkLst>
        </pc:spChg>
        <pc:spChg chg="mod">
          <ac:chgData name="shridhar kusugal" userId="ebc50c2c1b7afc0d" providerId="LiveId" clId="{DBF1DDBD-4C51-4663-80F6-6BA8388F5B4D}" dt="2026-10-27T07:13:04.574" v="107" actId="255"/>
          <ac:spMkLst>
            <pc:docMk/>
            <pc:sldMk cId="0" sldId="263"/>
            <ac:spMk id="6" creationId="{00000000-0000-0000-0000-000000000000}"/>
          </ac:spMkLst>
        </pc:spChg>
        <pc:spChg chg="mod">
          <ac:chgData name="shridhar kusugal" userId="ebc50c2c1b7afc0d" providerId="LiveId" clId="{DBF1DDBD-4C51-4663-80F6-6BA8388F5B4D}" dt="2026-10-27T07:15:23.585" v="121" actId="122"/>
          <ac:spMkLst>
            <pc:docMk/>
            <pc:sldMk cId="0" sldId="263"/>
            <ac:spMk id="8" creationId="{00000000-0000-0000-0000-000000000000}"/>
          </ac:spMkLst>
        </pc:spChg>
        <pc:spChg chg="mod">
          <ac:chgData name="shridhar kusugal" userId="ebc50c2c1b7afc0d" providerId="LiveId" clId="{DBF1DDBD-4C51-4663-80F6-6BA8388F5B4D}" dt="2026-10-27T07:13:25.357" v="108" actId="255"/>
          <ac:spMkLst>
            <pc:docMk/>
            <pc:sldMk cId="0" sldId="263"/>
            <ac:spMk id="9" creationId="{00000000-0000-0000-0000-000000000000}"/>
          </ac:spMkLst>
        </pc:spChg>
        <pc:spChg chg="mod">
          <ac:chgData name="shridhar kusugal" userId="ebc50c2c1b7afc0d" providerId="LiveId" clId="{DBF1DDBD-4C51-4663-80F6-6BA8388F5B4D}" dt="2026-10-27T07:15:33.949" v="122" actId="255"/>
          <ac:spMkLst>
            <pc:docMk/>
            <pc:sldMk cId="0" sldId="263"/>
            <ac:spMk id="11" creationId="{00000000-0000-0000-0000-000000000000}"/>
          </ac:spMkLst>
        </pc:spChg>
        <pc:spChg chg="mod">
          <ac:chgData name="shridhar kusugal" userId="ebc50c2c1b7afc0d" providerId="LiveId" clId="{DBF1DDBD-4C51-4663-80F6-6BA8388F5B4D}" dt="2026-10-27T07:13:45.022" v="110" actId="1076"/>
          <ac:spMkLst>
            <pc:docMk/>
            <pc:sldMk cId="0" sldId="263"/>
            <ac:spMk id="12" creationId="{00000000-0000-0000-0000-000000000000}"/>
          </ac:spMkLst>
        </pc:spChg>
        <pc:spChg chg="mod">
          <ac:chgData name="shridhar kusugal" userId="ebc50c2c1b7afc0d" providerId="LiveId" clId="{DBF1DDBD-4C51-4663-80F6-6BA8388F5B4D}" dt="2026-10-27T07:15:04.571" v="119" actId="122"/>
          <ac:spMkLst>
            <pc:docMk/>
            <pc:sldMk cId="0" sldId="263"/>
            <ac:spMk id="14" creationId="{00000000-0000-0000-0000-000000000000}"/>
          </ac:spMkLst>
        </pc:spChg>
        <pc:spChg chg="mod">
          <ac:chgData name="shridhar kusugal" userId="ebc50c2c1b7afc0d" providerId="LiveId" clId="{DBF1DDBD-4C51-4663-80F6-6BA8388F5B4D}" dt="2026-10-27T07:14:21.983" v="114" actId="1076"/>
          <ac:spMkLst>
            <pc:docMk/>
            <pc:sldMk cId="0" sldId="263"/>
            <ac:spMk id="15" creationId="{00000000-0000-0000-0000-000000000000}"/>
          </ac:spMkLst>
        </pc:spChg>
        <pc:spChg chg="mod">
          <ac:chgData name="shridhar kusugal" userId="ebc50c2c1b7afc0d" providerId="LiveId" clId="{DBF1DDBD-4C51-4663-80F6-6BA8388F5B4D}" dt="2026-10-27T07:14:59.608" v="118" actId="255"/>
          <ac:spMkLst>
            <pc:docMk/>
            <pc:sldMk cId="0" sldId="263"/>
            <ac:spMk id="17" creationId="{00000000-0000-0000-0000-000000000000}"/>
          </ac:spMkLst>
        </pc:spChg>
        <pc:spChg chg="mod">
          <ac:chgData name="shridhar kusugal" userId="ebc50c2c1b7afc0d" providerId="LiveId" clId="{DBF1DDBD-4C51-4663-80F6-6BA8388F5B4D}" dt="2026-10-27T07:14:35.195" v="116" actId="255"/>
          <ac:spMkLst>
            <pc:docMk/>
            <pc:sldMk cId="0" sldId="263"/>
            <ac:spMk id="18" creationId="{00000000-0000-0000-0000-000000000000}"/>
          </ac:spMkLst>
        </pc:spChg>
        <pc:spChg chg="mod">
          <ac:chgData name="shridhar kusugal" userId="ebc50c2c1b7afc0d" providerId="LiveId" clId="{DBF1DDBD-4C51-4663-80F6-6BA8388F5B4D}" dt="2026-10-27T07:14:50.470" v="117" actId="255"/>
          <ac:spMkLst>
            <pc:docMk/>
            <pc:sldMk cId="0" sldId="263"/>
            <ac:spMk id="21" creationId="{00000000-0000-0000-0000-000000000000}"/>
          </ac:spMkLst>
        </pc:spChg>
      </pc:sldChg>
      <pc:sldChg chg="modSp mod">
        <pc:chgData name="shridhar kusugal" userId="ebc50c2c1b7afc0d" providerId="LiveId" clId="{DBF1DDBD-4C51-4663-80F6-6BA8388F5B4D}" dt="2026-10-27T07:17:39.006" v="135" actId="255"/>
        <pc:sldMkLst>
          <pc:docMk/>
          <pc:sldMk cId="0" sldId="264"/>
        </pc:sldMkLst>
        <pc:spChg chg="mod">
          <ac:chgData name="shridhar kusugal" userId="ebc50c2c1b7afc0d" providerId="LiveId" clId="{DBF1DDBD-4C51-4663-80F6-6BA8388F5B4D}" dt="2026-10-27T07:16:41.993" v="127" actId="1076"/>
          <ac:spMkLst>
            <pc:docMk/>
            <pc:sldMk cId="0" sldId="264"/>
            <ac:spMk id="2" creationId="{00000000-0000-0000-0000-000000000000}"/>
          </ac:spMkLst>
        </pc:spChg>
        <pc:spChg chg="mod">
          <ac:chgData name="shridhar kusugal" userId="ebc50c2c1b7afc0d" providerId="LiveId" clId="{DBF1DDBD-4C51-4663-80F6-6BA8388F5B4D}" dt="2026-10-27T07:17:39.006" v="135" actId="255"/>
          <ac:spMkLst>
            <pc:docMk/>
            <pc:sldMk cId="0" sldId="264"/>
            <ac:spMk id="5" creationId="{00000000-0000-0000-0000-000000000000}"/>
          </ac:spMkLst>
        </pc:spChg>
        <pc:spChg chg="mod">
          <ac:chgData name="shridhar kusugal" userId="ebc50c2c1b7afc0d" providerId="LiveId" clId="{DBF1DDBD-4C51-4663-80F6-6BA8388F5B4D}" dt="2026-10-27T07:16:15.922" v="125" actId="255"/>
          <ac:spMkLst>
            <pc:docMk/>
            <pc:sldMk cId="0" sldId="264"/>
            <ac:spMk id="6" creationId="{00000000-0000-0000-0000-000000000000}"/>
          </ac:spMkLst>
        </pc:spChg>
        <pc:spChg chg="mod">
          <ac:chgData name="shridhar kusugal" userId="ebc50c2c1b7afc0d" providerId="LiveId" clId="{DBF1DDBD-4C51-4663-80F6-6BA8388F5B4D}" dt="2026-10-27T07:16:46.371" v="128" actId="14100"/>
          <ac:spMkLst>
            <pc:docMk/>
            <pc:sldMk cId="0" sldId="264"/>
            <ac:spMk id="7" creationId="{00000000-0000-0000-0000-000000000000}"/>
          </ac:spMkLst>
        </pc:spChg>
        <pc:spChg chg="mod">
          <ac:chgData name="shridhar kusugal" userId="ebc50c2c1b7afc0d" providerId="LiveId" clId="{DBF1DDBD-4C51-4663-80F6-6BA8388F5B4D}" dt="2026-10-27T07:17:25.031" v="133" actId="122"/>
          <ac:spMkLst>
            <pc:docMk/>
            <pc:sldMk cId="0" sldId="264"/>
            <ac:spMk id="8" creationId="{00000000-0000-0000-0000-000000000000}"/>
          </ac:spMkLst>
        </pc:spChg>
        <pc:spChg chg="mod">
          <ac:chgData name="shridhar kusugal" userId="ebc50c2c1b7afc0d" providerId="LiveId" clId="{DBF1DDBD-4C51-4663-80F6-6BA8388F5B4D}" dt="2026-10-27T07:16:26.342" v="126" actId="255"/>
          <ac:spMkLst>
            <pc:docMk/>
            <pc:sldMk cId="0" sldId="264"/>
            <ac:spMk id="9" creationId="{00000000-0000-0000-0000-000000000000}"/>
          </ac:spMkLst>
        </pc:spChg>
        <pc:spChg chg="mod">
          <ac:chgData name="shridhar kusugal" userId="ebc50c2c1b7afc0d" providerId="LiveId" clId="{DBF1DDBD-4C51-4663-80F6-6BA8388F5B4D}" dt="2026-10-27T07:17:21.814" v="132" actId="122"/>
          <ac:spMkLst>
            <pc:docMk/>
            <pc:sldMk cId="0" sldId="264"/>
            <ac:spMk id="11" creationId="{00000000-0000-0000-0000-000000000000}"/>
          </ac:spMkLst>
        </pc:spChg>
        <pc:spChg chg="mod">
          <ac:chgData name="shridhar kusugal" userId="ebc50c2c1b7afc0d" providerId="LiveId" clId="{DBF1DDBD-4C51-4663-80F6-6BA8388F5B4D}" dt="2026-10-27T07:17:00.519" v="129" actId="255"/>
          <ac:spMkLst>
            <pc:docMk/>
            <pc:sldMk cId="0" sldId="264"/>
            <ac:spMk id="12" creationId="{00000000-0000-0000-0000-000000000000}"/>
          </ac:spMkLst>
        </pc:spChg>
      </pc:sldChg>
      <pc:sldChg chg="modSp mod">
        <pc:chgData name="shridhar kusugal" userId="ebc50c2c1b7afc0d" providerId="LiveId" clId="{DBF1DDBD-4C51-4663-80F6-6BA8388F5B4D}" dt="2026-10-27T13:12:12.853" v="194" actId="207"/>
        <pc:sldMkLst>
          <pc:docMk/>
          <pc:sldMk cId="0" sldId="265"/>
        </pc:sldMkLst>
        <pc:spChg chg="mod">
          <ac:chgData name="shridhar kusugal" userId="ebc50c2c1b7afc0d" providerId="LiveId" clId="{DBF1DDBD-4C51-4663-80F6-6BA8388F5B4D}" dt="2026-10-27T13:12:12.853" v="194" actId="207"/>
          <ac:spMkLst>
            <pc:docMk/>
            <pc:sldMk cId="0" sldId="265"/>
            <ac:spMk id="3" creationId="{00000000-0000-0000-0000-000000000000}"/>
          </ac:spMkLst>
        </pc:spChg>
        <pc:spChg chg="mod">
          <ac:chgData name="shridhar kusugal" userId="ebc50c2c1b7afc0d" providerId="LiveId" clId="{DBF1DDBD-4C51-4663-80F6-6BA8388F5B4D}" dt="2026-10-27T07:21:15.979" v="157" actId="207"/>
          <ac:spMkLst>
            <pc:docMk/>
            <pc:sldMk cId="0" sldId="265"/>
            <ac:spMk id="5" creationId="{00000000-0000-0000-0000-000000000000}"/>
          </ac:spMkLst>
        </pc:spChg>
        <pc:spChg chg="mod">
          <ac:chgData name="shridhar kusugal" userId="ebc50c2c1b7afc0d" providerId="LiveId" clId="{DBF1DDBD-4C51-4663-80F6-6BA8388F5B4D}" dt="2026-10-27T07:18:15.907" v="136" actId="255"/>
          <ac:spMkLst>
            <pc:docMk/>
            <pc:sldMk cId="0" sldId="265"/>
            <ac:spMk id="6" creationId="{00000000-0000-0000-0000-000000000000}"/>
          </ac:spMkLst>
        </pc:spChg>
        <pc:spChg chg="mod">
          <ac:chgData name="shridhar kusugal" userId="ebc50c2c1b7afc0d" providerId="LiveId" clId="{DBF1DDBD-4C51-4663-80F6-6BA8388F5B4D}" dt="2026-10-27T07:21:11.392" v="156" actId="207"/>
          <ac:spMkLst>
            <pc:docMk/>
            <pc:sldMk cId="0" sldId="265"/>
            <ac:spMk id="8" creationId="{00000000-0000-0000-0000-000000000000}"/>
          </ac:spMkLst>
        </pc:spChg>
        <pc:spChg chg="mod">
          <ac:chgData name="shridhar kusugal" userId="ebc50c2c1b7afc0d" providerId="LiveId" clId="{DBF1DDBD-4C51-4663-80F6-6BA8388F5B4D}" dt="2026-10-27T07:18:32.928" v="138" actId="1076"/>
          <ac:spMkLst>
            <pc:docMk/>
            <pc:sldMk cId="0" sldId="265"/>
            <ac:spMk id="9" creationId="{00000000-0000-0000-0000-000000000000}"/>
          </ac:spMkLst>
        </pc:spChg>
        <pc:spChg chg="mod">
          <ac:chgData name="shridhar kusugal" userId="ebc50c2c1b7afc0d" providerId="LiveId" clId="{DBF1DDBD-4C51-4663-80F6-6BA8388F5B4D}" dt="2026-10-27T07:21:20.339" v="158" actId="207"/>
          <ac:spMkLst>
            <pc:docMk/>
            <pc:sldMk cId="0" sldId="265"/>
            <ac:spMk id="11" creationId="{00000000-0000-0000-0000-000000000000}"/>
          </ac:spMkLst>
        </pc:spChg>
        <pc:spChg chg="mod">
          <ac:chgData name="shridhar kusugal" userId="ebc50c2c1b7afc0d" providerId="LiveId" clId="{DBF1DDBD-4C51-4663-80F6-6BA8388F5B4D}" dt="2026-10-27T07:18:49.689" v="139" actId="255"/>
          <ac:spMkLst>
            <pc:docMk/>
            <pc:sldMk cId="0" sldId="265"/>
            <ac:spMk id="12" creationId="{00000000-0000-0000-0000-000000000000}"/>
          </ac:spMkLst>
        </pc:spChg>
        <pc:spChg chg="mod">
          <ac:chgData name="shridhar kusugal" userId="ebc50c2c1b7afc0d" providerId="LiveId" clId="{DBF1DDBD-4C51-4663-80F6-6BA8388F5B4D}" dt="2026-10-27T07:21:23.792" v="159" actId="207"/>
          <ac:spMkLst>
            <pc:docMk/>
            <pc:sldMk cId="0" sldId="265"/>
            <ac:spMk id="14" creationId="{00000000-0000-0000-0000-000000000000}"/>
          </ac:spMkLst>
        </pc:spChg>
        <pc:spChg chg="mod">
          <ac:chgData name="shridhar kusugal" userId="ebc50c2c1b7afc0d" providerId="LiveId" clId="{DBF1DDBD-4C51-4663-80F6-6BA8388F5B4D}" dt="2026-10-27T07:18:57.232" v="140" actId="255"/>
          <ac:spMkLst>
            <pc:docMk/>
            <pc:sldMk cId="0" sldId="265"/>
            <ac:spMk id="15" creationId="{00000000-0000-0000-0000-000000000000}"/>
          </ac:spMkLst>
        </pc:spChg>
      </pc:sldChg>
      <pc:sldChg chg="del">
        <pc:chgData name="shridhar kusugal" userId="ebc50c2c1b7afc0d" providerId="LiveId" clId="{DBF1DDBD-4C51-4663-80F6-6BA8388F5B4D}" dt="2026-10-27T13:36:52.864" v="316" actId="47"/>
        <pc:sldMkLst>
          <pc:docMk/>
          <pc:sldMk cId="0" sldId="266"/>
        </pc:sldMkLst>
      </pc:sldChg>
      <pc:sldChg chg="modSp mod">
        <pc:chgData name="shridhar kusugal" userId="ebc50c2c1b7afc0d" providerId="LiveId" clId="{DBF1DDBD-4C51-4663-80F6-6BA8388F5B4D}" dt="2026-10-27T13:40:11.414" v="337" actId="207"/>
        <pc:sldMkLst>
          <pc:docMk/>
          <pc:sldMk cId="0" sldId="268"/>
        </pc:sldMkLst>
        <pc:spChg chg="mod">
          <ac:chgData name="shridhar kusugal" userId="ebc50c2c1b7afc0d" providerId="LiveId" clId="{DBF1DDBD-4C51-4663-80F6-6BA8388F5B4D}" dt="2026-10-27T13:39:18.145" v="326" actId="1076"/>
          <ac:spMkLst>
            <pc:docMk/>
            <pc:sldMk cId="0" sldId="268"/>
            <ac:spMk id="2" creationId="{00000000-0000-0000-0000-000000000000}"/>
          </ac:spMkLst>
        </pc:spChg>
        <pc:spChg chg="mod">
          <ac:chgData name="shridhar kusugal" userId="ebc50c2c1b7afc0d" providerId="LiveId" clId="{DBF1DDBD-4C51-4663-80F6-6BA8388F5B4D}" dt="2026-10-27T13:39:22.996" v="327" actId="1076"/>
          <ac:spMkLst>
            <pc:docMk/>
            <pc:sldMk cId="0" sldId="268"/>
            <ac:spMk id="3" creationId="{00000000-0000-0000-0000-000000000000}"/>
          </ac:spMkLst>
        </pc:spChg>
        <pc:graphicFrameChg chg="mod modGraphic">
          <ac:chgData name="shridhar kusugal" userId="ebc50c2c1b7afc0d" providerId="LiveId" clId="{DBF1DDBD-4C51-4663-80F6-6BA8388F5B4D}" dt="2026-10-27T13:40:11.414" v="337" actId="207"/>
          <ac:graphicFrameMkLst>
            <pc:docMk/>
            <pc:sldMk cId="0" sldId="268"/>
            <ac:graphicFrameMk id="4" creationId="{00000000-0000-0000-0000-000000000000}"/>
          </ac:graphicFrameMkLst>
        </pc:graphicFrameChg>
      </pc:sldChg>
      <pc:sldChg chg="modSp mod">
        <pc:chgData name="shridhar kusugal" userId="ebc50c2c1b7afc0d" providerId="LiveId" clId="{DBF1DDBD-4C51-4663-80F6-6BA8388F5B4D}" dt="2026-10-27T13:44:13.603" v="360" actId="122"/>
        <pc:sldMkLst>
          <pc:docMk/>
          <pc:sldMk cId="0" sldId="269"/>
        </pc:sldMkLst>
        <pc:spChg chg="mod">
          <ac:chgData name="shridhar kusugal" userId="ebc50c2c1b7afc0d" providerId="LiveId" clId="{DBF1DDBD-4C51-4663-80F6-6BA8388F5B4D}" dt="2026-10-27T13:44:13.603" v="360" actId="122"/>
          <ac:spMkLst>
            <pc:docMk/>
            <pc:sldMk cId="0" sldId="269"/>
            <ac:spMk id="3" creationId="{00000000-0000-0000-0000-000000000000}"/>
          </ac:spMkLst>
        </pc:spChg>
        <pc:spChg chg="mod">
          <ac:chgData name="shridhar kusugal" userId="ebc50c2c1b7afc0d" providerId="LiveId" clId="{DBF1DDBD-4C51-4663-80F6-6BA8388F5B4D}" dt="2026-10-27T13:43:29.998" v="352" actId="1076"/>
          <ac:spMkLst>
            <pc:docMk/>
            <pc:sldMk cId="0" sldId="269"/>
            <ac:spMk id="4" creationId="{00000000-0000-0000-0000-000000000000}"/>
          </ac:spMkLst>
        </pc:spChg>
        <pc:spChg chg="mod">
          <ac:chgData name="shridhar kusugal" userId="ebc50c2c1b7afc0d" providerId="LiveId" clId="{DBF1DDBD-4C51-4663-80F6-6BA8388F5B4D}" dt="2026-10-27T13:43:24.547" v="351" actId="1076"/>
          <ac:spMkLst>
            <pc:docMk/>
            <pc:sldMk cId="0" sldId="269"/>
            <ac:spMk id="5" creationId="{00000000-0000-0000-0000-000000000000}"/>
          </ac:spMkLst>
        </pc:spChg>
        <pc:spChg chg="mod">
          <ac:chgData name="shridhar kusugal" userId="ebc50c2c1b7afc0d" providerId="LiveId" clId="{DBF1DDBD-4C51-4663-80F6-6BA8388F5B4D}" dt="2026-10-27T13:42:25.342" v="340" actId="255"/>
          <ac:spMkLst>
            <pc:docMk/>
            <pc:sldMk cId="0" sldId="269"/>
            <ac:spMk id="6" creationId="{00000000-0000-0000-0000-000000000000}"/>
          </ac:spMkLst>
        </pc:spChg>
        <pc:spChg chg="mod">
          <ac:chgData name="shridhar kusugal" userId="ebc50c2c1b7afc0d" providerId="LiveId" clId="{DBF1DDBD-4C51-4663-80F6-6BA8388F5B4D}" dt="2026-10-27T13:43:56.356" v="357" actId="1076"/>
          <ac:spMkLst>
            <pc:docMk/>
            <pc:sldMk cId="0" sldId="269"/>
            <ac:spMk id="7" creationId="{00000000-0000-0000-0000-000000000000}"/>
          </ac:spMkLst>
        </pc:spChg>
        <pc:spChg chg="mod">
          <ac:chgData name="shridhar kusugal" userId="ebc50c2c1b7afc0d" providerId="LiveId" clId="{DBF1DDBD-4C51-4663-80F6-6BA8388F5B4D}" dt="2026-10-27T13:43:48.270" v="356" actId="1076"/>
          <ac:spMkLst>
            <pc:docMk/>
            <pc:sldMk cId="0" sldId="269"/>
            <ac:spMk id="8" creationId="{00000000-0000-0000-0000-000000000000}"/>
          </ac:spMkLst>
        </pc:spChg>
        <pc:spChg chg="mod">
          <ac:chgData name="shridhar kusugal" userId="ebc50c2c1b7afc0d" providerId="LiveId" clId="{DBF1DDBD-4C51-4663-80F6-6BA8388F5B4D}" dt="2026-10-27T13:42:41.702" v="342" actId="255"/>
          <ac:spMkLst>
            <pc:docMk/>
            <pc:sldMk cId="0" sldId="269"/>
            <ac:spMk id="9" creationId="{00000000-0000-0000-0000-000000000000}"/>
          </ac:spMkLst>
        </pc:spChg>
      </pc:sldChg>
      <pc:sldChg chg="delSp modSp mod">
        <pc:chgData name="shridhar kusugal" userId="ebc50c2c1b7afc0d" providerId="LiveId" clId="{DBF1DDBD-4C51-4663-80F6-6BA8388F5B4D}" dt="2026-10-27T13:24:01.090" v="258" actId="207"/>
        <pc:sldMkLst>
          <pc:docMk/>
          <pc:sldMk cId="0" sldId="271"/>
        </pc:sldMkLst>
        <pc:spChg chg="mod">
          <ac:chgData name="shridhar kusugal" userId="ebc50c2c1b7afc0d" providerId="LiveId" clId="{DBF1DDBD-4C51-4663-80F6-6BA8388F5B4D}" dt="2026-10-27T13:22:50.324" v="225" actId="1076"/>
          <ac:spMkLst>
            <pc:docMk/>
            <pc:sldMk cId="0" sldId="271"/>
            <ac:spMk id="2" creationId="{00000000-0000-0000-0000-000000000000}"/>
          </ac:spMkLst>
        </pc:spChg>
        <pc:spChg chg="mod">
          <ac:chgData name="shridhar kusugal" userId="ebc50c2c1b7afc0d" providerId="LiveId" clId="{DBF1DDBD-4C51-4663-80F6-6BA8388F5B4D}" dt="2026-10-27T13:24:01.090" v="258" actId="207"/>
          <ac:spMkLst>
            <pc:docMk/>
            <pc:sldMk cId="0" sldId="271"/>
            <ac:spMk id="3" creationId="{00000000-0000-0000-0000-000000000000}"/>
          </ac:spMkLst>
        </pc:spChg>
        <pc:spChg chg="mod">
          <ac:chgData name="shridhar kusugal" userId="ebc50c2c1b7afc0d" providerId="LiveId" clId="{DBF1DDBD-4C51-4663-80F6-6BA8388F5B4D}" dt="2026-10-27T13:22:56.308" v="226" actId="1076"/>
          <ac:spMkLst>
            <pc:docMk/>
            <pc:sldMk cId="0" sldId="271"/>
            <ac:spMk id="4" creationId="{00000000-0000-0000-0000-000000000000}"/>
          </ac:spMkLst>
        </pc:spChg>
        <pc:spChg chg="mod">
          <ac:chgData name="shridhar kusugal" userId="ebc50c2c1b7afc0d" providerId="LiveId" clId="{DBF1DDBD-4C51-4663-80F6-6BA8388F5B4D}" dt="2026-10-27T13:23:24.499" v="232" actId="1076"/>
          <ac:spMkLst>
            <pc:docMk/>
            <pc:sldMk cId="0" sldId="271"/>
            <ac:spMk id="5" creationId="{00000000-0000-0000-0000-000000000000}"/>
          </ac:spMkLst>
        </pc:spChg>
        <pc:spChg chg="mod">
          <ac:chgData name="shridhar kusugal" userId="ebc50c2c1b7afc0d" providerId="LiveId" clId="{DBF1DDBD-4C51-4663-80F6-6BA8388F5B4D}" dt="2026-10-27T13:23:06.573" v="229" actId="1076"/>
          <ac:spMkLst>
            <pc:docMk/>
            <pc:sldMk cId="0" sldId="271"/>
            <ac:spMk id="6" creationId="{00000000-0000-0000-0000-000000000000}"/>
          </ac:spMkLst>
        </pc:spChg>
        <pc:spChg chg="del">
          <ac:chgData name="shridhar kusugal" userId="ebc50c2c1b7afc0d" providerId="LiveId" clId="{DBF1DDBD-4C51-4663-80F6-6BA8388F5B4D}" dt="2026-10-27T13:21:20.441" v="214" actId="478"/>
          <ac:spMkLst>
            <pc:docMk/>
            <pc:sldMk cId="0" sldId="271"/>
            <ac:spMk id="7" creationId="{00000000-0000-0000-0000-000000000000}"/>
          </ac:spMkLst>
        </pc:spChg>
        <pc:spChg chg="del mod">
          <ac:chgData name="shridhar kusugal" userId="ebc50c2c1b7afc0d" providerId="LiveId" clId="{DBF1DDBD-4C51-4663-80F6-6BA8388F5B4D}" dt="2026-10-27T13:23:02.836" v="228" actId="478"/>
          <ac:spMkLst>
            <pc:docMk/>
            <pc:sldMk cId="0" sldId="271"/>
            <ac:spMk id="8" creationId="{00000000-0000-0000-0000-000000000000}"/>
          </ac:spMkLst>
        </pc:spChg>
        <pc:spChg chg="del mod">
          <ac:chgData name="shridhar kusugal" userId="ebc50c2c1b7afc0d" providerId="LiveId" clId="{DBF1DDBD-4C51-4663-80F6-6BA8388F5B4D}" dt="2026-10-27T13:21:25.912" v="215" actId="478"/>
          <ac:spMkLst>
            <pc:docMk/>
            <pc:sldMk cId="0" sldId="271"/>
            <ac:spMk id="9" creationId="{00000000-0000-0000-0000-000000000000}"/>
          </ac:spMkLst>
        </pc:spChg>
        <pc:spChg chg="mod">
          <ac:chgData name="shridhar kusugal" userId="ebc50c2c1b7afc0d" providerId="LiveId" clId="{DBF1DDBD-4C51-4663-80F6-6BA8388F5B4D}" dt="2026-10-27T13:19:16.230" v="203" actId="1076"/>
          <ac:spMkLst>
            <pc:docMk/>
            <pc:sldMk cId="0" sldId="271"/>
            <ac:spMk id="10" creationId="{00000000-0000-0000-0000-000000000000}"/>
          </ac:spMkLst>
        </pc:spChg>
      </pc:sldChg>
      <pc:sldChg chg="addSp modSp new mod">
        <pc:chgData name="shridhar kusugal" userId="ebc50c2c1b7afc0d" providerId="LiveId" clId="{DBF1DDBD-4C51-4663-80F6-6BA8388F5B4D}" dt="2026-10-27T13:54:50.429" v="423" actId="207"/>
        <pc:sldMkLst>
          <pc:docMk/>
          <pc:sldMk cId="629224587" sldId="273"/>
        </pc:sldMkLst>
        <pc:spChg chg="add mod">
          <ac:chgData name="shridhar kusugal" userId="ebc50c2c1b7afc0d" providerId="LiveId" clId="{DBF1DDBD-4C51-4663-80F6-6BA8388F5B4D}" dt="2026-10-27T13:54:50.429" v="423" actId="207"/>
          <ac:spMkLst>
            <pc:docMk/>
            <pc:sldMk cId="629224587" sldId="273"/>
            <ac:spMk id="2" creationId="{97797B83-BF08-C617-86BE-007D466C37C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5001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external examiners, project guide, and faculty members. We are Shridhar Kusugal and Mohammad Kaif, final year MCA students at Chetan Business School, Hubballi. Today, we are proud to present our MCA software project titled 'NK Automobiles – Vehicle Inventory and Management System'. This is an end-to-end web-based automobile inventory, customer sales, and vehicle fitment platform developed specifically for automobile spare parts dealerships and service centers.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begin with our project overview: NK Automobiles is an active automobile enterprise in Hubballi. In the two-wheeler spares industry, the biggest operational bottleneck is not just keeping stock, but knowing which part fits which bike. A clutch cable made for a Pulsar will never fit a Hero Splendor, and automatic scooters like Honda Activa don't use manual clutch cables at all! Our system brings complete digital transformation to NK Automobiles: a unified web portal managing 181 parts, over 1,650 verified vehicle compatibility rules, an interactive customer storefront, and a robust administrative control hub.</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articulate the core problem statement. In traditional automobile shops, four critical pain points exist. First, the fitment problem: two-wheeler parts change across model years and BS emission variants. Customers often buy incorrect parts, leading to high return rates. Second, inventory is scattered across ledgers, causing unexpected stockouts. Third, manual handwritten billing creates slow counter queues and loses customer purchase history. Finally, payment reconciliation between cash and personal UPI codes creates end-of-day accounting errors without audit trails.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Based on these challenges, we established five definitive project objectives. First, create a centralized digital inventory for 181+ parts. Second, build an intelligent compatibility engine so customers can verify if a part fits their specific bike before ordering. Third, engineer a frictionless customer interface featuring guest checkout, allowing customers to order without lengthy registrations. Fourth, provide automated UPI QR generation for instant payments. Fifth, give the store owner an administrative dashboard with stock adjustment tools and audit logging.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provides a structured comparison between the existing manual process and our proposed web application. Notice the major contrasts: While the legacy system relies on paper ledgers and counter staff guesswork, NK Automobiles provides automated real-time inventory tracking and a verified fitment engine. Furthermore, our system replaces handwritten billing with guest checkout and dynamic UPI QR generation, and replaces vulnerable paper records with an ACID-compliant MySQL database protected by session authentication and system audit logs.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6, we present the technology stack used in building NK Automobiles. For the backend, we chose Python with the Flask web framework. Flask is lightweight, highly modular, and provides full control over routing and security without the heavy overhead of monolithic frameworks. For data storage, we used MySQL 8.0 with the official mysql-connector-python driver. Every single query is strictly parameterized to prevent SQL injection vulnerabilities. On the frontend, we implemented responsive Bootstrap 5.3, semantic HTML5, modern ES6 JavaScript for instant client-side filtering, and Jinja2 server-side templating. Development was conducted using VS Code, Git version control, and Python's built-in unittest framework.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illustrates the 3-Tier System Architecture of NK Automobiles. At the top is Tier 1, the Presentation Layer: Users interact via responsive web pages styled with Bootstrap 5 and accelerated by JavaScript event listeners. In the middle is Tier 2, the Application Layer: Our Python Flask application handles routing, authentication checks, business logic for compatibility filtering, and dynamic UPI QR generation. At the bottom is Tier 3, the Database Layer: MySQL 8.0 manages data persistence through 14 normalized tables, accessed via our dedicated db_queries.py interface using parameterized queries.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8, we outline the six functional modules implemented in NK Automobiles. Module 1 handles the 181-part catalog with real-time stock tracking. Module 2 is our standout feature: the Two-Wheeler Compatibility Engine mapping parts to 11 Indian motorcycle models with instant client-side search. Module 3 manages secure customer authentication and personal profiles. Module 4 provides cart management with a coupon engine and guest checkout. Module 5 generates dynamic UPI QR codes for seamless mobile payments. Module 6 is the Admin Hub, allowing store managers to perform CRUD operations on inventory, fulfill orders, and monitor audit logs.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demonstrates our relational database design. The system is normalized up to Third Normal Form (3NF) across 14 tables to eliminate data redundancy. The catalog group links categories to products via a one-to-many relationship, and products to compatibility records via a one-to-many relationship. The orders group captures e-commerce transactions: an order contains multiple order_items linked to products, preserving historical unit prices at the time of purchase. The user group handles role-based credentials, customer wishlists, and system audit logs.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details how fundamental CRUD operations are executed within NK Automobiles using practical automobile examples. Create is demonstrated when an admin inserts a new spare part or a customer generates an order. Read powers our catalog and compatibility engine, joining products with product_compatibility based on the user's selected bike model. Update handles inventory stock decrement and order status fulfillment. For Delete, we deliberately adopted an industry-standard Soft Delete design: instead of deleting product rows which would corrupt historical invoice records, we toggle an is_active flag to zero, preserving full relational integrity.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walks through the internal system workflow and execution lifecycle for an HTTP request. When a user selects a bike filter or submits an order, the browser dispatches an HTTP request. Flask routes the request through session middleware, calls our data access layer in db_queries.py, and executes a parameterized SQL query on MySQL. The returned records are processed and handed to Jinja2, which compiles the HTML template and returns it to the client browser in milliseconds.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summarizes our software testing methodology and verification results. We tested all major functional modules using a combination of automated Python unittest test suites and manual validation. Test Case 1 verified our Two-Wheeler Compatibility Engine: selecting Hero Splendor Plus successfully returned compatible parts while strictly excluding scooter CVT components. Test Case 2 validated security by verifying that unauthenticated users cannot access administrative endpoints. Other test cases verified coupon calculations, guest checkout, instant DOM filtering, and transactional stock deductions—all achieving 100% pass rates.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14, we present a balanced academic evaluation of our system. The primary advantage is our fitment engine, which directly addresses the biggest operational problem in automobile parts retail: incompatible orders. Furthermore, guest checkout and responsive design maximize sales conversion. In terms of limitations, our UPI payment currently relies on customer UTR entry rather than a bank gateway webhook, and physical counter barcode scanner integration is not yet connected to the web database. These boundaries form the foundation of our future enhancements.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highlights our future enhancement roadmap. In subsequent releases, we plan to implement automated Razorpay payment webhooks for instantaneous settlement. Second, we aim to integrate WhatsApp messaging for real-time order tracking updates. Third, add automated GST-compliant PDF invoice generation. Fourth, introduce automated supplier re-ordering triggers when stock drops below minimum safety thresholds. Fifth, implement a machine learning recommendation system to suggest complementary maintenance parts during checkout.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the NK Automobiles project demonstrates how thoughtful software engineering can solve genuine industry bottlenecks. Through this project, we mastered full-stack Python Flask web architecture, normalized relational database design, and web security principles. We express our sincere gratitude to our project guide, the faculty of Chetan Business School, and our examiners. We are now ready for your questions and viva discussion. Thank you!</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serves as an executive reference for the top 10 technical questions examiners frequently ask during an MCA project viva voce. It covers framework justification, security, SQL injection protection, 3NF normalization, atomic transaction management, and session architecture.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640080"/>
            <a:ext cx="10728655" cy="73152"/>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05840"/>
            <a:ext cx="10728655" cy="2011680"/>
          </a:xfrm>
          <a:prstGeom prst="rect">
            <a:avLst/>
          </a:prstGeom>
          <a:noFill/>
        </p:spPr>
        <p:txBody>
          <a:bodyPr wrap="square">
            <a:spAutoFit/>
          </a:bodyPr>
          <a:lstStyle/>
          <a:p>
            <a:pPr>
              <a:defRPr sz="1200" b="1">
                <a:solidFill>
                  <a:srgbClr val="94A3B8"/>
                </a:solidFill>
                <a:latin typeface="Calibri"/>
              </a:defRPr>
            </a:pPr>
            <a:r>
              <a:rPr dirty="0"/>
              <a:t>MASTER OF COMPUTER APPLICATIONS (MCA) PROJECT VIVA PRESENTATION</a:t>
            </a:r>
          </a:p>
          <a:p>
            <a:pPr>
              <a:spcBef>
                <a:spcPts val="600"/>
              </a:spcBef>
              <a:defRPr sz="3600" b="1">
                <a:solidFill>
                  <a:srgbClr val="FFFFFF"/>
                </a:solidFill>
                <a:latin typeface="Calibri"/>
              </a:defRPr>
            </a:pPr>
            <a:r>
              <a:rPr dirty="0"/>
              <a:t>NK AUTOMOBILES</a:t>
            </a:r>
          </a:p>
          <a:p>
            <a:pPr>
              <a:spcBef>
                <a:spcPts val="400"/>
              </a:spcBef>
              <a:defRPr sz="1700">
                <a:solidFill>
                  <a:srgbClr val="CBD5E1"/>
                </a:solidFill>
                <a:latin typeface="Calibri"/>
              </a:defRPr>
            </a:pPr>
            <a:r>
              <a:rPr dirty="0"/>
              <a:t>Vehicle Inventory and Management System with Two-Wheeler Fitment Engine</a:t>
            </a:r>
          </a:p>
        </p:txBody>
      </p:sp>
      <p:sp>
        <p:nvSpPr>
          <p:cNvPr id="5" name="Rounded Rectangle 4"/>
          <p:cNvSpPr/>
          <p:nvPr/>
        </p:nvSpPr>
        <p:spPr>
          <a:xfrm>
            <a:off x="731520" y="3383280"/>
            <a:ext cx="5212080" cy="2560320"/>
          </a:xfrm>
          <a:prstGeom prst="roundRect">
            <a:avLst/>
          </a:prstGeom>
          <a:solidFill>
            <a:srgbClr val="182B49"/>
          </a:solidFill>
          <a:ln w="15240">
            <a:solidFill>
              <a:srgbClr val="2D4A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3566160"/>
            <a:ext cx="4754880" cy="2194560"/>
          </a:xfrm>
          <a:prstGeom prst="rect">
            <a:avLst/>
          </a:prstGeom>
          <a:noFill/>
        </p:spPr>
        <p:txBody>
          <a:bodyPr wrap="square">
            <a:spAutoFit/>
          </a:bodyPr>
          <a:lstStyle/>
          <a:p>
            <a:pPr>
              <a:defRPr sz="1100" b="1">
                <a:solidFill>
                  <a:srgbClr val="D32F2F"/>
                </a:solidFill>
                <a:latin typeface="Calibri"/>
              </a:defRPr>
            </a:pPr>
            <a:r>
              <a:rPr dirty="0"/>
              <a:t>PROJECT DEVELOPERS</a:t>
            </a:r>
          </a:p>
          <a:p>
            <a:pPr>
              <a:spcBef>
                <a:spcPts val="800"/>
              </a:spcBef>
              <a:defRPr sz="1300" b="1">
                <a:solidFill>
                  <a:srgbClr val="FFFFFF"/>
                </a:solidFill>
              </a:defRPr>
            </a:pPr>
            <a:r>
              <a:rPr dirty="0"/>
              <a:t>• Shridhar Kusugal  (USN: 2XXMCAXXX)</a:t>
            </a:r>
          </a:p>
          <a:p>
            <a:pPr>
              <a:spcBef>
                <a:spcPts val="400"/>
              </a:spcBef>
              <a:defRPr sz="1300" b="1">
                <a:solidFill>
                  <a:srgbClr val="FFFFFF"/>
                </a:solidFill>
              </a:defRPr>
            </a:pPr>
            <a:r>
              <a:rPr dirty="0"/>
              <a:t>• Mohammad Kaif  (USN: 2XXMCAXXX)</a:t>
            </a:r>
          </a:p>
          <a:p>
            <a:pPr>
              <a:spcBef>
                <a:spcPts val="1200"/>
              </a:spcBef>
              <a:defRPr sz="1100">
                <a:solidFill>
                  <a:srgbClr val="94A3B8"/>
                </a:solidFill>
              </a:defRPr>
            </a:pPr>
            <a:r>
              <a:rPr dirty="0"/>
              <a:t>Course: Master of Computer Applications (MCA)</a:t>
            </a:r>
            <a:br>
              <a:rPr dirty="0"/>
            </a:br>
            <a:r>
              <a:rPr dirty="0"/>
              <a:t>Academic Year: 2025 – 2026</a:t>
            </a:r>
          </a:p>
        </p:txBody>
      </p:sp>
      <p:sp>
        <p:nvSpPr>
          <p:cNvPr id="7" name="Rounded Rectangle 6"/>
          <p:cNvSpPr/>
          <p:nvPr/>
        </p:nvSpPr>
        <p:spPr>
          <a:xfrm>
            <a:off x="6217920" y="3383280"/>
            <a:ext cx="5212080" cy="2560320"/>
          </a:xfrm>
          <a:prstGeom prst="roundRect">
            <a:avLst/>
          </a:prstGeom>
          <a:solidFill>
            <a:srgbClr val="182B49"/>
          </a:solidFill>
          <a:ln w="15240">
            <a:solidFill>
              <a:srgbClr val="2D4A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3566160"/>
            <a:ext cx="4754880" cy="2194560"/>
          </a:xfrm>
          <a:prstGeom prst="rect">
            <a:avLst/>
          </a:prstGeom>
          <a:noFill/>
        </p:spPr>
        <p:txBody>
          <a:bodyPr wrap="square">
            <a:spAutoFit/>
          </a:bodyPr>
          <a:lstStyle/>
          <a:p>
            <a:pPr>
              <a:defRPr sz="1100" b="1">
                <a:solidFill>
                  <a:srgbClr val="D32F2F"/>
                </a:solidFill>
                <a:latin typeface="Calibri"/>
              </a:defRPr>
            </a:pPr>
            <a:r>
              <a:t>INSTITUTION &amp; GUIDANCE</a:t>
            </a:r>
          </a:p>
          <a:p>
            <a:pPr>
              <a:spcBef>
                <a:spcPts val="800"/>
              </a:spcBef>
              <a:defRPr sz="1400" b="1">
                <a:solidFill>
                  <a:srgbClr val="FFFFFF"/>
                </a:solidFill>
              </a:defRPr>
            </a:pPr>
            <a:r>
              <a:t>Chetan Business School</a:t>
            </a:r>
          </a:p>
          <a:p>
            <a:pPr>
              <a:spcBef>
                <a:spcPts val="200"/>
              </a:spcBef>
              <a:defRPr sz="1200">
                <a:solidFill>
                  <a:srgbClr val="CBD5E1"/>
                </a:solidFill>
              </a:defRPr>
            </a:pPr>
            <a:r>
              <a:t>Department of MCA, Hubballi, Karnataka</a:t>
            </a:r>
          </a:p>
          <a:p>
            <a:pPr>
              <a:spcBef>
                <a:spcPts val="1200"/>
              </a:spcBef>
              <a:defRPr sz="1100">
                <a:solidFill>
                  <a:srgbClr val="94A3B8"/>
                </a:solidFill>
              </a:defRPr>
            </a:pPr>
            <a:r>
              <a:t>Project Guide: [Prof. / Dr. Project Guide Name]</a:t>
            </a:r>
            <a:br/>
            <a:r>
              <a:t>Designation: [Assistant Professor / HOD, Dept. of MCA]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68680"/>
          </a:xfrm>
          <a:prstGeom prst="rect">
            <a:avLst/>
          </a:prstGeom>
          <a:noFill/>
        </p:spPr>
        <p:txBody>
          <a:bodyPr wrap="square" lIns="0" tIns="0" rIns="0" bIns="0">
            <a:spAutoFit/>
          </a:bodyPr>
          <a:lstStyle/>
          <a:p>
            <a:pPr>
              <a:defRPr sz="1000" b="1">
                <a:solidFill>
                  <a:srgbClr val="D32F2F"/>
                </a:solidFill>
                <a:latin typeface="Calibri"/>
              </a:defRPr>
            </a:pPr>
            <a:r>
              <a:t>PROJECT BACKGROUND</a:t>
            </a:r>
          </a:p>
          <a:p>
            <a:pPr>
              <a:spcBef>
                <a:spcPts val="200"/>
              </a:spcBef>
              <a:defRPr sz="2100" b="1">
                <a:solidFill>
                  <a:srgbClr val="0F1F38"/>
                </a:solidFill>
                <a:latin typeface="Calibri"/>
              </a:defRPr>
            </a:pPr>
            <a:r>
              <a:t>Introduction &amp; Project Overview</a:t>
            </a:r>
          </a:p>
        </p:txBody>
      </p:sp>
      <p:sp>
        <p:nvSpPr>
          <p:cNvPr id="4" name="Rounded Rectangle 3"/>
          <p:cNvSpPr/>
          <p:nvPr/>
        </p:nvSpPr>
        <p:spPr>
          <a:xfrm>
            <a:off x="731520" y="1371600"/>
            <a:ext cx="3429000" cy="51969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536192"/>
            <a:ext cx="2926080" cy="411480"/>
          </a:xfrm>
          <a:prstGeom prst="rect">
            <a:avLst/>
          </a:prstGeom>
          <a:noFill/>
        </p:spPr>
        <p:txBody>
          <a:bodyPr wrap="square" lIns="0" tIns="0" rIns="0" bIns="0">
            <a:spAutoFit/>
          </a:bodyPr>
          <a:lstStyle/>
          <a:p>
            <a:pPr>
              <a:defRPr sz="1300" b="1">
                <a:solidFill>
                  <a:srgbClr val="0F1F38"/>
                </a:solidFill>
                <a:latin typeface="Calibri"/>
              </a:defRPr>
            </a:pPr>
            <a:r>
              <a:t>Industry Context</a:t>
            </a:r>
          </a:p>
        </p:txBody>
      </p:sp>
      <p:sp>
        <p:nvSpPr>
          <p:cNvPr id="6" name="TextBox 5"/>
          <p:cNvSpPr txBox="1"/>
          <p:nvPr/>
        </p:nvSpPr>
        <p:spPr>
          <a:xfrm>
            <a:off x="960120" y="1920240"/>
            <a:ext cx="2926080" cy="4455066"/>
          </a:xfrm>
          <a:prstGeom prst="rect">
            <a:avLst/>
          </a:prstGeom>
          <a:noFill/>
        </p:spPr>
        <p:txBody>
          <a:bodyPr wrap="square" lIns="0" tIns="0" rIns="0" bIns="0">
            <a:spAutoFit/>
          </a:bodyPr>
          <a:lstStyle/>
          <a:p>
            <a:pPr>
              <a:defRPr sz="1100">
                <a:latin typeface="Calibri"/>
              </a:defRPr>
            </a:pPr>
            <a:r>
              <a:rPr sz="1600" b="1" dirty="0">
                <a:solidFill>
                  <a:srgbClr val="1E3A5F"/>
                </a:solidFill>
              </a:rPr>
              <a:t>• Automobile Retail: </a:t>
            </a:r>
            <a:r>
              <a:rPr sz="1600" b="0" dirty="0">
                <a:solidFill>
                  <a:srgbClr val="1E293B"/>
                </a:solidFill>
              </a:rPr>
              <a:t>Retail automobile spare parts in India is a high-volume, multi-brand industry requiring precise fitment.</a:t>
            </a:r>
          </a:p>
          <a:p>
            <a:pPr>
              <a:spcBef>
                <a:spcPts val="700"/>
              </a:spcBef>
              <a:defRPr sz="1100">
                <a:latin typeface="Calibri"/>
              </a:defRPr>
            </a:pPr>
            <a:r>
              <a:rPr sz="1600" b="1" dirty="0">
                <a:solidFill>
                  <a:srgbClr val="1E3A5F"/>
                </a:solidFill>
              </a:rPr>
              <a:t>• Hubballi Enterprise: </a:t>
            </a:r>
            <a:r>
              <a:rPr sz="1600" b="0" dirty="0">
                <a:solidFill>
                  <a:srgbClr val="1E293B"/>
                </a:solidFill>
              </a:rPr>
              <a:t>NK Automobiles operates as an established multi-brand two-wheeler spare parts hub in Hubballi, Karnataka.</a:t>
            </a:r>
          </a:p>
          <a:p>
            <a:pPr>
              <a:spcBef>
                <a:spcPts val="700"/>
              </a:spcBef>
              <a:defRPr sz="1100">
                <a:latin typeface="Calibri"/>
              </a:defRPr>
            </a:pPr>
            <a:r>
              <a:rPr sz="1600" b="1" dirty="0">
                <a:solidFill>
                  <a:srgbClr val="1E3A5F"/>
                </a:solidFill>
              </a:rPr>
              <a:t>• Digital Shift: </a:t>
            </a:r>
            <a:r>
              <a:rPr sz="1600" b="0" dirty="0">
                <a:solidFill>
                  <a:srgbClr val="1E293B"/>
                </a:solidFill>
              </a:rPr>
              <a:t>Traditional paper-based ledger systems struggle with expanding catalogs, stock verification, and rapid billing.</a:t>
            </a:r>
          </a:p>
          <a:p>
            <a:pPr>
              <a:spcBef>
                <a:spcPts val="700"/>
              </a:spcBef>
              <a:defRPr sz="1100">
                <a:latin typeface="Calibri"/>
              </a:defRPr>
            </a:pPr>
            <a:r>
              <a:rPr sz="1600" b="1" dirty="0">
                <a:solidFill>
                  <a:srgbClr val="1E3A5F"/>
                </a:solidFill>
              </a:rPr>
              <a:t>• Scale of Operation: </a:t>
            </a:r>
            <a:r>
              <a:rPr sz="1600" b="0" dirty="0">
                <a:solidFill>
                  <a:srgbClr val="1E293B"/>
                </a:solidFill>
              </a:rPr>
              <a:t>The enterprise caters to hundreds of mechanics, vehicle owners, and retail customers daily.</a:t>
            </a:r>
          </a:p>
        </p:txBody>
      </p:sp>
      <p:sp>
        <p:nvSpPr>
          <p:cNvPr id="7" name="Rounded Rectangle 6"/>
          <p:cNvSpPr/>
          <p:nvPr/>
        </p:nvSpPr>
        <p:spPr>
          <a:xfrm>
            <a:off x="4389120" y="1371600"/>
            <a:ext cx="3429000" cy="51969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536192"/>
            <a:ext cx="2926080" cy="411480"/>
          </a:xfrm>
          <a:prstGeom prst="rect">
            <a:avLst/>
          </a:prstGeom>
          <a:noFill/>
        </p:spPr>
        <p:txBody>
          <a:bodyPr wrap="square" lIns="0" tIns="0" rIns="0" bIns="0">
            <a:spAutoFit/>
          </a:bodyPr>
          <a:lstStyle/>
          <a:p>
            <a:pPr>
              <a:defRPr sz="1300" b="1">
                <a:solidFill>
                  <a:srgbClr val="0F1F38"/>
                </a:solidFill>
                <a:latin typeface="Calibri"/>
              </a:defRPr>
            </a:pPr>
            <a:r>
              <a:t>System Purpose</a:t>
            </a:r>
          </a:p>
        </p:txBody>
      </p:sp>
      <p:sp>
        <p:nvSpPr>
          <p:cNvPr id="9" name="TextBox 8"/>
          <p:cNvSpPr txBox="1"/>
          <p:nvPr/>
        </p:nvSpPr>
        <p:spPr>
          <a:xfrm>
            <a:off x="4617720" y="1920240"/>
            <a:ext cx="2926080" cy="4455066"/>
          </a:xfrm>
          <a:prstGeom prst="rect">
            <a:avLst/>
          </a:prstGeom>
          <a:noFill/>
        </p:spPr>
        <p:txBody>
          <a:bodyPr wrap="square" lIns="0" tIns="0" rIns="0" bIns="0">
            <a:spAutoFit/>
          </a:bodyPr>
          <a:lstStyle/>
          <a:p>
            <a:pPr>
              <a:defRPr sz="1100">
                <a:latin typeface="Calibri"/>
              </a:defRPr>
            </a:pPr>
            <a:r>
              <a:rPr sz="1600" b="1" dirty="0">
                <a:solidFill>
                  <a:srgbClr val="1E3A5F"/>
                </a:solidFill>
              </a:rPr>
              <a:t>• Unified Portal: </a:t>
            </a:r>
            <a:r>
              <a:rPr sz="1600" b="0" dirty="0">
                <a:solidFill>
                  <a:srgbClr val="1E293B"/>
                </a:solidFill>
              </a:rPr>
              <a:t>Centralize spare-parts inventory, sales processing, and customer requests into one responsive web portal.</a:t>
            </a:r>
          </a:p>
          <a:p>
            <a:pPr>
              <a:spcBef>
                <a:spcPts val="700"/>
              </a:spcBef>
              <a:defRPr sz="1100">
                <a:latin typeface="Calibri"/>
              </a:defRPr>
            </a:pPr>
            <a:r>
              <a:rPr sz="1600" b="1" dirty="0">
                <a:solidFill>
                  <a:srgbClr val="1E3A5F"/>
                </a:solidFill>
              </a:rPr>
              <a:t>• Part Compatibility: </a:t>
            </a:r>
            <a:r>
              <a:rPr sz="1600" b="0" dirty="0">
                <a:solidFill>
                  <a:srgbClr val="1E293B"/>
                </a:solidFill>
              </a:rPr>
              <a:t>Eliminate part mismatch by mapping spare parts directly to verified two-wheeler models.</a:t>
            </a:r>
          </a:p>
          <a:p>
            <a:pPr>
              <a:spcBef>
                <a:spcPts val="700"/>
              </a:spcBef>
              <a:defRPr sz="1100">
                <a:latin typeface="Calibri"/>
              </a:defRPr>
            </a:pPr>
            <a:r>
              <a:rPr sz="1600" b="1" dirty="0">
                <a:solidFill>
                  <a:srgbClr val="1E3A5F"/>
                </a:solidFill>
              </a:rPr>
              <a:t>• Frictionless Sales: </a:t>
            </a:r>
            <a:r>
              <a:rPr sz="1600" b="0" dirty="0">
                <a:solidFill>
                  <a:srgbClr val="1E293B"/>
                </a:solidFill>
              </a:rPr>
              <a:t>Enable customers and mechanics to browse 181+ verified parts and complete orders via Guest Checkout.</a:t>
            </a:r>
          </a:p>
          <a:p>
            <a:pPr>
              <a:spcBef>
                <a:spcPts val="700"/>
              </a:spcBef>
              <a:defRPr sz="1100">
                <a:latin typeface="Calibri"/>
              </a:defRPr>
            </a:pPr>
            <a:r>
              <a:rPr sz="1600" b="1" dirty="0">
                <a:solidFill>
                  <a:srgbClr val="1E3A5F"/>
                </a:solidFill>
              </a:rPr>
              <a:t>• UPI Integration: </a:t>
            </a:r>
            <a:r>
              <a:rPr sz="1600" b="0" dirty="0">
                <a:solidFill>
                  <a:srgbClr val="1E293B"/>
                </a:solidFill>
              </a:rPr>
              <a:t>Incorporate modern dynamic UPI QR scan-to-pay workflow for instant digital payment verification.</a:t>
            </a:r>
          </a:p>
        </p:txBody>
      </p:sp>
      <p:sp>
        <p:nvSpPr>
          <p:cNvPr id="10" name="Rounded Rectangle 9"/>
          <p:cNvSpPr/>
          <p:nvPr/>
        </p:nvSpPr>
        <p:spPr>
          <a:xfrm>
            <a:off x="8046720" y="1371600"/>
            <a:ext cx="33832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536192"/>
            <a:ext cx="2926080" cy="411480"/>
          </a:xfrm>
          <a:prstGeom prst="rect">
            <a:avLst/>
          </a:prstGeom>
          <a:noFill/>
        </p:spPr>
        <p:txBody>
          <a:bodyPr wrap="square" lIns="0" tIns="0" rIns="0" bIns="0">
            <a:spAutoFit/>
          </a:bodyPr>
          <a:lstStyle/>
          <a:p>
            <a:pPr>
              <a:defRPr sz="1300" b="1">
                <a:solidFill>
                  <a:srgbClr val="0F1F38"/>
                </a:solidFill>
                <a:latin typeface="Calibri"/>
              </a:defRPr>
            </a:pPr>
            <a:r>
              <a:t>Key Highlights</a:t>
            </a:r>
          </a:p>
        </p:txBody>
      </p:sp>
      <p:sp>
        <p:nvSpPr>
          <p:cNvPr id="12" name="TextBox 11"/>
          <p:cNvSpPr txBox="1"/>
          <p:nvPr/>
        </p:nvSpPr>
        <p:spPr>
          <a:xfrm>
            <a:off x="8275320" y="1920240"/>
            <a:ext cx="2926080" cy="4114800"/>
          </a:xfrm>
          <a:prstGeom prst="rect">
            <a:avLst/>
          </a:prstGeom>
          <a:noFill/>
        </p:spPr>
        <p:txBody>
          <a:bodyPr wrap="square" lIns="0" tIns="0" rIns="0" bIns="0">
            <a:spAutoFit/>
          </a:bodyPr>
          <a:lstStyle/>
          <a:p>
            <a:pPr>
              <a:defRPr sz="1100">
                <a:latin typeface="Calibri"/>
              </a:defRPr>
            </a:pPr>
            <a:r>
              <a:rPr b="1" dirty="0">
                <a:solidFill>
                  <a:srgbClr val="1E3A5F"/>
                </a:solidFill>
              </a:rPr>
              <a:t>• 181 Active Products: </a:t>
            </a:r>
            <a:r>
              <a:rPr b="0" dirty="0">
                <a:solidFill>
                  <a:srgbClr val="1E293B"/>
                </a:solidFill>
              </a:rPr>
              <a:t>Spanning 8 automotive categories (Engine, Brake, Chains, Electricals, Filters, etc.).</a:t>
            </a:r>
          </a:p>
          <a:p>
            <a:pPr>
              <a:spcBef>
                <a:spcPts val="700"/>
              </a:spcBef>
              <a:defRPr sz="1100">
                <a:latin typeface="Calibri"/>
              </a:defRPr>
            </a:pPr>
            <a:r>
              <a:rPr b="1" dirty="0">
                <a:solidFill>
                  <a:srgbClr val="1E3A5F"/>
                </a:solidFill>
              </a:rPr>
              <a:t>• 1,650+ Compatibility Rules: </a:t>
            </a:r>
            <a:r>
              <a:rPr b="0" dirty="0">
                <a:solidFill>
                  <a:srgbClr val="1E293B"/>
                </a:solidFill>
              </a:rPr>
              <a:t>Authentic vehicle mapping across 11 popular Indian bike &amp; scooter models.</a:t>
            </a:r>
          </a:p>
          <a:p>
            <a:pPr>
              <a:spcBef>
                <a:spcPts val="700"/>
              </a:spcBef>
              <a:defRPr sz="1100">
                <a:latin typeface="Calibri"/>
              </a:defRPr>
            </a:pPr>
            <a:r>
              <a:rPr b="1" dirty="0">
                <a:solidFill>
                  <a:srgbClr val="1E3A5F"/>
                </a:solidFill>
              </a:rPr>
              <a:t>• Role-Based Security: </a:t>
            </a:r>
            <a:r>
              <a:rPr b="0" dirty="0">
                <a:solidFill>
                  <a:srgbClr val="1E293B"/>
                </a:solidFill>
              </a:rPr>
              <a:t>Separate secure interfaces for Customers and Admin management.</a:t>
            </a:r>
          </a:p>
          <a:p>
            <a:pPr>
              <a:spcBef>
                <a:spcPts val="700"/>
              </a:spcBef>
              <a:defRPr sz="1100">
                <a:latin typeface="Calibri"/>
              </a:defRPr>
            </a:pPr>
            <a:r>
              <a:rPr b="1" dirty="0">
                <a:solidFill>
                  <a:srgbClr val="1E3A5F"/>
                </a:solidFill>
              </a:rPr>
              <a:t>• Full-Stack Architecture: </a:t>
            </a:r>
            <a:r>
              <a:rPr b="0" dirty="0">
                <a:solidFill>
                  <a:srgbClr val="1E293B"/>
                </a:solidFill>
              </a:rPr>
              <a:t>Built with lightweight Python Flask, MySQL 8.0, and responsive Bootstrap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671979"/>
          </a:xfrm>
          <a:prstGeom prst="rect">
            <a:avLst/>
          </a:prstGeom>
          <a:noFill/>
        </p:spPr>
        <p:txBody>
          <a:bodyPr wrap="square" lIns="0" tIns="0" rIns="0" bIns="0">
            <a:spAutoFit/>
          </a:bodyPr>
          <a:lstStyle/>
          <a:p>
            <a:pPr>
              <a:defRPr sz="1000" b="1">
                <a:solidFill>
                  <a:srgbClr val="D32F2F"/>
                </a:solidFill>
                <a:latin typeface="Calibri"/>
              </a:defRPr>
            </a:pPr>
            <a:r>
              <a:rPr dirty="0"/>
              <a:t>OPERATIONAL CHALLENGES</a:t>
            </a:r>
          </a:p>
          <a:p>
            <a:pPr algn="ctr">
              <a:spcBef>
                <a:spcPts val="200"/>
              </a:spcBef>
              <a:defRPr sz="2100" b="1">
                <a:solidFill>
                  <a:srgbClr val="0F1F38"/>
                </a:solidFill>
                <a:latin typeface="Calibri"/>
              </a:defRPr>
            </a:pPr>
            <a:r>
              <a:rPr sz="3200" dirty="0">
                <a:solidFill>
                  <a:schemeClr val="accent4">
                    <a:lumMod val="50000"/>
                  </a:schemeClr>
                </a:solidFill>
              </a:rPr>
              <a:t>Problem Statement: Challenges in Manual Operations</a:t>
            </a:r>
          </a:p>
        </p:txBody>
      </p:sp>
      <p:sp>
        <p:nvSpPr>
          <p:cNvPr id="4" name="Rounded Rectangle 3"/>
          <p:cNvSpPr/>
          <p:nvPr/>
        </p:nvSpPr>
        <p:spPr>
          <a:xfrm>
            <a:off x="7315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536192"/>
            <a:ext cx="4754880" cy="246221"/>
          </a:xfrm>
          <a:prstGeom prst="rect">
            <a:avLst/>
          </a:prstGeom>
          <a:noFill/>
        </p:spPr>
        <p:txBody>
          <a:bodyPr wrap="square" lIns="0" tIns="0" rIns="0" bIns="0">
            <a:spAutoFit/>
          </a:bodyPr>
          <a:lstStyle/>
          <a:p>
            <a:pPr algn="ctr">
              <a:defRPr sz="1300" b="1">
                <a:solidFill>
                  <a:srgbClr val="0F1F38"/>
                </a:solidFill>
                <a:latin typeface="Calibri"/>
              </a:defRPr>
            </a:pPr>
            <a:r>
              <a:rPr sz="1600" dirty="0">
                <a:solidFill>
                  <a:schemeClr val="accent6">
                    <a:lumMod val="50000"/>
                  </a:schemeClr>
                </a:solidFill>
              </a:rPr>
              <a:t>1. Incompatible Part Mismatches &amp; Returns</a:t>
            </a:r>
          </a:p>
        </p:txBody>
      </p:sp>
      <p:sp>
        <p:nvSpPr>
          <p:cNvPr id="6" name="TextBox 5"/>
          <p:cNvSpPr txBox="1"/>
          <p:nvPr/>
        </p:nvSpPr>
        <p:spPr>
          <a:xfrm>
            <a:off x="960120" y="1920240"/>
            <a:ext cx="4754880" cy="1567096"/>
          </a:xfrm>
          <a:prstGeom prst="rect">
            <a:avLst/>
          </a:prstGeom>
          <a:noFill/>
        </p:spPr>
        <p:txBody>
          <a:bodyPr wrap="square" lIns="0" tIns="0" rIns="0" bIns="0">
            <a:spAutoFit/>
          </a:bodyPr>
          <a:lstStyle/>
          <a:p>
            <a:pPr>
              <a:defRPr sz="1100">
                <a:latin typeface="Calibri"/>
              </a:defRPr>
            </a:pPr>
            <a:r>
              <a:rPr sz="1600" b="1" dirty="0">
                <a:solidFill>
                  <a:srgbClr val="1E3A5F"/>
                </a:solidFill>
              </a:rPr>
              <a:t>• Lack of Fitment Verification: </a:t>
            </a:r>
            <a:r>
              <a:rPr sz="1600" b="0" dirty="0">
                <a:solidFill>
                  <a:srgbClr val="1E293B"/>
                </a:solidFill>
              </a:rPr>
              <a:t>Customers frequently purchase wrong parts due to subtle model year or emission (BS3/BS4/BS6) variations.</a:t>
            </a:r>
          </a:p>
          <a:p>
            <a:pPr>
              <a:spcBef>
                <a:spcPts val="700"/>
              </a:spcBef>
              <a:defRPr sz="1100">
                <a:latin typeface="Calibri"/>
              </a:defRPr>
            </a:pPr>
            <a:r>
              <a:rPr sz="1600" b="1" dirty="0">
                <a:solidFill>
                  <a:srgbClr val="1E3A5F"/>
                </a:solidFill>
              </a:rPr>
              <a:t>• High Return Overhead: </a:t>
            </a:r>
            <a:r>
              <a:rPr sz="1600" b="0" dirty="0">
                <a:solidFill>
                  <a:srgbClr val="1E293B"/>
                </a:solidFill>
              </a:rPr>
              <a:t>Part returns cause inventory discrepancies, wasted counter time, and customer dissatisfaction.</a:t>
            </a:r>
          </a:p>
        </p:txBody>
      </p:sp>
      <p:sp>
        <p:nvSpPr>
          <p:cNvPr id="7" name="Rounded Rectangle 6"/>
          <p:cNvSpPr/>
          <p:nvPr/>
        </p:nvSpPr>
        <p:spPr>
          <a:xfrm>
            <a:off x="6217920" y="1371600"/>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536192"/>
            <a:ext cx="4754880" cy="246221"/>
          </a:xfrm>
          <a:prstGeom prst="rect">
            <a:avLst/>
          </a:prstGeom>
          <a:noFill/>
        </p:spPr>
        <p:txBody>
          <a:bodyPr wrap="square" lIns="0" tIns="0" rIns="0" bIns="0">
            <a:spAutoFit/>
          </a:bodyPr>
          <a:lstStyle/>
          <a:p>
            <a:pPr algn="ctr">
              <a:defRPr sz="1300" b="1">
                <a:solidFill>
                  <a:srgbClr val="0F1F38"/>
                </a:solidFill>
                <a:latin typeface="Calibri"/>
              </a:defRPr>
            </a:pPr>
            <a:r>
              <a:rPr sz="1600" dirty="0">
                <a:solidFill>
                  <a:schemeClr val="accent6">
                    <a:lumMod val="50000"/>
                  </a:schemeClr>
                </a:solidFill>
              </a:rPr>
              <a:t>2. Fragmented Stock &amp; Sudden Stockouts</a:t>
            </a:r>
          </a:p>
        </p:txBody>
      </p:sp>
      <p:sp>
        <p:nvSpPr>
          <p:cNvPr id="9" name="TextBox 8"/>
          <p:cNvSpPr txBox="1"/>
          <p:nvPr/>
        </p:nvSpPr>
        <p:spPr>
          <a:xfrm>
            <a:off x="6446520" y="1920240"/>
            <a:ext cx="4754880" cy="1567096"/>
          </a:xfrm>
          <a:prstGeom prst="rect">
            <a:avLst/>
          </a:prstGeom>
          <a:noFill/>
        </p:spPr>
        <p:txBody>
          <a:bodyPr wrap="square" lIns="0" tIns="0" rIns="0" bIns="0">
            <a:spAutoFit/>
          </a:bodyPr>
          <a:lstStyle/>
          <a:p>
            <a:pPr>
              <a:defRPr sz="1100">
                <a:latin typeface="Calibri"/>
              </a:defRPr>
            </a:pPr>
            <a:r>
              <a:rPr sz="1600" b="1" dirty="0">
                <a:solidFill>
                  <a:srgbClr val="1E3A5F"/>
                </a:solidFill>
              </a:rPr>
              <a:t>• Manual Ledger Tracking: </a:t>
            </a:r>
            <a:r>
              <a:rPr sz="1600" b="0" dirty="0">
                <a:solidFill>
                  <a:srgbClr val="1E293B"/>
                </a:solidFill>
              </a:rPr>
              <a:t>Inventory records maintained in physical books or isolated spreadsheets are prone to manual logging errors.</a:t>
            </a:r>
          </a:p>
          <a:p>
            <a:pPr>
              <a:spcBef>
                <a:spcPts val="700"/>
              </a:spcBef>
              <a:defRPr sz="1100">
                <a:latin typeface="Calibri"/>
              </a:defRPr>
            </a:pPr>
            <a:r>
              <a:rPr sz="1600" b="1" dirty="0">
                <a:solidFill>
                  <a:srgbClr val="1E3A5F"/>
                </a:solidFill>
              </a:rPr>
              <a:t>• Zero Low-Stock Visibility: </a:t>
            </a:r>
            <a:r>
              <a:rPr sz="1600" b="0" dirty="0">
                <a:solidFill>
                  <a:srgbClr val="1E293B"/>
                </a:solidFill>
              </a:rPr>
              <a:t>Shop owners discover stockouts only when a customer physically asks for a part at the counter.</a:t>
            </a:r>
          </a:p>
        </p:txBody>
      </p:sp>
      <p:sp>
        <p:nvSpPr>
          <p:cNvPr id="10" name="Rounded Rectangle 9"/>
          <p:cNvSpPr/>
          <p:nvPr/>
        </p:nvSpPr>
        <p:spPr>
          <a:xfrm>
            <a:off x="731520" y="3977639"/>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142231"/>
            <a:ext cx="4754880" cy="246221"/>
          </a:xfrm>
          <a:prstGeom prst="rect">
            <a:avLst/>
          </a:prstGeom>
          <a:noFill/>
        </p:spPr>
        <p:txBody>
          <a:bodyPr wrap="square" lIns="0" tIns="0" rIns="0" bIns="0">
            <a:spAutoFit/>
          </a:bodyPr>
          <a:lstStyle/>
          <a:p>
            <a:pPr algn="ctr">
              <a:defRPr sz="1300" b="1">
                <a:solidFill>
                  <a:srgbClr val="0F1F38"/>
                </a:solidFill>
                <a:latin typeface="Calibri"/>
              </a:defRPr>
            </a:pPr>
            <a:r>
              <a:rPr sz="1600" dirty="0">
                <a:solidFill>
                  <a:schemeClr val="accent6">
                    <a:lumMod val="50000"/>
                  </a:schemeClr>
                </a:solidFill>
              </a:rPr>
              <a:t>3. Slow Counter Checkout &amp; Billing Bottlenecks</a:t>
            </a:r>
          </a:p>
        </p:txBody>
      </p:sp>
      <p:sp>
        <p:nvSpPr>
          <p:cNvPr id="12" name="TextBox 11"/>
          <p:cNvSpPr txBox="1"/>
          <p:nvPr/>
        </p:nvSpPr>
        <p:spPr>
          <a:xfrm>
            <a:off x="960120" y="4526280"/>
            <a:ext cx="4754880" cy="1320874"/>
          </a:xfrm>
          <a:prstGeom prst="rect">
            <a:avLst/>
          </a:prstGeom>
          <a:noFill/>
        </p:spPr>
        <p:txBody>
          <a:bodyPr wrap="square" lIns="0" tIns="0" rIns="0" bIns="0">
            <a:spAutoFit/>
          </a:bodyPr>
          <a:lstStyle/>
          <a:p>
            <a:pPr>
              <a:defRPr sz="1100">
                <a:latin typeface="Calibri"/>
              </a:defRPr>
            </a:pPr>
            <a:r>
              <a:rPr sz="1600" b="1" dirty="0">
                <a:solidFill>
                  <a:srgbClr val="1E3A5F"/>
                </a:solidFill>
              </a:rPr>
              <a:t>• Handwritten Invoices: </a:t>
            </a:r>
            <a:r>
              <a:rPr sz="1600" b="0" dirty="0">
                <a:solidFill>
                  <a:srgbClr val="1E293B"/>
                </a:solidFill>
              </a:rPr>
              <a:t>Manual billing creates long queues during peak morning and evening mechanic rush hours.</a:t>
            </a:r>
          </a:p>
          <a:p>
            <a:pPr>
              <a:spcBef>
                <a:spcPts val="700"/>
              </a:spcBef>
              <a:defRPr sz="1100">
                <a:latin typeface="Calibri"/>
              </a:defRPr>
            </a:pPr>
            <a:r>
              <a:rPr sz="1600" b="1" dirty="0">
                <a:solidFill>
                  <a:srgbClr val="1E3A5F"/>
                </a:solidFill>
              </a:rPr>
              <a:t>• Lost Customer History: </a:t>
            </a:r>
            <a:r>
              <a:rPr sz="1600" b="0" dirty="0">
                <a:solidFill>
                  <a:srgbClr val="1E293B"/>
                </a:solidFill>
              </a:rPr>
              <a:t>No digital record of past repairs, repeat customer buying habits, or warranty tracking.</a:t>
            </a:r>
          </a:p>
        </p:txBody>
      </p:sp>
      <p:sp>
        <p:nvSpPr>
          <p:cNvPr id="13" name="Rounded Rectangle 12"/>
          <p:cNvSpPr/>
          <p:nvPr/>
        </p:nvSpPr>
        <p:spPr>
          <a:xfrm>
            <a:off x="6217920" y="3977639"/>
            <a:ext cx="521208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142231"/>
            <a:ext cx="4754880" cy="246221"/>
          </a:xfrm>
          <a:prstGeom prst="rect">
            <a:avLst/>
          </a:prstGeom>
          <a:noFill/>
        </p:spPr>
        <p:txBody>
          <a:bodyPr wrap="square" lIns="0" tIns="0" rIns="0" bIns="0">
            <a:spAutoFit/>
          </a:bodyPr>
          <a:lstStyle/>
          <a:p>
            <a:pPr algn="ctr">
              <a:defRPr sz="1300" b="1">
                <a:solidFill>
                  <a:srgbClr val="0F1F38"/>
                </a:solidFill>
                <a:latin typeface="Calibri"/>
              </a:defRPr>
            </a:pPr>
            <a:r>
              <a:rPr sz="1600" dirty="0">
                <a:solidFill>
                  <a:schemeClr val="accent6">
                    <a:lumMod val="50000"/>
                  </a:schemeClr>
                </a:solidFill>
              </a:rPr>
              <a:t>4. Payment Reconciliation &amp; Audit Deficits</a:t>
            </a:r>
          </a:p>
        </p:txBody>
      </p:sp>
      <p:sp>
        <p:nvSpPr>
          <p:cNvPr id="15" name="TextBox 14"/>
          <p:cNvSpPr txBox="1"/>
          <p:nvPr/>
        </p:nvSpPr>
        <p:spPr>
          <a:xfrm>
            <a:off x="6446520" y="4526280"/>
            <a:ext cx="4754880" cy="1320874"/>
          </a:xfrm>
          <a:prstGeom prst="rect">
            <a:avLst/>
          </a:prstGeom>
          <a:noFill/>
        </p:spPr>
        <p:txBody>
          <a:bodyPr wrap="square" lIns="0" tIns="0" rIns="0" bIns="0">
            <a:spAutoFit/>
          </a:bodyPr>
          <a:lstStyle/>
          <a:p>
            <a:pPr>
              <a:defRPr sz="1100">
                <a:latin typeface="Calibri"/>
              </a:defRPr>
            </a:pPr>
            <a:r>
              <a:rPr b="1" dirty="0">
                <a:solidFill>
                  <a:srgbClr val="1E3A5F"/>
                </a:solidFill>
              </a:rPr>
              <a:t>• </a:t>
            </a:r>
            <a:r>
              <a:rPr sz="1600" b="1" dirty="0">
                <a:solidFill>
                  <a:srgbClr val="1E3A5F"/>
                </a:solidFill>
              </a:rPr>
              <a:t>Disjointed Payment Tracking: </a:t>
            </a:r>
            <a:r>
              <a:rPr sz="1600" b="0" dirty="0">
                <a:solidFill>
                  <a:srgbClr val="1E293B"/>
                </a:solidFill>
              </a:rPr>
              <a:t>Cash transactions combined with personal UPI QR scans lead to daily cash-drawer mismatch.</a:t>
            </a:r>
          </a:p>
          <a:p>
            <a:pPr>
              <a:spcBef>
                <a:spcPts val="700"/>
              </a:spcBef>
              <a:defRPr sz="1100">
                <a:latin typeface="Calibri"/>
              </a:defRPr>
            </a:pPr>
            <a:r>
              <a:rPr sz="1600" b="1" dirty="0">
                <a:solidFill>
                  <a:srgbClr val="1E3A5F"/>
                </a:solidFill>
              </a:rPr>
              <a:t>• Lack of Activity Audit: </a:t>
            </a:r>
            <a:r>
              <a:rPr sz="1600" b="0" dirty="0">
                <a:solidFill>
                  <a:srgbClr val="1E293B"/>
                </a:solidFill>
              </a:rPr>
              <a:t>No audit log exists to identify who altered stock quantities or issued discounts.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733534"/>
          </a:xfrm>
          <a:prstGeom prst="rect">
            <a:avLst/>
          </a:prstGeom>
          <a:noFill/>
        </p:spPr>
        <p:txBody>
          <a:bodyPr wrap="square" lIns="0" tIns="0" rIns="0" bIns="0">
            <a:spAutoFit/>
          </a:bodyPr>
          <a:lstStyle/>
          <a:p>
            <a:pPr>
              <a:defRPr sz="1000" b="1">
                <a:solidFill>
                  <a:srgbClr val="D32F2F"/>
                </a:solidFill>
                <a:latin typeface="Calibri"/>
              </a:defRPr>
            </a:pPr>
            <a:r>
              <a:rPr dirty="0"/>
              <a:t>PROJECT GOALS</a:t>
            </a:r>
          </a:p>
          <a:p>
            <a:pPr algn="ctr">
              <a:spcBef>
                <a:spcPts val="200"/>
              </a:spcBef>
              <a:defRPr sz="2100" b="1">
                <a:solidFill>
                  <a:srgbClr val="0F1F38"/>
                </a:solidFill>
                <a:latin typeface="Calibri"/>
              </a:defRPr>
            </a:pPr>
            <a:r>
              <a:rPr sz="3600" dirty="0">
                <a:solidFill>
                  <a:schemeClr val="accent6">
                    <a:lumMod val="50000"/>
                  </a:schemeClr>
                </a:solidFill>
              </a:rPr>
              <a:t>Project Objectives &amp; Scope</a:t>
            </a:r>
          </a:p>
        </p:txBody>
      </p:sp>
      <p:sp>
        <p:nvSpPr>
          <p:cNvPr id="4" name="Rounded Rectangle 3"/>
          <p:cNvSpPr/>
          <p:nvPr/>
        </p:nvSpPr>
        <p:spPr>
          <a:xfrm>
            <a:off x="731520" y="1371600"/>
            <a:ext cx="10728655" cy="868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1536192"/>
            <a:ext cx="530352" cy="530352"/>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6" name="TextBox 5"/>
          <p:cNvSpPr txBox="1"/>
          <p:nvPr/>
        </p:nvSpPr>
        <p:spPr>
          <a:xfrm>
            <a:off x="1645920" y="1508760"/>
            <a:ext cx="9601200" cy="595035"/>
          </a:xfrm>
          <a:prstGeom prst="rect">
            <a:avLst/>
          </a:prstGeom>
          <a:noFill/>
        </p:spPr>
        <p:txBody>
          <a:bodyPr wrap="square">
            <a:spAutoFit/>
          </a:bodyPr>
          <a:lstStyle/>
          <a:p>
            <a:pPr>
              <a:defRPr sz="1300" b="1">
                <a:solidFill>
                  <a:srgbClr val="0F1F38"/>
                </a:solidFill>
              </a:defRPr>
            </a:pPr>
            <a:r>
              <a:rPr sz="1600" dirty="0"/>
              <a:t>Centralized Catalog &amp; Inventory</a:t>
            </a:r>
          </a:p>
          <a:p>
            <a:pPr>
              <a:spcBef>
                <a:spcPts val="200"/>
              </a:spcBef>
              <a:defRPr sz="1050">
                <a:solidFill>
                  <a:srgbClr val="64748B"/>
                </a:solidFill>
              </a:defRPr>
            </a:pPr>
            <a:r>
              <a:rPr sz="1500" b="1" dirty="0"/>
              <a:t>Develop a relational database-backed catalog storing 181+ verified parts with real-time stock and pricing tracking.</a:t>
            </a:r>
          </a:p>
        </p:txBody>
      </p:sp>
      <p:sp>
        <p:nvSpPr>
          <p:cNvPr id="7" name="Rounded Rectangle 6"/>
          <p:cNvSpPr/>
          <p:nvPr/>
        </p:nvSpPr>
        <p:spPr>
          <a:xfrm>
            <a:off x="731520" y="2359152"/>
            <a:ext cx="10728655" cy="950976"/>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 y="2523744"/>
            <a:ext cx="530352" cy="530352"/>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9" name="TextBox 8"/>
          <p:cNvSpPr txBox="1"/>
          <p:nvPr/>
        </p:nvSpPr>
        <p:spPr>
          <a:xfrm>
            <a:off x="1645920" y="2496312"/>
            <a:ext cx="9601200" cy="825867"/>
          </a:xfrm>
          <a:prstGeom prst="rect">
            <a:avLst/>
          </a:prstGeom>
          <a:noFill/>
        </p:spPr>
        <p:txBody>
          <a:bodyPr wrap="square">
            <a:spAutoFit/>
          </a:bodyPr>
          <a:lstStyle/>
          <a:p>
            <a:pPr>
              <a:defRPr sz="1300" b="1">
                <a:solidFill>
                  <a:srgbClr val="0F1F38"/>
                </a:solidFill>
              </a:defRPr>
            </a:pPr>
            <a:r>
              <a:rPr sz="1600" dirty="0"/>
              <a:t>Intelligent Fitment Search Engine</a:t>
            </a:r>
          </a:p>
          <a:p>
            <a:pPr>
              <a:spcBef>
                <a:spcPts val="200"/>
              </a:spcBef>
              <a:defRPr sz="1050">
                <a:solidFill>
                  <a:srgbClr val="64748B"/>
                </a:solidFill>
              </a:defRPr>
            </a:pPr>
            <a:r>
              <a:rPr sz="1500" b="1" dirty="0"/>
              <a:t>Implement dynamic vehicle compatibility mapping across 11 key Indian motorcycle &amp; scooter platforms with live filtering.</a:t>
            </a:r>
          </a:p>
        </p:txBody>
      </p:sp>
      <p:sp>
        <p:nvSpPr>
          <p:cNvPr id="10" name="Rounded Rectangle 9"/>
          <p:cNvSpPr/>
          <p:nvPr/>
        </p:nvSpPr>
        <p:spPr>
          <a:xfrm>
            <a:off x="731520" y="3472293"/>
            <a:ext cx="10728655" cy="868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99312" y="3561658"/>
            <a:ext cx="530352" cy="530352"/>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2" name="TextBox 11"/>
          <p:cNvSpPr txBox="1"/>
          <p:nvPr/>
        </p:nvSpPr>
        <p:spPr>
          <a:xfrm>
            <a:off x="1645920" y="3483864"/>
            <a:ext cx="9601200" cy="825867"/>
          </a:xfrm>
          <a:prstGeom prst="rect">
            <a:avLst/>
          </a:prstGeom>
          <a:noFill/>
        </p:spPr>
        <p:txBody>
          <a:bodyPr wrap="square">
            <a:spAutoFit/>
          </a:bodyPr>
          <a:lstStyle/>
          <a:p>
            <a:pPr>
              <a:defRPr sz="1300" b="1">
                <a:solidFill>
                  <a:srgbClr val="0F1F38"/>
                </a:solidFill>
              </a:defRPr>
            </a:pPr>
            <a:r>
              <a:rPr sz="1600" dirty="0"/>
              <a:t>Streamlined Customer Storefront</a:t>
            </a:r>
          </a:p>
          <a:p>
            <a:pPr>
              <a:spcBef>
                <a:spcPts val="200"/>
              </a:spcBef>
              <a:defRPr sz="1050">
                <a:solidFill>
                  <a:srgbClr val="64748B"/>
                </a:solidFill>
              </a:defRPr>
            </a:pPr>
            <a:r>
              <a:rPr sz="1500" b="1" dirty="0"/>
              <a:t>Provide a fast, responsive e-commerce interface with category filtering, live search, cart calculation, and Guest Checkout.</a:t>
            </a:r>
          </a:p>
        </p:txBody>
      </p:sp>
      <p:sp>
        <p:nvSpPr>
          <p:cNvPr id="13" name="Rounded Rectangle 12"/>
          <p:cNvSpPr/>
          <p:nvPr/>
        </p:nvSpPr>
        <p:spPr>
          <a:xfrm>
            <a:off x="716432" y="4425555"/>
            <a:ext cx="10728655" cy="868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Oval 13"/>
          <p:cNvSpPr/>
          <p:nvPr/>
        </p:nvSpPr>
        <p:spPr>
          <a:xfrm>
            <a:off x="899312" y="4594719"/>
            <a:ext cx="530352" cy="530352"/>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rPr dirty="0"/>
              <a:t>04</a:t>
            </a:r>
          </a:p>
        </p:txBody>
      </p:sp>
      <p:sp>
        <p:nvSpPr>
          <p:cNvPr id="15" name="TextBox 14"/>
          <p:cNvSpPr txBox="1"/>
          <p:nvPr/>
        </p:nvSpPr>
        <p:spPr>
          <a:xfrm>
            <a:off x="1645920" y="4471416"/>
            <a:ext cx="9601200" cy="595035"/>
          </a:xfrm>
          <a:prstGeom prst="rect">
            <a:avLst/>
          </a:prstGeom>
          <a:noFill/>
        </p:spPr>
        <p:txBody>
          <a:bodyPr wrap="square">
            <a:spAutoFit/>
          </a:bodyPr>
          <a:lstStyle/>
          <a:p>
            <a:pPr>
              <a:defRPr sz="1300" b="1">
                <a:solidFill>
                  <a:srgbClr val="0F1F38"/>
                </a:solidFill>
              </a:defRPr>
            </a:pPr>
            <a:r>
              <a:rPr sz="1600" dirty="0"/>
              <a:t>Integrated UPI Digital Payments</a:t>
            </a:r>
          </a:p>
          <a:p>
            <a:pPr>
              <a:spcBef>
                <a:spcPts val="200"/>
              </a:spcBef>
              <a:defRPr sz="1050">
                <a:solidFill>
                  <a:srgbClr val="64748B"/>
                </a:solidFill>
              </a:defRPr>
            </a:pPr>
            <a:r>
              <a:rPr sz="1500" b="1" dirty="0"/>
              <a:t>Generate dynamic, order-specific UPI QR codes allowing seamless scan-to-pay functionality on mobile and desktop.</a:t>
            </a:r>
          </a:p>
        </p:txBody>
      </p:sp>
      <p:sp>
        <p:nvSpPr>
          <p:cNvPr id="16" name="Rounded Rectangle 15"/>
          <p:cNvSpPr/>
          <p:nvPr/>
        </p:nvSpPr>
        <p:spPr>
          <a:xfrm>
            <a:off x="701345" y="5396554"/>
            <a:ext cx="10728655" cy="108738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32688" y="5606725"/>
            <a:ext cx="530352" cy="530352"/>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rPr dirty="0"/>
              <a:t>05</a:t>
            </a:r>
          </a:p>
        </p:txBody>
      </p:sp>
      <p:sp>
        <p:nvSpPr>
          <p:cNvPr id="18" name="TextBox 17"/>
          <p:cNvSpPr txBox="1"/>
          <p:nvPr/>
        </p:nvSpPr>
        <p:spPr>
          <a:xfrm>
            <a:off x="1645920" y="5458968"/>
            <a:ext cx="9601200" cy="825867"/>
          </a:xfrm>
          <a:prstGeom prst="rect">
            <a:avLst/>
          </a:prstGeom>
          <a:noFill/>
        </p:spPr>
        <p:txBody>
          <a:bodyPr wrap="square">
            <a:spAutoFit/>
          </a:bodyPr>
          <a:lstStyle/>
          <a:p>
            <a:pPr>
              <a:defRPr sz="1300" b="1">
                <a:solidFill>
                  <a:srgbClr val="0F1F38"/>
                </a:solidFill>
              </a:defRPr>
            </a:pPr>
            <a:r>
              <a:rPr sz="1600" dirty="0"/>
              <a:t>Admin Control &amp; Security</a:t>
            </a:r>
          </a:p>
          <a:p>
            <a:pPr>
              <a:spcBef>
                <a:spcPts val="200"/>
              </a:spcBef>
              <a:defRPr sz="1050">
                <a:solidFill>
                  <a:srgbClr val="64748B"/>
                </a:solidFill>
              </a:defRPr>
            </a:pPr>
            <a:r>
              <a:rPr sz="1500" b="1" dirty="0"/>
              <a:t>Establish role-based access control, product CRUD operations, verified image asset management, and system activity logs.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4670"/>
            <a:ext cx="12860910" cy="7520964"/>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06269" y="164670"/>
            <a:ext cx="11285731" cy="764312"/>
          </a:xfrm>
          <a:prstGeom prst="rect">
            <a:avLst/>
          </a:prstGeom>
          <a:noFill/>
        </p:spPr>
        <p:txBody>
          <a:bodyPr wrap="square" lIns="0" tIns="0" rIns="0" bIns="0">
            <a:spAutoFit/>
          </a:bodyPr>
          <a:lstStyle/>
          <a:p>
            <a:pPr>
              <a:defRPr sz="1000" b="1">
                <a:solidFill>
                  <a:srgbClr val="D32F2F"/>
                </a:solidFill>
                <a:latin typeface="Calibri"/>
              </a:defRPr>
            </a:pPr>
            <a:endParaRPr lang="en-US" dirty="0"/>
          </a:p>
          <a:p>
            <a:pPr>
              <a:defRPr sz="1000" b="1">
                <a:solidFill>
                  <a:srgbClr val="D32F2F"/>
                </a:solidFill>
                <a:latin typeface="Calibri"/>
              </a:defRPr>
            </a:pPr>
            <a:r>
              <a:rPr dirty="0"/>
              <a:t>SYSTEM COMPARISON</a:t>
            </a:r>
          </a:p>
          <a:p>
            <a:pPr algn="ctr">
              <a:spcBef>
                <a:spcPts val="200"/>
              </a:spcBef>
              <a:defRPr sz="2100" b="1">
                <a:solidFill>
                  <a:srgbClr val="0F1F38"/>
                </a:solidFill>
                <a:latin typeface="Calibri"/>
              </a:defRPr>
            </a:pPr>
            <a:r>
              <a:rPr sz="2800" dirty="0">
                <a:solidFill>
                  <a:schemeClr val="accent6">
                    <a:lumMod val="50000"/>
                  </a:schemeClr>
                </a:solidFill>
              </a:rPr>
              <a:t>Existing System vs. Proposed System</a:t>
            </a:r>
          </a:p>
        </p:txBody>
      </p:sp>
      <p:graphicFrame>
        <p:nvGraphicFramePr>
          <p:cNvPr id="4" name="Table 3"/>
          <p:cNvGraphicFramePr>
            <a:graphicFrameLocks noGrp="1"/>
          </p:cNvGraphicFramePr>
          <p:nvPr>
            <p:extLst>
              <p:ext uri="{D42A27DB-BD31-4B8C-83A1-F6EECF244321}">
                <p14:modId xmlns:p14="http://schemas.microsoft.com/office/powerpoint/2010/main" val="2482439917"/>
              </p:ext>
            </p:extLst>
          </p:nvPr>
        </p:nvGraphicFramePr>
        <p:xfrm>
          <a:off x="771674" y="1136910"/>
          <a:ext cx="11317562" cy="5918236"/>
        </p:xfrm>
        <a:graphic>
          <a:graphicData uri="http://schemas.openxmlformats.org/drawingml/2006/table">
            <a:tbl>
              <a:tblPr firstRow="1" bandRow="1">
                <a:tableStyleId>{5C22544A-7EE6-4342-B048-85BDC9FD1C3A}</a:tableStyleId>
              </a:tblPr>
              <a:tblGrid>
                <a:gridCol w="2206303">
                  <a:extLst>
                    <a:ext uri="{9D8B030D-6E8A-4147-A177-3AD203B41FA5}">
                      <a16:colId xmlns:a16="http://schemas.microsoft.com/office/drawing/2014/main" val="20000"/>
                    </a:ext>
                  </a:extLst>
                </a:gridCol>
                <a:gridCol w="4449384">
                  <a:extLst>
                    <a:ext uri="{9D8B030D-6E8A-4147-A177-3AD203B41FA5}">
                      <a16:colId xmlns:a16="http://schemas.microsoft.com/office/drawing/2014/main" val="20001"/>
                    </a:ext>
                  </a:extLst>
                </a:gridCol>
                <a:gridCol w="4661875">
                  <a:extLst>
                    <a:ext uri="{9D8B030D-6E8A-4147-A177-3AD203B41FA5}">
                      <a16:colId xmlns:a16="http://schemas.microsoft.com/office/drawing/2014/main" val="20002"/>
                    </a:ext>
                  </a:extLst>
                </a:gridCol>
              </a:tblGrid>
              <a:tr h="845462">
                <a:tc>
                  <a:txBody>
                    <a:bodyPr/>
                    <a:lstStyle/>
                    <a:p>
                      <a:pPr>
                        <a:defRPr sz="1200" b="1">
                          <a:solidFill>
                            <a:srgbClr val="FFFFFF"/>
                          </a:solidFill>
                          <a:latin typeface="Calibri"/>
                        </a:defRPr>
                      </a:pPr>
                      <a:r>
                        <a:rPr sz="1800"/>
                        <a:t>Evaluation Parameter</a:t>
                      </a:r>
                    </a:p>
                  </a:txBody>
                  <a:tcPr anchor="ctr">
                    <a:solidFill>
                      <a:srgbClr val="0F1F38"/>
                    </a:solidFill>
                  </a:tcPr>
                </a:tc>
                <a:tc>
                  <a:txBody>
                    <a:bodyPr/>
                    <a:lstStyle/>
                    <a:p>
                      <a:pPr>
                        <a:defRPr sz="1200" b="1">
                          <a:solidFill>
                            <a:srgbClr val="FFFFFF"/>
                          </a:solidFill>
                          <a:latin typeface="Calibri"/>
                        </a:defRPr>
                      </a:pPr>
                      <a:r>
                        <a:rPr sz="1800"/>
                        <a:t>Existing Manual / Legacy System</a:t>
                      </a:r>
                    </a:p>
                  </a:txBody>
                  <a:tcPr anchor="ctr">
                    <a:solidFill>
                      <a:srgbClr val="0F1F38"/>
                    </a:solidFill>
                  </a:tcPr>
                </a:tc>
                <a:tc>
                  <a:txBody>
                    <a:bodyPr/>
                    <a:lstStyle/>
                    <a:p>
                      <a:pPr>
                        <a:defRPr sz="1200" b="1">
                          <a:solidFill>
                            <a:srgbClr val="FFFFFF"/>
                          </a:solidFill>
                          <a:latin typeface="Calibri"/>
                        </a:defRPr>
                      </a:pPr>
                      <a:r>
                        <a:rPr sz="1800"/>
                        <a:t>Proposed NK Automobiles System</a:t>
                      </a:r>
                    </a:p>
                  </a:txBody>
                  <a:tcPr anchor="ctr">
                    <a:solidFill>
                      <a:srgbClr val="0F1F38"/>
                    </a:solidFill>
                  </a:tcPr>
                </a:tc>
                <a:extLst>
                  <a:ext uri="{0D108BD9-81ED-4DB2-BD59-A6C34878D82A}">
                    <a16:rowId xmlns:a16="http://schemas.microsoft.com/office/drawing/2014/main" val="10000"/>
                  </a:ext>
                </a:extLst>
              </a:tr>
              <a:tr h="845462">
                <a:tc>
                  <a:txBody>
                    <a:bodyPr/>
                    <a:lstStyle/>
                    <a:p>
                      <a:pPr>
                        <a:defRPr sz="1000" b="1">
                          <a:solidFill>
                            <a:srgbClr val="1E3A5F"/>
                          </a:solidFill>
                          <a:latin typeface="Calibri"/>
                        </a:defRPr>
                      </a:pPr>
                      <a:r>
                        <a:rPr sz="1800" dirty="0"/>
                        <a:t>Inventory Tracking</a:t>
                      </a:r>
                    </a:p>
                  </a:txBody>
                  <a:tcPr anchor="ctr">
                    <a:solidFill>
                      <a:srgbClr val="FFFFFF"/>
                    </a:solidFill>
                  </a:tcPr>
                </a:tc>
                <a:tc>
                  <a:txBody>
                    <a:bodyPr/>
                    <a:lstStyle/>
                    <a:p>
                      <a:pPr>
                        <a:defRPr sz="1000">
                          <a:solidFill>
                            <a:srgbClr val="1E293B"/>
                          </a:solidFill>
                          <a:latin typeface="Calibri"/>
                        </a:defRPr>
                      </a:pPr>
                      <a:r>
                        <a:rPr sz="1800" dirty="0"/>
                        <a:t>Physical stock registers or static Excel sheets; stock levels frequently out of sync.</a:t>
                      </a:r>
                    </a:p>
                  </a:txBody>
                  <a:tcPr anchor="ctr">
                    <a:solidFill>
                      <a:srgbClr val="FFFFFF"/>
                    </a:solidFill>
                  </a:tcPr>
                </a:tc>
                <a:tc>
                  <a:txBody>
                    <a:bodyPr/>
                    <a:lstStyle/>
                    <a:p>
                      <a:pPr>
                        <a:defRPr sz="1000">
                          <a:solidFill>
                            <a:srgbClr val="0F5F3C"/>
                          </a:solidFill>
                          <a:latin typeface="Calibri"/>
                        </a:defRPr>
                      </a:pPr>
                      <a:r>
                        <a:rPr sz="1800"/>
                        <a:t>Centralized MySQL 8.0 database; automated atomic stock deduction upon order completion.</a:t>
                      </a:r>
                    </a:p>
                  </a:txBody>
                  <a:tcPr anchor="ctr">
                    <a:solidFill>
                      <a:srgbClr val="FFFFFF"/>
                    </a:solidFill>
                  </a:tcPr>
                </a:tc>
                <a:extLst>
                  <a:ext uri="{0D108BD9-81ED-4DB2-BD59-A6C34878D82A}">
                    <a16:rowId xmlns:a16="http://schemas.microsoft.com/office/drawing/2014/main" val="10001"/>
                  </a:ext>
                </a:extLst>
              </a:tr>
              <a:tr h="845462">
                <a:tc>
                  <a:txBody>
                    <a:bodyPr/>
                    <a:lstStyle/>
                    <a:p>
                      <a:pPr>
                        <a:defRPr sz="1000" b="1">
                          <a:solidFill>
                            <a:srgbClr val="1E3A5F"/>
                          </a:solidFill>
                          <a:latin typeface="Calibri"/>
                        </a:defRPr>
                      </a:pPr>
                      <a:r>
                        <a:rPr sz="1800"/>
                        <a:t>Part Compatibility</a:t>
                      </a:r>
                    </a:p>
                  </a:txBody>
                  <a:tcPr anchor="ctr">
                    <a:solidFill>
                      <a:srgbClr val="F8FAFC"/>
                    </a:solidFill>
                  </a:tcPr>
                </a:tc>
                <a:tc>
                  <a:txBody>
                    <a:bodyPr/>
                    <a:lstStyle/>
                    <a:p>
                      <a:pPr>
                        <a:defRPr sz="1000">
                          <a:solidFill>
                            <a:srgbClr val="1E293B"/>
                          </a:solidFill>
                          <a:latin typeface="Calibri"/>
                        </a:defRPr>
                      </a:pPr>
                      <a:r>
                        <a:rPr sz="1800" dirty="0"/>
                        <a:t>Relies entirely on counter staff memory; high rate of wrong part sales.</a:t>
                      </a:r>
                    </a:p>
                  </a:txBody>
                  <a:tcPr anchor="ctr">
                    <a:solidFill>
                      <a:srgbClr val="F8FAFC"/>
                    </a:solidFill>
                  </a:tcPr>
                </a:tc>
                <a:tc>
                  <a:txBody>
                    <a:bodyPr/>
                    <a:lstStyle/>
                    <a:p>
                      <a:pPr>
                        <a:defRPr sz="1000">
                          <a:solidFill>
                            <a:srgbClr val="0F5F3C"/>
                          </a:solidFill>
                          <a:latin typeface="Calibri"/>
                        </a:defRPr>
                      </a:pPr>
                      <a:r>
                        <a:rPr sz="1800" dirty="0"/>
                        <a:t>Engineered Two-Wheeler Compatibility Engine with 1,655+ rules and live bike search.</a:t>
                      </a:r>
                    </a:p>
                  </a:txBody>
                  <a:tcPr anchor="ctr">
                    <a:solidFill>
                      <a:srgbClr val="F8FAFC"/>
                    </a:solidFill>
                  </a:tcPr>
                </a:tc>
                <a:extLst>
                  <a:ext uri="{0D108BD9-81ED-4DB2-BD59-A6C34878D82A}">
                    <a16:rowId xmlns:a16="http://schemas.microsoft.com/office/drawing/2014/main" val="10002"/>
                  </a:ext>
                </a:extLst>
              </a:tr>
              <a:tr h="845462">
                <a:tc>
                  <a:txBody>
                    <a:bodyPr/>
                    <a:lstStyle/>
                    <a:p>
                      <a:pPr>
                        <a:defRPr sz="1000" b="1">
                          <a:solidFill>
                            <a:srgbClr val="1E3A5F"/>
                          </a:solidFill>
                          <a:latin typeface="Calibri"/>
                        </a:defRPr>
                      </a:pPr>
                      <a:r>
                        <a:rPr sz="1800" dirty="0"/>
                        <a:t>Customer Access</a:t>
                      </a:r>
                    </a:p>
                  </a:txBody>
                  <a:tcPr anchor="ctr">
                    <a:solidFill>
                      <a:srgbClr val="FFFFFF"/>
                    </a:solidFill>
                  </a:tcPr>
                </a:tc>
                <a:tc>
                  <a:txBody>
                    <a:bodyPr/>
                    <a:lstStyle/>
                    <a:p>
                      <a:pPr>
                        <a:defRPr sz="1000">
                          <a:solidFill>
                            <a:srgbClr val="1E293B"/>
                          </a:solidFill>
                          <a:latin typeface="Calibri"/>
                        </a:defRPr>
                      </a:pPr>
                      <a:r>
                        <a:rPr sz="1800" dirty="0"/>
                        <a:t>Restricted to physical storefront counter during working business hours.</a:t>
                      </a:r>
                    </a:p>
                  </a:txBody>
                  <a:tcPr anchor="ctr">
                    <a:solidFill>
                      <a:srgbClr val="FFFFFF"/>
                    </a:solidFill>
                  </a:tcPr>
                </a:tc>
                <a:tc>
                  <a:txBody>
                    <a:bodyPr/>
                    <a:lstStyle/>
                    <a:p>
                      <a:pPr>
                        <a:defRPr sz="1000">
                          <a:solidFill>
                            <a:srgbClr val="0F5F3C"/>
                          </a:solidFill>
                          <a:latin typeface="Calibri"/>
                        </a:defRPr>
                      </a:pPr>
                      <a:r>
                        <a:rPr sz="1800"/>
                        <a:t>24/7 web access across smartphones and desktop devices with responsive UI.</a:t>
                      </a:r>
                    </a:p>
                  </a:txBody>
                  <a:tcPr anchor="ctr">
                    <a:solidFill>
                      <a:srgbClr val="FFFFFF"/>
                    </a:solidFill>
                  </a:tcPr>
                </a:tc>
                <a:extLst>
                  <a:ext uri="{0D108BD9-81ED-4DB2-BD59-A6C34878D82A}">
                    <a16:rowId xmlns:a16="http://schemas.microsoft.com/office/drawing/2014/main" val="10003"/>
                  </a:ext>
                </a:extLst>
              </a:tr>
              <a:tr h="845462">
                <a:tc>
                  <a:txBody>
                    <a:bodyPr/>
                    <a:lstStyle/>
                    <a:p>
                      <a:pPr>
                        <a:defRPr sz="1000" b="1">
                          <a:solidFill>
                            <a:srgbClr val="1E3A5F"/>
                          </a:solidFill>
                          <a:latin typeface="Calibri"/>
                        </a:defRPr>
                      </a:pPr>
                      <a:r>
                        <a:rPr sz="1800"/>
                        <a:t>Checkout &amp; Ordering</a:t>
                      </a:r>
                    </a:p>
                  </a:txBody>
                  <a:tcPr anchor="ctr">
                    <a:solidFill>
                      <a:srgbClr val="F8FAFC"/>
                    </a:solidFill>
                  </a:tcPr>
                </a:tc>
                <a:tc>
                  <a:txBody>
                    <a:bodyPr/>
                    <a:lstStyle/>
                    <a:p>
                      <a:pPr>
                        <a:defRPr sz="1000">
                          <a:solidFill>
                            <a:srgbClr val="1E293B"/>
                          </a:solidFill>
                          <a:latin typeface="Calibri"/>
                        </a:defRPr>
                      </a:pPr>
                      <a:r>
                        <a:rPr sz="1800"/>
                        <a:t>Handwritten bill slips; mandatory queue; no digital order record.</a:t>
                      </a:r>
                    </a:p>
                  </a:txBody>
                  <a:tcPr anchor="ctr">
                    <a:solidFill>
                      <a:srgbClr val="F8FAFC"/>
                    </a:solidFill>
                  </a:tcPr>
                </a:tc>
                <a:tc>
                  <a:txBody>
                    <a:bodyPr/>
                    <a:lstStyle/>
                    <a:p>
                      <a:pPr>
                        <a:defRPr sz="1000">
                          <a:solidFill>
                            <a:srgbClr val="0F5F3C"/>
                          </a:solidFill>
                          <a:latin typeface="Calibri"/>
                        </a:defRPr>
                      </a:pPr>
                      <a:r>
                        <a:rPr sz="1800"/>
                        <a:t>Frictionless Guest Checkout and authenticated portal with order tracking.</a:t>
                      </a:r>
                    </a:p>
                  </a:txBody>
                  <a:tcPr anchor="ctr">
                    <a:solidFill>
                      <a:srgbClr val="F8FAFC"/>
                    </a:solidFill>
                  </a:tcPr>
                </a:tc>
                <a:extLst>
                  <a:ext uri="{0D108BD9-81ED-4DB2-BD59-A6C34878D82A}">
                    <a16:rowId xmlns:a16="http://schemas.microsoft.com/office/drawing/2014/main" val="10004"/>
                  </a:ext>
                </a:extLst>
              </a:tr>
              <a:tr h="845462">
                <a:tc>
                  <a:txBody>
                    <a:bodyPr/>
                    <a:lstStyle/>
                    <a:p>
                      <a:pPr>
                        <a:defRPr sz="1000" b="1">
                          <a:solidFill>
                            <a:srgbClr val="1E3A5F"/>
                          </a:solidFill>
                          <a:latin typeface="Calibri"/>
                        </a:defRPr>
                      </a:pPr>
                      <a:r>
                        <a:rPr sz="1800"/>
                        <a:t>Payment Reconciliation</a:t>
                      </a:r>
                    </a:p>
                  </a:txBody>
                  <a:tcPr anchor="ctr">
                    <a:solidFill>
                      <a:srgbClr val="FFFFFF"/>
                    </a:solidFill>
                  </a:tcPr>
                </a:tc>
                <a:tc>
                  <a:txBody>
                    <a:bodyPr/>
                    <a:lstStyle/>
                    <a:p>
                      <a:pPr>
                        <a:defRPr sz="1000">
                          <a:solidFill>
                            <a:srgbClr val="1E293B"/>
                          </a:solidFill>
                          <a:latin typeface="Calibri"/>
                        </a:defRPr>
                      </a:pPr>
                      <a:r>
                        <a:rPr sz="1800"/>
                        <a:t>Loose cash handling or unverified manual UPI screenshots.</a:t>
                      </a:r>
                    </a:p>
                  </a:txBody>
                  <a:tcPr anchor="ctr">
                    <a:solidFill>
                      <a:srgbClr val="FFFFFF"/>
                    </a:solidFill>
                  </a:tcPr>
                </a:tc>
                <a:tc>
                  <a:txBody>
                    <a:bodyPr/>
                    <a:lstStyle/>
                    <a:p>
                      <a:pPr>
                        <a:defRPr sz="1000">
                          <a:solidFill>
                            <a:srgbClr val="0F5F3C"/>
                          </a:solidFill>
                          <a:latin typeface="Calibri"/>
                        </a:defRPr>
                      </a:pPr>
                      <a:r>
                        <a:rPr sz="1800"/>
                        <a:t>Order-tagged dynamic UPI QR codes with UTR reference validation.</a:t>
                      </a:r>
                    </a:p>
                  </a:txBody>
                  <a:tcPr anchor="ctr">
                    <a:solidFill>
                      <a:srgbClr val="FFFFFF"/>
                    </a:solidFill>
                  </a:tcPr>
                </a:tc>
                <a:extLst>
                  <a:ext uri="{0D108BD9-81ED-4DB2-BD59-A6C34878D82A}">
                    <a16:rowId xmlns:a16="http://schemas.microsoft.com/office/drawing/2014/main" val="10005"/>
                  </a:ext>
                </a:extLst>
              </a:tr>
              <a:tr h="845464">
                <a:tc>
                  <a:txBody>
                    <a:bodyPr/>
                    <a:lstStyle/>
                    <a:p>
                      <a:pPr>
                        <a:defRPr sz="1000" b="1">
                          <a:solidFill>
                            <a:srgbClr val="1E3A5F"/>
                          </a:solidFill>
                          <a:latin typeface="Calibri"/>
                        </a:defRPr>
                      </a:pPr>
                      <a:r>
                        <a:rPr sz="1800"/>
                        <a:t>Security &amp; Auditing</a:t>
                      </a:r>
                    </a:p>
                  </a:txBody>
                  <a:tcPr anchor="ctr">
                    <a:solidFill>
                      <a:srgbClr val="F8FAFC"/>
                    </a:solidFill>
                  </a:tcPr>
                </a:tc>
                <a:tc>
                  <a:txBody>
                    <a:bodyPr/>
                    <a:lstStyle/>
                    <a:p>
                      <a:pPr>
                        <a:defRPr sz="1000">
                          <a:solidFill>
                            <a:srgbClr val="1E293B"/>
                          </a:solidFill>
                          <a:latin typeface="Calibri"/>
                        </a:defRPr>
                      </a:pPr>
                      <a:r>
                        <a:rPr sz="1800" dirty="0"/>
                        <a:t>Zero access control; registers vulnerable to physical loss or tampering.</a:t>
                      </a:r>
                    </a:p>
                  </a:txBody>
                  <a:tcPr anchor="ctr">
                    <a:solidFill>
                      <a:srgbClr val="F8FAFC"/>
                    </a:solidFill>
                  </a:tcPr>
                </a:tc>
                <a:tc>
                  <a:txBody>
                    <a:bodyPr/>
                    <a:lstStyle/>
                    <a:p>
                      <a:pPr>
                        <a:defRPr sz="1000">
                          <a:solidFill>
                            <a:srgbClr val="0F5F3C"/>
                          </a:solidFill>
                          <a:latin typeface="Calibri"/>
                        </a:defRPr>
                      </a:pPr>
                      <a:r>
                        <a:rPr sz="1800" dirty="0" err="1"/>
                        <a:t>Bcrypt</a:t>
                      </a:r>
                      <a:r>
                        <a:rPr sz="1800" dirty="0"/>
                        <a:t>/</a:t>
                      </a:r>
                      <a:r>
                        <a:rPr sz="1800" dirty="0" err="1"/>
                        <a:t>Werkzeug</a:t>
                      </a:r>
                      <a:r>
                        <a:rPr sz="1800" dirty="0"/>
                        <a:t> password hashing, session RBAC, and dedicated </a:t>
                      </a:r>
                      <a:r>
                        <a:rPr sz="1800" dirty="0" err="1"/>
                        <a:t>system_logs</a:t>
                      </a:r>
                      <a:r>
                        <a:rPr sz="1800" dirty="0"/>
                        <a:t>.</a:t>
                      </a:r>
                    </a:p>
                  </a:txBody>
                  <a:tcPr anchor="ctr">
                    <a:solidFill>
                      <a:srgbClr val="F8FA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13716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6261" y="29403"/>
            <a:ext cx="10698480" cy="502702"/>
          </a:xfrm>
          <a:prstGeom prst="rect">
            <a:avLst/>
          </a:prstGeom>
          <a:noFill/>
        </p:spPr>
        <p:txBody>
          <a:bodyPr wrap="square" lIns="0" tIns="0" rIns="0" bIns="0">
            <a:spAutoFit/>
          </a:bodyPr>
          <a:lstStyle/>
          <a:p>
            <a:pPr>
              <a:defRPr sz="1000" b="1">
                <a:solidFill>
                  <a:srgbClr val="D32F2F"/>
                </a:solidFill>
                <a:latin typeface="Calibri"/>
              </a:defRPr>
            </a:pPr>
            <a:r>
              <a:rPr dirty="0"/>
              <a:t>SYSTEM IMPLEMENTATION</a:t>
            </a:r>
          </a:p>
          <a:p>
            <a:pPr algn="ctr">
              <a:spcBef>
                <a:spcPts val="200"/>
              </a:spcBef>
              <a:defRPr sz="2100" b="1">
                <a:solidFill>
                  <a:srgbClr val="0F1F38"/>
                </a:solidFill>
                <a:latin typeface="Calibri"/>
              </a:defRPr>
            </a:pPr>
            <a:r>
              <a:rPr dirty="0">
                <a:solidFill>
                  <a:schemeClr val="accent6">
                    <a:lumMod val="50000"/>
                  </a:schemeClr>
                </a:solidFill>
              </a:rPr>
              <a:t>Technology Stack &amp; Development Environment</a:t>
            </a:r>
          </a:p>
        </p:txBody>
      </p:sp>
      <p:sp>
        <p:nvSpPr>
          <p:cNvPr id="4" name="Rounded Rectangle 3"/>
          <p:cNvSpPr/>
          <p:nvPr/>
        </p:nvSpPr>
        <p:spPr>
          <a:xfrm>
            <a:off x="499262" y="629174"/>
            <a:ext cx="5212080" cy="2936986"/>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48486" y="713626"/>
            <a:ext cx="4754880" cy="246221"/>
          </a:xfrm>
          <a:prstGeom prst="rect">
            <a:avLst/>
          </a:prstGeom>
          <a:noFill/>
        </p:spPr>
        <p:txBody>
          <a:bodyPr wrap="square" lIns="0" tIns="0" rIns="0" bIns="0">
            <a:spAutoFit/>
          </a:bodyPr>
          <a:lstStyle/>
          <a:p>
            <a:pPr>
              <a:defRPr sz="1300" b="1">
                <a:solidFill>
                  <a:srgbClr val="0F1F38"/>
                </a:solidFill>
                <a:latin typeface="Calibri"/>
              </a:defRPr>
            </a:pPr>
            <a:r>
              <a:rPr sz="1600" dirty="0"/>
              <a:t>Backend Technologies</a:t>
            </a:r>
          </a:p>
        </p:txBody>
      </p:sp>
      <p:sp>
        <p:nvSpPr>
          <p:cNvPr id="6" name="TextBox 5"/>
          <p:cNvSpPr txBox="1"/>
          <p:nvPr/>
        </p:nvSpPr>
        <p:spPr>
          <a:xfrm>
            <a:off x="731520" y="1019470"/>
            <a:ext cx="4754880" cy="2205732"/>
          </a:xfrm>
          <a:prstGeom prst="rect">
            <a:avLst/>
          </a:prstGeom>
          <a:noFill/>
        </p:spPr>
        <p:txBody>
          <a:bodyPr wrap="square" lIns="0" tIns="0" rIns="0" bIns="0">
            <a:spAutoFit/>
          </a:bodyPr>
          <a:lstStyle/>
          <a:p>
            <a:pPr>
              <a:defRPr sz="1050">
                <a:latin typeface="Calibri"/>
              </a:defRPr>
            </a:pPr>
            <a:r>
              <a:rPr sz="1500" b="1" dirty="0">
                <a:solidFill>
                  <a:srgbClr val="1E3A5F"/>
                </a:solidFill>
              </a:rPr>
              <a:t>• Language: </a:t>
            </a:r>
            <a:r>
              <a:rPr sz="1500" b="0" dirty="0">
                <a:solidFill>
                  <a:srgbClr val="1E293B"/>
                </a:solidFill>
              </a:rPr>
              <a:t>Python 3.12+ (Robust, efficient, highly readable)</a:t>
            </a:r>
          </a:p>
          <a:p>
            <a:pPr>
              <a:spcBef>
                <a:spcPts val="700"/>
              </a:spcBef>
              <a:defRPr sz="1050">
                <a:latin typeface="Calibri"/>
              </a:defRPr>
            </a:pPr>
            <a:r>
              <a:rPr sz="1500" b="1" dirty="0">
                <a:solidFill>
                  <a:srgbClr val="1E3A5F"/>
                </a:solidFill>
              </a:rPr>
              <a:t>• Framework: </a:t>
            </a:r>
            <a:r>
              <a:rPr sz="1500" b="0" dirty="0">
                <a:solidFill>
                  <a:srgbClr val="1E293B"/>
                </a:solidFill>
              </a:rPr>
              <a:t>Flask (Lightweight, modular WSGI web framework)</a:t>
            </a:r>
          </a:p>
          <a:p>
            <a:pPr>
              <a:spcBef>
                <a:spcPts val="700"/>
              </a:spcBef>
              <a:defRPr sz="1050">
                <a:latin typeface="Calibri"/>
              </a:defRPr>
            </a:pPr>
            <a:r>
              <a:rPr sz="1500" b="1" dirty="0">
                <a:solidFill>
                  <a:srgbClr val="1E3A5F"/>
                </a:solidFill>
              </a:rPr>
              <a:t>• Security Engine: </a:t>
            </a:r>
            <a:r>
              <a:rPr sz="1500" b="0" dirty="0">
                <a:solidFill>
                  <a:srgbClr val="1E293B"/>
                </a:solidFill>
              </a:rPr>
              <a:t>Werk</a:t>
            </a:r>
            <a:r>
              <a:rPr lang="en-US" sz="1500" b="0" dirty="0">
                <a:solidFill>
                  <a:srgbClr val="1E293B"/>
                </a:solidFill>
              </a:rPr>
              <a:t> </a:t>
            </a:r>
            <a:r>
              <a:rPr sz="1500" b="0" dirty="0" err="1">
                <a:solidFill>
                  <a:srgbClr val="1E293B"/>
                </a:solidFill>
              </a:rPr>
              <a:t>zeug</a:t>
            </a:r>
            <a:r>
              <a:rPr sz="1500" b="0" dirty="0">
                <a:solidFill>
                  <a:srgbClr val="1E293B"/>
                </a:solidFill>
              </a:rPr>
              <a:t> Security (SHA-256 / PBKDF2 password hashing)</a:t>
            </a:r>
          </a:p>
          <a:p>
            <a:pPr>
              <a:spcBef>
                <a:spcPts val="700"/>
              </a:spcBef>
              <a:defRPr sz="1050">
                <a:latin typeface="Calibri"/>
              </a:defRPr>
            </a:pPr>
            <a:r>
              <a:rPr sz="1500" b="1" dirty="0">
                <a:solidFill>
                  <a:srgbClr val="1E3A5F"/>
                </a:solidFill>
              </a:rPr>
              <a:t>• Architecture: </a:t>
            </a:r>
            <a:r>
              <a:rPr sz="1500" b="0" dirty="0">
                <a:solidFill>
                  <a:srgbClr val="1E293B"/>
                </a:solidFill>
              </a:rPr>
              <a:t>Model-View-Controller (MVC) server pattern</a:t>
            </a:r>
          </a:p>
          <a:p>
            <a:pPr>
              <a:spcBef>
                <a:spcPts val="700"/>
              </a:spcBef>
              <a:defRPr sz="1050">
                <a:latin typeface="Calibri"/>
              </a:defRPr>
            </a:pPr>
            <a:r>
              <a:rPr sz="1500" b="1" dirty="0">
                <a:solidFill>
                  <a:srgbClr val="1E3A5F"/>
                </a:solidFill>
              </a:rPr>
              <a:t>• Session Management: </a:t>
            </a:r>
            <a:r>
              <a:rPr sz="1500" b="0" dirty="0">
                <a:solidFill>
                  <a:srgbClr val="1E293B"/>
                </a:solidFill>
              </a:rPr>
              <a:t>Flask Client-side cryptographically signed sessions</a:t>
            </a:r>
          </a:p>
        </p:txBody>
      </p:sp>
      <p:sp>
        <p:nvSpPr>
          <p:cNvPr id="7" name="Rounded Rectangle 6"/>
          <p:cNvSpPr/>
          <p:nvPr/>
        </p:nvSpPr>
        <p:spPr>
          <a:xfrm>
            <a:off x="6099660" y="690098"/>
            <a:ext cx="5212080" cy="2864475"/>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0" y="727380"/>
            <a:ext cx="4754880" cy="246221"/>
          </a:xfrm>
          <a:prstGeom prst="rect">
            <a:avLst/>
          </a:prstGeom>
          <a:noFill/>
        </p:spPr>
        <p:txBody>
          <a:bodyPr wrap="square" lIns="0" tIns="0" rIns="0" bIns="0">
            <a:spAutoFit/>
          </a:bodyPr>
          <a:lstStyle/>
          <a:p>
            <a:pPr algn="ctr">
              <a:defRPr sz="1300" b="1">
                <a:solidFill>
                  <a:srgbClr val="0F1F38"/>
                </a:solidFill>
                <a:latin typeface="Calibri"/>
              </a:defRPr>
            </a:pPr>
            <a:r>
              <a:rPr sz="1600" dirty="0"/>
              <a:t>Database Tier</a:t>
            </a:r>
          </a:p>
        </p:txBody>
      </p:sp>
      <p:sp>
        <p:nvSpPr>
          <p:cNvPr id="9" name="TextBox 8"/>
          <p:cNvSpPr txBox="1"/>
          <p:nvPr/>
        </p:nvSpPr>
        <p:spPr>
          <a:xfrm>
            <a:off x="6446520" y="1045805"/>
            <a:ext cx="4754880" cy="2436564"/>
          </a:xfrm>
          <a:prstGeom prst="rect">
            <a:avLst/>
          </a:prstGeom>
          <a:noFill/>
        </p:spPr>
        <p:txBody>
          <a:bodyPr wrap="square" lIns="0" tIns="0" rIns="0" bIns="0">
            <a:spAutoFit/>
          </a:bodyPr>
          <a:lstStyle/>
          <a:p>
            <a:pPr>
              <a:defRPr sz="1050">
                <a:latin typeface="Calibri"/>
              </a:defRPr>
            </a:pPr>
            <a:r>
              <a:rPr sz="1500" b="1" dirty="0">
                <a:solidFill>
                  <a:srgbClr val="1E3A5F"/>
                </a:solidFill>
              </a:rPr>
              <a:t>• RDBMS Engine: </a:t>
            </a:r>
            <a:r>
              <a:rPr sz="1500" b="0" dirty="0">
                <a:solidFill>
                  <a:srgbClr val="1E293B"/>
                </a:solidFill>
              </a:rPr>
              <a:t>MySQL 8.0 Community Server</a:t>
            </a:r>
          </a:p>
          <a:p>
            <a:pPr>
              <a:spcBef>
                <a:spcPts val="700"/>
              </a:spcBef>
              <a:defRPr sz="1050">
                <a:latin typeface="Calibri"/>
              </a:defRPr>
            </a:pPr>
            <a:r>
              <a:rPr sz="1500" b="1" dirty="0">
                <a:solidFill>
                  <a:srgbClr val="1E3A5F"/>
                </a:solidFill>
              </a:rPr>
              <a:t>• Python Driver: </a:t>
            </a:r>
            <a:r>
              <a:rPr sz="1500" b="0" dirty="0" err="1">
                <a:solidFill>
                  <a:srgbClr val="1E293B"/>
                </a:solidFill>
              </a:rPr>
              <a:t>mysql</a:t>
            </a:r>
            <a:r>
              <a:rPr sz="1500" b="0" dirty="0">
                <a:solidFill>
                  <a:srgbClr val="1E293B"/>
                </a:solidFill>
              </a:rPr>
              <a:t>-connector-python (Official Oracle driver)</a:t>
            </a:r>
          </a:p>
          <a:p>
            <a:pPr>
              <a:spcBef>
                <a:spcPts val="700"/>
              </a:spcBef>
              <a:defRPr sz="1050">
                <a:latin typeface="Calibri"/>
              </a:defRPr>
            </a:pPr>
            <a:r>
              <a:rPr sz="1500" b="1" dirty="0">
                <a:solidFill>
                  <a:srgbClr val="1E3A5F"/>
                </a:solidFill>
              </a:rPr>
              <a:t>• Data Integrity: </a:t>
            </a:r>
            <a:r>
              <a:rPr sz="1500" b="0" dirty="0">
                <a:solidFill>
                  <a:srgbClr val="1E293B"/>
                </a:solidFill>
              </a:rPr>
              <a:t>ACID transactions with foreign key constraints</a:t>
            </a:r>
          </a:p>
          <a:p>
            <a:pPr>
              <a:spcBef>
                <a:spcPts val="700"/>
              </a:spcBef>
              <a:defRPr sz="1050">
                <a:latin typeface="Calibri"/>
              </a:defRPr>
            </a:pPr>
            <a:r>
              <a:rPr sz="1500" b="1" dirty="0">
                <a:solidFill>
                  <a:srgbClr val="1E3A5F"/>
                </a:solidFill>
              </a:rPr>
              <a:t>• Query Pattern: </a:t>
            </a:r>
            <a:r>
              <a:rPr sz="1500" b="0" dirty="0">
                <a:solidFill>
                  <a:srgbClr val="1E293B"/>
                </a:solidFill>
              </a:rPr>
              <a:t>Strictly Parameterized SQL queries (Zero SQL injection)</a:t>
            </a:r>
          </a:p>
          <a:p>
            <a:pPr>
              <a:spcBef>
                <a:spcPts val="700"/>
              </a:spcBef>
              <a:defRPr sz="1050">
                <a:latin typeface="Calibri"/>
              </a:defRPr>
            </a:pPr>
            <a:r>
              <a:rPr sz="1500" b="1" dirty="0">
                <a:solidFill>
                  <a:srgbClr val="1E3A5F"/>
                </a:solidFill>
              </a:rPr>
              <a:t>• Database Scale: </a:t>
            </a:r>
            <a:r>
              <a:rPr sz="1500" b="0" dirty="0">
                <a:solidFill>
                  <a:srgbClr val="1E293B"/>
                </a:solidFill>
              </a:rPr>
              <a:t>14 relational tables, 181 products, 1,655 mappings</a:t>
            </a:r>
          </a:p>
        </p:txBody>
      </p:sp>
      <p:sp>
        <p:nvSpPr>
          <p:cNvPr id="10" name="Rounded Rectangle 9"/>
          <p:cNvSpPr/>
          <p:nvPr/>
        </p:nvSpPr>
        <p:spPr>
          <a:xfrm>
            <a:off x="556261" y="3821437"/>
            <a:ext cx="5212080" cy="312045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936853"/>
            <a:ext cx="4754880" cy="230832"/>
          </a:xfrm>
          <a:prstGeom prst="rect">
            <a:avLst/>
          </a:prstGeom>
          <a:noFill/>
        </p:spPr>
        <p:txBody>
          <a:bodyPr wrap="square" lIns="0" tIns="0" rIns="0" bIns="0">
            <a:spAutoFit/>
          </a:bodyPr>
          <a:lstStyle/>
          <a:p>
            <a:pPr algn="ctr">
              <a:defRPr sz="1300" b="1">
                <a:solidFill>
                  <a:srgbClr val="0F1F38"/>
                </a:solidFill>
                <a:latin typeface="Calibri"/>
              </a:defRPr>
            </a:pPr>
            <a:r>
              <a:rPr sz="1500" dirty="0"/>
              <a:t>Frontend &amp; User Interface</a:t>
            </a:r>
          </a:p>
        </p:txBody>
      </p:sp>
      <p:sp>
        <p:nvSpPr>
          <p:cNvPr id="12" name="TextBox 11"/>
          <p:cNvSpPr txBox="1"/>
          <p:nvPr/>
        </p:nvSpPr>
        <p:spPr>
          <a:xfrm>
            <a:off x="784861" y="4342732"/>
            <a:ext cx="4754880" cy="2436564"/>
          </a:xfrm>
          <a:prstGeom prst="rect">
            <a:avLst/>
          </a:prstGeom>
          <a:noFill/>
        </p:spPr>
        <p:txBody>
          <a:bodyPr wrap="square" lIns="0" tIns="0" rIns="0" bIns="0">
            <a:spAutoFit/>
          </a:bodyPr>
          <a:lstStyle/>
          <a:p>
            <a:pPr>
              <a:defRPr sz="1050">
                <a:latin typeface="Calibri"/>
              </a:defRPr>
            </a:pPr>
            <a:r>
              <a:rPr sz="1500" b="1" dirty="0">
                <a:solidFill>
                  <a:srgbClr val="1E3A5F"/>
                </a:solidFill>
              </a:rPr>
              <a:t>• Core Markup: </a:t>
            </a:r>
            <a:r>
              <a:rPr sz="1500" b="0" dirty="0">
                <a:solidFill>
                  <a:srgbClr val="1E293B"/>
                </a:solidFill>
              </a:rPr>
              <a:t>Semantic HTML5 with SEO meta tags</a:t>
            </a:r>
          </a:p>
          <a:p>
            <a:pPr>
              <a:spcBef>
                <a:spcPts val="700"/>
              </a:spcBef>
              <a:defRPr sz="1050">
                <a:latin typeface="Calibri"/>
              </a:defRPr>
            </a:pPr>
            <a:r>
              <a:rPr sz="1500" b="1" dirty="0">
                <a:solidFill>
                  <a:srgbClr val="1E3A5F"/>
                </a:solidFill>
              </a:rPr>
              <a:t>• Styling Framework: </a:t>
            </a:r>
            <a:r>
              <a:rPr sz="1500" b="0" dirty="0">
                <a:solidFill>
                  <a:srgbClr val="1E293B"/>
                </a:solidFill>
              </a:rPr>
              <a:t>Bootstrap 5.3 (Mobile-first responsive grid system)</a:t>
            </a:r>
          </a:p>
          <a:p>
            <a:pPr>
              <a:spcBef>
                <a:spcPts val="700"/>
              </a:spcBef>
              <a:defRPr sz="1050">
                <a:latin typeface="Calibri"/>
              </a:defRPr>
            </a:pPr>
            <a:r>
              <a:rPr sz="1500" b="1" dirty="0">
                <a:solidFill>
                  <a:srgbClr val="1E3A5F"/>
                </a:solidFill>
              </a:rPr>
              <a:t>• Client Scripting: </a:t>
            </a:r>
            <a:r>
              <a:rPr sz="1500" b="0" dirty="0">
                <a:solidFill>
                  <a:srgbClr val="1E293B"/>
                </a:solidFill>
              </a:rPr>
              <a:t>Vanilla JavaScript (ES6+) for DOM manipulation &amp; search</a:t>
            </a:r>
          </a:p>
          <a:p>
            <a:pPr>
              <a:spcBef>
                <a:spcPts val="700"/>
              </a:spcBef>
              <a:defRPr sz="1050">
                <a:latin typeface="Calibri"/>
              </a:defRPr>
            </a:pPr>
            <a:r>
              <a:rPr sz="1500" b="1" dirty="0">
                <a:solidFill>
                  <a:srgbClr val="1E3A5F"/>
                </a:solidFill>
              </a:rPr>
              <a:t>• Template Engine: </a:t>
            </a:r>
            <a:r>
              <a:rPr sz="1500" b="0" dirty="0">
                <a:solidFill>
                  <a:srgbClr val="1E293B"/>
                </a:solidFill>
              </a:rPr>
              <a:t>Jinja2 (Server-side dynamic template rendering)</a:t>
            </a:r>
          </a:p>
          <a:p>
            <a:pPr>
              <a:spcBef>
                <a:spcPts val="700"/>
              </a:spcBef>
              <a:defRPr sz="1050">
                <a:latin typeface="Calibri"/>
              </a:defRPr>
            </a:pPr>
            <a:r>
              <a:rPr sz="1500" b="1" dirty="0">
                <a:solidFill>
                  <a:srgbClr val="1E3A5F"/>
                </a:solidFill>
              </a:rPr>
              <a:t>• Icons &amp; Assets: </a:t>
            </a:r>
            <a:r>
              <a:rPr sz="1500" b="0" dirty="0" err="1">
                <a:solidFill>
                  <a:srgbClr val="1E293B"/>
                </a:solidFill>
              </a:rPr>
              <a:t>FontAwesome</a:t>
            </a:r>
            <a:r>
              <a:rPr sz="1500" b="0" dirty="0">
                <a:solidFill>
                  <a:srgbClr val="1E293B"/>
                </a:solidFill>
              </a:rPr>
              <a:t> 6.4 + High-res verified part photography</a:t>
            </a:r>
          </a:p>
        </p:txBody>
      </p:sp>
      <p:sp>
        <p:nvSpPr>
          <p:cNvPr id="13" name="Rounded Rectangle 12"/>
          <p:cNvSpPr/>
          <p:nvPr/>
        </p:nvSpPr>
        <p:spPr>
          <a:xfrm>
            <a:off x="6217920" y="3931919"/>
            <a:ext cx="5212080" cy="2896677"/>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096511"/>
            <a:ext cx="4754880" cy="246221"/>
          </a:xfrm>
          <a:prstGeom prst="rect">
            <a:avLst/>
          </a:prstGeom>
          <a:noFill/>
        </p:spPr>
        <p:txBody>
          <a:bodyPr wrap="square" lIns="0" tIns="0" rIns="0" bIns="0">
            <a:spAutoFit/>
          </a:bodyPr>
          <a:lstStyle/>
          <a:p>
            <a:pPr algn="ctr">
              <a:defRPr sz="1300" b="1">
                <a:solidFill>
                  <a:srgbClr val="0F1F38"/>
                </a:solidFill>
                <a:latin typeface="Calibri"/>
              </a:defRPr>
            </a:pPr>
            <a:r>
              <a:rPr sz="1600" dirty="0"/>
              <a:t>Tools &amp; Environment</a:t>
            </a:r>
          </a:p>
        </p:txBody>
      </p:sp>
      <p:sp>
        <p:nvSpPr>
          <p:cNvPr id="15" name="TextBox 14"/>
          <p:cNvSpPr txBox="1"/>
          <p:nvPr/>
        </p:nvSpPr>
        <p:spPr>
          <a:xfrm>
            <a:off x="6446520" y="4480559"/>
            <a:ext cx="4754880" cy="1974900"/>
          </a:xfrm>
          <a:prstGeom prst="rect">
            <a:avLst/>
          </a:prstGeom>
          <a:noFill/>
        </p:spPr>
        <p:txBody>
          <a:bodyPr wrap="square" lIns="0" tIns="0" rIns="0" bIns="0">
            <a:spAutoFit/>
          </a:bodyPr>
          <a:lstStyle/>
          <a:p>
            <a:pPr>
              <a:defRPr sz="1050">
                <a:latin typeface="Calibri"/>
              </a:defRPr>
            </a:pPr>
            <a:r>
              <a:rPr sz="1500" b="1" dirty="0">
                <a:solidFill>
                  <a:srgbClr val="1E3A5F"/>
                </a:solidFill>
              </a:rPr>
              <a:t>• IDE / Editor: </a:t>
            </a:r>
            <a:r>
              <a:rPr sz="1500" b="0" dirty="0">
                <a:solidFill>
                  <a:srgbClr val="1E293B"/>
                </a:solidFill>
              </a:rPr>
              <a:t>Visual Studio Code with Python &amp; SQL extensions</a:t>
            </a:r>
          </a:p>
          <a:p>
            <a:pPr>
              <a:spcBef>
                <a:spcPts val="700"/>
              </a:spcBef>
              <a:defRPr sz="1050">
                <a:latin typeface="Calibri"/>
              </a:defRPr>
            </a:pPr>
            <a:r>
              <a:rPr sz="1500" b="1" dirty="0">
                <a:solidFill>
                  <a:srgbClr val="1E3A5F"/>
                </a:solidFill>
              </a:rPr>
              <a:t>• Local Server: </a:t>
            </a:r>
            <a:r>
              <a:rPr sz="1500" b="0" dirty="0">
                <a:solidFill>
                  <a:srgbClr val="1E293B"/>
                </a:solidFill>
              </a:rPr>
              <a:t>XAMPP / MySQL Service on port 3306</a:t>
            </a:r>
          </a:p>
          <a:p>
            <a:pPr>
              <a:spcBef>
                <a:spcPts val="700"/>
              </a:spcBef>
              <a:defRPr sz="1050">
                <a:latin typeface="Calibri"/>
              </a:defRPr>
            </a:pPr>
            <a:r>
              <a:rPr sz="1500" b="1" dirty="0">
                <a:solidFill>
                  <a:srgbClr val="1E3A5F"/>
                </a:solidFill>
              </a:rPr>
              <a:t>• Version Control: </a:t>
            </a:r>
            <a:r>
              <a:rPr sz="1500" b="0" dirty="0">
                <a:solidFill>
                  <a:srgbClr val="1E293B"/>
                </a:solidFill>
              </a:rPr>
              <a:t>Git &amp; GitHub for source code management</a:t>
            </a:r>
          </a:p>
          <a:p>
            <a:pPr>
              <a:spcBef>
                <a:spcPts val="700"/>
              </a:spcBef>
              <a:defRPr sz="1050">
                <a:latin typeface="Calibri"/>
              </a:defRPr>
            </a:pPr>
            <a:r>
              <a:rPr sz="1500" b="1" dirty="0">
                <a:solidFill>
                  <a:srgbClr val="1E3A5F"/>
                </a:solidFill>
              </a:rPr>
              <a:t>• API Testing: </a:t>
            </a:r>
            <a:r>
              <a:rPr sz="1500" b="0" dirty="0">
                <a:solidFill>
                  <a:srgbClr val="1E293B"/>
                </a:solidFill>
              </a:rPr>
              <a:t>Postman &amp; Python </a:t>
            </a:r>
            <a:r>
              <a:rPr sz="1500" b="0" dirty="0" err="1">
                <a:solidFill>
                  <a:srgbClr val="1E293B"/>
                </a:solidFill>
              </a:rPr>
              <a:t>unittest</a:t>
            </a:r>
            <a:r>
              <a:rPr sz="1500" b="0" dirty="0">
                <a:solidFill>
                  <a:srgbClr val="1E293B"/>
                </a:solidFill>
              </a:rPr>
              <a:t> suite</a:t>
            </a:r>
          </a:p>
          <a:p>
            <a:pPr>
              <a:spcBef>
                <a:spcPts val="700"/>
              </a:spcBef>
              <a:defRPr sz="1050">
                <a:latin typeface="Calibri"/>
              </a:defRPr>
            </a:pPr>
            <a:r>
              <a:rPr sz="1500" b="1" dirty="0">
                <a:solidFill>
                  <a:srgbClr val="1E3A5F"/>
                </a:solidFill>
              </a:rPr>
              <a:t>• Image Processing: </a:t>
            </a:r>
            <a:r>
              <a:rPr sz="1500" b="0" dirty="0">
                <a:solidFill>
                  <a:srgbClr val="1E293B"/>
                </a:solidFill>
              </a:rPr>
              <a:t>Pillow (PIL) for image optimization &amp; verification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733534"/>
          </a:xfrm>
          <a:prstGeom prst="rect">
            <a:avLst/>
          </a:prstGeom>
          <a:noFill/>
        </p:spPr>
        <p:txBody>
          <a:bodyPr wrap="square" lIns="0" tIns="0" rIns="0" bIns="0">
            <a:spAutoFit/>
          </a:bodyPr>
          <a:lstStyle/>
          <a:p>
            <a:pPr>
              <a:defRPr sz="1000" b="1">
                <a:solidFill>
                  <a:srgbClr val="D32F2F"/>
                </a:solidFill>
                <a:latin typeface="Calibri"/>
              </a:defRPr>
            </a:pPr>
            <a:r>
              <a:rPr dirty="0"/>
              <a:t>SYSTEM DESIGN</a:t>
            </a:r>
          </a:p>
          <a:p>
            <a:pPr algn="ctr">
              <a:spcBef>
                <a:spcPts val="200"/>
              </a:spcBef>
              <a:defRPr sz="2100" b="1">
                <a:solidFill>
                  <a:srgbClr val="0F1F38"/>
                </a:solidFill>
                <a:latin typeface="Calibri"/>
              </a:defRPr>
            </a:pPr>
            <a:r>
              <a:rPr sz="3600" dirty="0">
                <a:solidFill>
                  <a:schemeClr val="accent6">
                    <a:lumMod val="50000"/>
                  </a:schemeClr>
                </a:solidFill>
              </a:rPr>
              <a:t>System Architecture: 3-Tier Web Architecture</a:t>
            </a:r>
          </a:p>
        </p:txBody>
      </p:sp>
      <p:sp>
        <p:nvSpPr>
          <p:cNvPr id="4" name="Rounded Rectangle 3"/>
          <p:cNvSpPr/>
          <p:nvPr/>
        </p:nvSpPr>
        <p:spPr>
          <a:xfrm>
            <a:off x="731519" y="1223959"/>
            <a:ext cx="10728655" cy="1537885"/>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8545" y="1418980"/>
            <a:ext cx="10271455" cy="200055"/>
          </a:xfrm>
          <a:prstGeom prst="rect">
            <a:avLst/>
          </a:prstGeom>
          <a:noFill/>
        </p:spPr>
        <p:txBody>
          <a:bodyPr wrap="square" lIns="0" tIns="0" rIns="0" bIns="0">
            <a:spAutoFit/>
          </a:bodyPr>
          <a:lstStyle/>
          <a:p>
            <a:pPr algn="ctr">
              <a:defRPr sz="1300" b="1">
                <a:solidFill>
                  <a:srgbClr val="0F1F38"/>
                </a:solidFill>
                <a:latin typeface="Calibri"/>
              </a:defRPr>
            </a:pPr>
            <a:r>
              <a:rPr dirty="0"/>
              <a:t>Tier 1: Presentation Layer (Client Tier)</a:t>
            </a:r>
          </a:p>
        </p:txBody>
      </p:sp>
      <p:sp>
        <p:nvSpPr>
          <p:cNvPr id="6" name="TextBox 5"/>
          <p:cNvSpPr txBox="1"/>
          <p:nvPr/>
        </p:nvSpPr>
        <p:spPr>
          <a:xfrm>
            <a:off x="990295" y="1806152"/>
            <a:ext cx="10241280" cy="825867"/>
          </a:xfrm>
          <a:prstGeom prst="rect">
            <a:avLst/>
          </a:prstGeom>
          <a:noFill/>
        </p:spPr>
        <p:txBody>
          <a:bodyPr wrap="square" lIns="0" tIns="0" rIns="0" bIns="0">
            <a:spAutoFit/>
          </a:bodyPr>
          <a:lstStyle/>
          <a:p>
            <a:pPr>
              <a:defRPr sz="1050">
                <a:latin typeface="Calibri"/>
              </a:defRPr>
            </a:pPr>
            <a:r>
              <a:rPr sz="1400" b="1" dirty="0">
                <a:solidFill>
                  <a:srgbClr val="1E3A5F"/>
                </a:solidFill>
              </a:rPr>
              <a:t>• User Devices: </a:t>
            </a:r>
            <a:r>
              <a:rPr sz="1400" b="0" dirty="0">
                <a:solidFill>
                  <a:srgbClr val="1E293B"/>
                </a:solidFill>
              </a:rPr>
              <a:t>Mobile Smartphones, Tablets, Desktop Web Browsers accessing HTTP/HTTPS endpoints.</a:t>
            </a:r>
          </a:p>
          <a:p>
            <a:pPr>
              <a:spcBef>
                <a:spcPts val="700"/>
              </a:spcBef>
              <a:defRPr sz="1050">
                <a:latin typeface="Calibri"/>
              </a:defRPr>
            </a:pPr>
            <a:r>
              <a:rPr sz="1400" b="1" dirty="0">
                <a:solidFill>
                  <a:srgbClr val="1E3A5F"/>
                </a:solidFill>
              </a:rPr>
              <a:t>• Frontend Technologies: </a:t>
            </a:r>
            <a:r>
              <a:rPr sz="1400" b="0" dirty="0">
                <a:solidFill>
                  <a:srgbClr val="1E293B"/>
                </a:solidFill>
              </a:rPr>
              <a:t>Bootstrap 5 Responsive Grid, HTML5 Semantic Layouts, CSS3 Transitions, </a:t>
            </a:r>
            <a:r>
              <a:rPr sz="1400" b="0" dirty="0" err="1">
                <a:solidFill>
                  <a:srgbClr val="1E293B"/>
                </a:solidFill>
              </a:rPr>
              <a:t>FontAwesome</a:t>
            </a:r>
            <a:r>
              <a:rPr sz="1400" b="0" dirty="0">
                <a:solidFill>
                  <a:srgbClr val="1E293B"/>
                </a:solidFill>
              </a:rPr>
              <a:t> Icons.</a:t>
            </a:r>
          </a:p>
          <a:p>
            <a:pPr>
              <a:spcBef>
                <a:spcPts val="700"/>
              </a:spcBef>
              <a:defRPr sz="1050">
                <a:latin typeface="Calibri"/>
              </a:defRPr>
            </a:pPr>
            <a:r>
              <a:rPr sz="1400" b="1" dirty="0">
                <a:solidFill>
                  <a:srgbClr val="1E3A5F"/>
                </a:solidFill>
              </a:rPr>
              <a:t>• Client-Side Logic: </a:t>
            </a:r>
            <a:r>
              <a:rPr sz="1400" b="0" dirty="0">
                <a:solidFill>
                  <a:srgbClr val="1E293B"/>
                </a:solidFill>
              </a:rPr>
              <a:t>JavaScript Event Listeners (Live vehicle search, cart item quantity adjuster, dynamic modal popups, form validation).</a:t>
            </a:r>
          </a:p>
        </p:txBody>
      </p:sp>
      <p:sp>
        <p:nvSpPr>
          <p:cNvPr id="7" name="Rounded Rectangle 6"/>
          <p:cNvSpPr/>
          <p:nvPr/>
        </p:nvSpPr>
        <p:spPr>
          <a:xfrm>
            <a:off x="731520" y="2971800"/>
            <a:ext cx="10728655" cy="1691640"/>
          </a:xfrm>
          <a:prstGeom prst="roundRect">
            <a:avLst/>
          </a:prstGeom>
          <a:solidFill>
            <a:srgbClr val="EEF2FF"/>
          </a:solidFill>
          <a:ln w="15240">
            <a:solidFill>
              <a:srgbClr val="187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3136392"/>
            <a:ext cx="10271455" cy="215444"/>
          </a:xfrm>
          <a:prstGeom prst="rect">
            <a:avLst/>
          </a:prstGeom>
          <a:noFill/>
        </p:spPr>
        <p:txBody>
          <a:bodyPr wrap="square" lIns="0" tIns="0" rIns="0" bIns="0">
            <a:spAutoFit/>
          </a:bodyPr>
          <a:lstStyle/>
          <a:p>
            <a:pPr algn="ctr">
              <a:defRPr sz="1300" b="1">
                <a:solidFill>
                  <a:srgbClr val="0F1F38"/>
                </a:solidFill>
                <a:latin typeface="Calibri"/>
              </a:defRPr>
            </a:pPr>
            <a:r>
              <a:rPr sz="1400" dirty="0"/>
              <a:t>Tier 2: Application &amp; Business Logic Layer (Python Flask Server)</a:t>
            </a:r>
          </a:p>
        </p:txBody>
      </p:sp>
      <p:sp>
        <p:nvSpPr>
          <p:cNvPr id="9" name="TextBox 8"/>
          <p:cNvSpPr txBox="1"/>
          <p:nvPr/>
        </p:nvSpPr>
        <p:spPr>
          <a:xfrm>
            <a:off x="960120" y="3474720"/>
            <a:ext cx="10241280" cy="1131079"/>
          </a:xfrm>
          <a:prstGeom prst="rect">
            <a:avLst/>
          </a:prstGeom>
          <a:noFill/>
        </p:spPr>
        <p:txBody>
          <a:bodyPr wrap="square" lIns="0" tIns="0" rIns="0" bIns="0">
            <a:spAutoFit/>
          </a:bodyPr>
          <a:lstStyle/>
          <a:p>
            <a:pPr>
              <a:defRPr sz="1050">
                <a:latin typeface="Calibri"/>
              </a:defRPr>
            </a:pPr>
            <a:r>
              <a:rPr sz="1400" b="1" dirty="0">
                <a:solidFill>
                  <a:srgbClr val="1E3A5F"/>
                </a:solidFill>
              </a:rPr>
              <a:t>• WSGI Controller (app.py): </a:t>
            </a:r>
            <a:r>
              <a:rPr sz="1400" b="0" dirty="0">
                <a:solidFill>
                  <a:srgbClr val="1E293B"/>
                </a:solidFill>
              </a:rPr>
              <a:t>Central routing engine managing 25+ endpoints (/products, /product/&lt;id&gt;, /checkout, /admin).</a:t>
            </a:r>
          </a:p>
          <a:p>
            <a:pPr>
              <a:spcBef>
                <a:spcPts val="700"/>
              </a:spcBef>
              <a:defRPr sz="1050">
                <a:latin typeface="Calibri"/>
              </a:defRPr>
            </a:pPr>
            <a:r>
              <a:rPr sz="1400" b="1" dirty="0">
                <a:solidFill>
                  <a:srgbClr val="1E3A5F"/>
                </a:solidFill>
              </a:rPr>
              <a:t>• Authentication &amp; Security: </a:t>
            </a:r>
            <a:r>
              <a:rPr sz="1400" b="0" dirty="0" err="1">
                <a:solidFill>
                  <a:srgbClr val="1E293B"/>
                </a:solidFill>
              </a:rPr>
              <a:t>Werkzeug</a:t>
            </a:r>
            <a:r>
              <a:rPr sz="1400" b="0" dirty="0">
                <a:solidFill>
                  <a:srgbClr val="1E293B"/>
                </a:solidFill>
              </a:rPr>
              <a:t> password hashing, session-based role checks (</a:t>
            </a:r>
            <a:r>
              <a:rPr sz="1400" b="0" dirty="0" err="1">
                <a:solidFill>
                  <a:srgbClr val="1E293B"/>
                </a:solidFill>
              </a:rPr>
              <a:t>is_admin</a:t>
            </a:r>
            <a:r>
              <a:rPr sz="1400" b="0" dirty="0">
                <a:solidFill>
                  <a:srgbClr val="1E293B"/>
                </a:solidFill>
              </a:rPr>
              <a:t>), CSRF protection &amp; input sanitization.</a:t>
            </a:r>
          </a:p>
          <a:p>
            <a:pPr>
              <a:spcBef>
                <a:spcPts val="700"/>
              </a:spcBef>
              <a:defRPr sz="1050">
                <a:latin typeface="Calibri"/>
              </a:defRPr>
            </a:pPr>
            <a:r>
              <a:rPr sz="1400" b="1" dirty="0">
                <a:solidFill>
                  <a:srgbClr val="1E3A5F"/>
                </a:solidFill>
              </a:rPr>
              <a:t>• Core Business Engines: </a:t>
            </a:r>
            <a:r>
              <a:rPr sz="1400" b="0" dirty="0">
                <a:solidFill>
                  <a:srgbClr val="1E293B"/>
                </a:solidFill>
              </a:rPr>
              <a:t>Two-Wheeler Compatibility Engine, Coupon Discount Calculator, Guest Checkout Handler, UPI QR Generator.</a:t>
            </a:r>
          </a:p>
          <a:p>
            <a:pPr>
              <a:spcBef>
                <a:spcPts val="700"/>
              </a:spcBef>
              <a:defRPr sz="1050">
                <a:latin typeface="Calibri"/>
              </a:defRPr>
            </a:pPr>
            <a:r>
              <a:rPr sz="1400" b="1" dirty="0">
                <a:solidFill>
                  <a:srgbClr val="1E3A5F"/>
                </a:solidFill>
              </a:rPr>
              <a:t>• Template &amp; API Pipeline: </a:t>
            </a:r>
            <a:r>
              <a:rPr sz="1400" b="0" dirty="0">
                <a:solidFill>
                  <a:srgbClr val="1E293B"/>
                </a:solidFill>
              </a:rPr>
              <a:t>Jinja2 server-side HTML rendering engine + JSON response </a:t>
            </a:r>
            <a:r>
              <a:rPr sz="1400" b="0" dirty="0" err="1">
                <a:solidFill>
                  <a:srgbClr val="1E293B"/>
                </a:solidFill>
              </a:rPr>
              <a:t>serialisation</a:t>
            </a:r>
            <a:r>
              <a:rPr sz="1400" b="0" dirty="0">
                <a:solidFill>
                  <a:srgbClr val="1E293B"/>
                </a:solidFill>
              </a:rPr>
              <a:t> for asynchronous requests.</a:t>
            </a:r>
          </a:p>
        </p:txBody>
      </p:sp>
      <p:sp>
        <p:nvSpPr>
          <p:cNvPr id="10" name="Rounded Rectangle 9"/>
          <p:cNvSpPr/>
          <p:nvPr/>
        </p:nvSpPr>
        <p:spPr>
          <a:xfrm>
            <a:off x="731520" y="4846319"/>
            <a:ext cx="10728655" cy="181453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5010912"/>
            <a:ext cx="10271455" cy="200055"/>
          </a:xfrm>
          <a:prstGeom prst="rect">
            <a:avLst/>
          </a:prstGeom>
          <a:noFill/>
        </p:spPr>
        <p:txBody>
          <a:bodyPr wrap="square" lIns="0" tIns="0" rIns="0" bIns="0">
            <a:spAutoFit/>
          </a:bodyPr>
          <a:lstStyle/>
          <a:p>
            <a:pPr algn="ctr">
              <a:defRPr sz="1300" b="1">
                <a:solidFill>
                  <a:srgbClr val="0F1F38"/>
                </a:solidFill>
                <a:latin typeface="Calibri"/>
              </a:defRPr>
            </a:pPr>
            <a:r>
              <a:rPr dirty="0"/>
              <a:t>Tier 3: Database &amp; Persistence Layer (MySQL 8.0)</a:t>
            </a:r>
          </a:p>
        </p:txBody>
      </p:sp>
      <p:sp>
        <p:nvSpPr>
          <p:cNvPr id="12" name="TextBox 11"/>
          <p:cNvSpPr txBox="1"/>
          <p:nvPr/>
        </p:nvSpPr>
        <p:spPr>
          <a:xfrm>
            <a:off x="960120" y="5349240"/>
            <a:ext cx="10241280" cy="825867"/>
          </a:xfrm>
          <a:prstGeom prst="rect">
            <a:avLst/>
          </a:prstGeom>
          <a:noFill/>
        </p:spPr>
        <p:txBody>
          <a:bodyPr wrap="square" lIns="0" tIns="0" rIns="0" bIns="0">
            <a:spAutoFit/>
          </a:bodyPr>
          <a:lstStyle/>
          <a:p>
            <a:pPr>
              <a:defRPr sz="1050">
                <a:latin typeface="Calibri"/>
              </a:defRPr>
            </a:pPr>
            <a:r>
              <a:rPr sz="1400" b="1" dirty="0">
                <a:solidFill>
                  <a:srgbClr val="1E3A5F"/>
                </a:solidFill>
              </a:rPr>
              <a:t>• Relational Storage: </a:t>
            </a:r>
            <a:r>
              <a:rPr sz="1400" b="0" dirty="0">
                <a:solidFill>
                  <a:srgbClr val="1E293B"/>
                </a:solidFill>
              </a:rPr>
              <a:t>14 normalized tables executing ACID-compliant transactional operations.</a:t>
            </a:r>
          </a:p>
          <a:p>
            <a:pPr>
              <a:spcBef>
                <a:spcPts val="700"/>
              </a:spcBef>
              <a:defRPr sz="1050">
                <a:latin typeface="Calibri"/>
              </a:defRPr>
            </a:pPr>
            <a:r>
              <a:rPr sz="1400" b="1" dirty="0">
                <a:solidFill>
                  <a:srgbClr val="1E3A5F"/>
                </a:solidFill>
              </a:rPr>
              <a:t>• Query Interface (db_queries.py): </a:t>
            </a:r>
            <a:r>
              <a:rPr sz="1400" b="0" dirty="0">
                <a:solidFill>
                  <a:srgbClr val="1E293B"/>
                </a:solidFill>
              </a:rPr>
              <a:t>Modular database access layer using </a:t>
            </a:r>
            <a:r>
              <a:rPr sz="1400" b="0" dirty="0" err="1">
                <a:solidFill>
                  <a:srgbClr val="1E293B"/>
                </a:solidFill>
              </a:rPr>
              <a:t>mysql.connector</a:t>
            </a:r>
            <a:r>
              <a:rPr sz="1400" b="0" dirty="0">
                <a:solidFill>
                  <a:srgbClr val="1E293B"/>
                </a:solidFill>
              </a:rPr>
              <a:t> with connection recycling &amp; parameterized queries.</a:t>
            </a:r>
          </a:p>
          <a:p>
            <a:pPr>
              <a:spcBef>
                <a:spcPts val="700"/>
              </a:spcBef>
              <a:defRPr sz="1050">
                <a:latin typeface="Calibri"/>
              </a:defRPr>
            </a:pPr>
            <a:r>
              <a:rPr sz="1400" b="1" dirty="0">
                <a:solidFill>
                  <a:srgbClr val="1E3A5F"/>
                </a:solidFill>
              </a:rPr>
              <a:t>• Data Consistency: </a:t>
            </a:r>
            <a:r>
              <a:rPr sz="1400" b="0" dirty="0">
                <a:solidFill>
                  <a:srgbClr val="1E293B"/>
                </a:solidFill>
              </a:rPr>
              <a:t>Foreign key constraints cascading parent-child integrity across orders, </a:t>
            </a:r>
            <a:r>
              <a:rPr sz="1400" b="0" dirty="0" err="1">
                <a:solidFill>
                  <a:srgbClr val="1E293B"/>
                </a:solidFill>
              </a:rPr>
              <a:t>order_items</a:t>
            </a:r>
            <a:r>
              <a:rPr sz="1400" b="0" dirty="0">
                <a:solidFill>
                  <a:srgbClr val="1E293B"/>
                </a:solidFill>
              </a:rPr>
              <a:t>, and compatibility lists.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733534"/>
          </a:xfrm>
          <a:prstGeom prst="rect">
            <a:avLst/>
          </a:prstGeom>
          <a:noFill/>
        </p:spPr>
        <p:txBody>
          <a:bodyPr wrap="square" lIns="0" tIns="0" rIns="0" bIns="0">
            <a:spAutoFit/>
          </a:bodyPr>
          <a:lstStyle/>
          <a:p>
            <a:pPr>
              <a:defRPr sz="1000" b="1">
                <a:solidFill>
                  <a:srgbClr val="D32F2F"/>
                </a:solidFill>
                <a:latin typeface="Calibri"/>
              </a:defRPr>
            </a:pPr>
            <a:r>
              <a:rPr dirty="0"/>
              <a:t>FUNCTIONAL DECOMPOSITION</a:t>
            </a:r>
          </a:p>
          <a:p>
            <a:pPr algn="ctr">
              <a:spcBef>
                <a:spcPts val="200"/>
              </a:spcBef>
              <a:defRPr sz="2100" b="1">
                <a:solidFill>
                  <a:srgbClr val="0F1F38"/>
                </a:solidFill>
                <a:latin typeface="Calibri"/>
              </a:defRPr>
            </a:pPr>
            <a:r>
              <a:rPr sz="3600" dirty="0">
                <a:solidFill>
                  <a:schemeClr val="accent6">
                    <a:lumMod val="50000"/>
                  </a:schemeClr>
                </a:solidFill>
              </a:rPr>
              <a:t>Implemented System Modules</a:t>
            </a:r>
          </a:p>
        </p:txBody>
      </p:sp>
      <p:sp>
        <p:nvSpPr>
          <p:cNvPr id="4" name="Rounded Rectangle 3"/>
          <p:cNvSpPr/>
          <p:nvPr/>
        </p:nvSpPr>
        <p:spPr>
          <a:xfrm>
            <a:off x="731520" y="1371600"/>
            <a:ext cx="3413455"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960120" y="1536192"/>
            <a:ext cx="2956255" cy="200055"/>
          </a:xfrm>
          <a:prstGeom prst="rect">
            <a:avLst/>
          </a:prstGeom>
          <a:noFill/>
        </p:spPr>
        <p:txBody>
          <a:bodyPr wrap="square" lIns="0" tIns="0" rIns="0" bIns="0">
            <a:spAutoFit/>
          </a:bodyPr>
          <a:lstStyle/>
          <a:p>
            <a:pPr algn="ctr">
              <a:defRPr sz="1300" b="1">
                <a:solidFill>
                  <a:srgbClr val="0F1F38"/>
                </a:solidFill>
                <a:latin typeface="Calibri"/>
              </a:defRPr>
            </a:pPr>
            <a:r>
              <a:rPr dirty="0"/>
              <a:t>1. Product Catalog &amp; Inventory</a:t>
            </a:r>
          </a:p>
        </p:txBody>
      </p:sp>
      <p:sp>
        <p:nvSpPr>
          <p:cNvPr id="6" name="TextBox 5"/>
          <p:cNvSpPr txBox="1"/>
          <p:nvPr/>
        </p:nvSpPr>
        <p:spPr>
          <a:xfrm>
            <a:off x="914400" y="1920240"/>
            <a:ext cx="3047695" cy="1737360"/>
          </a:xfrm>
          <a:prstGeom prst="rect">
            <a:avLst/>
          </a:prstGeom>
          <a:noFill/>
        </p:spPr>
        <p:txBody>
          <a:bodyPr wrap="square" lIns="0" tIns="0" rIns="0" bIns="0">
            <a:spAutoFit/>
          </a:bodyPr>
          <a:lstStyle/>
          <a:p>
            <a:pPr>
              <a:defRPr sz="1000">
                <a:latin typeface="Calibri"/>
              </a:defRPr>
            </a:pPr>
            <a:r>
              <a:rPr sz="1400" b="1" dirty="0">
                <a:solidFill>
                  <a:srgbClr val="1E3A5F"/>
                </a:solidFill>
              </a:rPr>
              <a:t>• Scope: </a:t>
            </a:r>
            <a:r>
              <a:rPr sz="1400" b="0" dirty="0">
                <a:solidFill>
                  <a:srgbClr val="1E293B"/>
                </a:solidFill>
              </a:rPr>
              <a:t>181 active automobile spare parts across 8 categories.</a:t>
            </a:r>
          </a:p>
          <a:p>
            <a:pPr>
              <a:spcBef>
                <a:spcPts val="700"/>
              </a:spcBef>
              <a:defRPr sz="1000">
                <a:latin typeface="Calibri"/>
              </a:defRPr>
            </a:pPr>
            <a:r>
              <a:rPr sz="1400" b="1" dirty="0">
                <a:solidFill>
                  <a:srgbClr val="1E3A5F"/>
                </a:solidFill>
              </a:rPr>
              <a:t>• Features: </a:t>
            </a:r>
            <a:r>
              <a:rPr sz="1400" b="0" dirty="0">
                <a:solidFill>
                  <a:srgbClr val="1E293B"/>
                </a:solidFill>
              </a:rPr>
              <a:t>Search by part name, brand, part number; category filtering; price range slider; real-time stock levels.</a:t>
            </a:r>
          </a:p>
          <a:p>
            <a:pPr>
              <a:spcBef>
                <a:spcPts val="700"/>
              </a:spcBef>
              <a:defRPr sz="1000">
                <a:latin typeface="Calibri"/>
              </a:defRPr>
            </a:pPr>
            <a:r>
              <a:rPr sz="1400" b="1" dirty="0">
                <a:solidFill>
                  <a:srgbClr val="1E3A5F"/>
                </a:solidFill>
              </a:rPr>
              <a:t>• Image Assets: </a:t>
            </a:r>
            <a:r>
              <a:rPr sz="1400" b="0" dirty="0">
                <a:solidFill>
                  <a:srgbClr val="1E293B"/>
                </a:solidFill>
              </a:rPr>
              <a:t>159 verified real-world component photographs.</a:t>
            </a:r>
          </a:p>
        </p:txBody>
      </p:sp>
      <p:sp>
        <p:nvSpPr>
          <p:cNvPr id="7" name="Rounded Rectangle 6"/>
          <p:cNvSpPr/>
          <p:nvPr/>
        </p:nvSpPr>
        <p:spPr>
          <a:xfrm>
            <a:off x="4389120" y="1371600"/>
            <a:ext cx="3413455"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536192"/>
            <a:ext cx="2956255" cy="200055"/>
          </a:xfrm>
          <a:prstGeom prst="rect">
            <a:avLst/>
          </a:prstGeom>
          <a:noFill/>
        </p:spPr>
        <p:txBody>
          <a:bodyPr wrap="square" lIns="0" tIns="0" rIns="0" bIns="0">
            <a:spAutoFit/>
          </a:bodyPr>
          <a:lstStyle/>
          <a:p>
            <a:pPr algn="ctr">
              <a:defRPr sz="1300" b="1">
                <a:solidFill>
                  <a:srgbClr val="0F1F38"/>
                </a:solidFill>
                <a:latin typeface="Calibri"/>
              </a:defRPr>
            </a:pPr>
            <a:r>
              <a:rPr dirty="0"/>
              <a:t>2. Two-Wheeler Fitment Engine</a:t>
            </a:r>
          </a:p>
        </p:txBody>
      </p:sp>
      <p:sp>
        <p:nvSpPr>
          <p:cNvPr id="9" name="TextBox 8"/>
          <p:cNvSpPr txBox="1"/>
          <p:nvPr/>
        </p:nvSpPr>
        <p:spPr>
          <a:xfrm>
            <a:off x="4572000" y="1920240"/>
            <a:ext cx="3047695" cy="1737360"/>
          </a:xfrm>
          <a:prstGeom prst="rect">
            <a:avLst/>
          </a:prstGeom>
          <a:noFill/>
        </p:spPr>
        <p:txBody>
          <a:bodyPr wrap="square" lIns="0" tIns="0" rIns="0" bIns="0">
            <a:spAutoFit/>
          </a:bodyPr>
          <a:lstStyle/>
          <a:p>
            <a:pPr>
              <a:defRPr sz="1000">
                <a:latin typeface="Calibri"/>
              </a:defRPr>
            </a:pPr>
            <a:r>
              <a:rPr sz="1400" b="1" dirty="0">
                <a:solidFill>
                  <a:srgbClr val="1E3A5F"/>
                </a:solidFill>
              </a:rPr>
              <a:t>• Compatibility Matrix: </a:t>
            </a:r>
            <a:r>
              <a:rPr sz="1400" b="0" dirty="0">
                <a:solidFill>
                  <a:srgbClr val="1E293B"/>
                </a:solidFill>
              </a:rPr>
              <a:t>1,655 verified relations covering 11 Indian motorcycle and scooter platforms.</a:t>
            </a:r>
          </a:p>
          <a:p>
            <a:pPr>
              <a:spcBef>
                <a:spcPts val="700"/>
              </a:spcBef>
              <a:defRPr sz="1000">
                <a:latin typeface="Calibri"/>
              </a:defRPr>
            </a:pPr>
            <a:r>
              <a:rPr sz="1400" b="1" dirty="0">
                <a:solidFill>
                  <a:srgbClr val="1E3A5F"/>
                </a:solidFill>
              </a:rPr>
              <a:t>• Live Client Search: </a:t>
            </a:r>
            <a:r>
              <a:rPr sz="1400" b="0" dirty="0">
                <a:solidFill>
                  <a:srgbClr val="1E293B"/>
                </a:solidFill>
              </a:rPr>
              <a:t>Instant search bar on product page filtering models in real time.</a:t>
            </a:r>
          </a:p>
          <a:p>
            <a:pPr>
              <a:spcBef>
                <a:spcPts val="700"/>
              </a:spcBef>
              <a:defRPr sz="1000">
                <a:latin typeface="Calibri"/>
              </a:defRPr>
            </a:pPr>
            <a:r>
              <a:rPr sz="1400" b="1" dirty="0">
                <a:solidFill>
                  <a:srgbClr val="1E3A5F"/>
                </a:solidFill>
              </a:rPr>
              <a:t>• Badges: </a:t>
            </a:r>
            <a:r>
              <a:rPr sz="1400" b="0" dirty="0">
                <a:solidFill>
                  <a:srgbClr val="1E293B"/>
                </a:solidFill>
              </a:rPr>
              <a:t>Clear status indicators: Verified Fit, Universal Fit, Confirm Year/BS.</a:t>
            </a:r>
          </a:p>
        </p:txBody>
      </p:sp>
      <p:sp>
        <p:nvSpPr>
          <p:cNvPr id="10" name="Rounded Rectangle 9"/>
          <p:cNvSpPr/>
          <p:nvPr/>
        </p:nvSpPr>
        <p:spPr>
          <a:xfrm>
            <a:off x="8046720" y="1371600"/>
            <a:ext cx="3413455"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536192"/>
            <a:ext cx="2956255" cy="215444"/>
          </a:xfrm>
          <a:prstGeom prst="rect">
            <a:avLst/>
          </a:prstGeom>
          <a:noFill/>
        </p:spPr>
        <p:txBody>
          <a:bodyPr wrap="square" lIns="0" tIns="0" rIns="0" bIns="0">
            <a:spAutoFit/>
          </a:bodyPr>
          <a:lstStyle/>
          <a:p>
            <a:pPr>
              <a:defRPr sz="1300" b="1">
                <a:solidFill>
                  <a:srgbClr val="0F1F38"/>
                </a:solidFill>
                <a:latin typeface="Calibri"/>
              </a:defRPr>
            </a:pPr>
            <a:r>
              <a:rPr sz="1400" dirty="0"/>
              <a:t>3. Customer Authentication &amp; Portal</a:t>
            </a:r>
          </a:p>
        </p:txBody>
      </p:sp>
      <p:sp>
        <p:nvSpPr>
          <p:cNvPr id="12" name="TextBox 11"/>
          <p:cNvSpPr txBox="1"/>
          <p:nvPr/>
        </p:nvSpPr>
        <p:spPr>
          <a:xfrm>
            <a:off x="8275320" y="1804912"/>
            <a:ext cx="3047695" cy="1903085"/>
          </a:xfrm>
          <a:prstGeom prst="rect">
            <a:avLst/>
          </a:prstGeom>
          <a:noFill/>
        </p:spPr>
        <p:txBody>
          <a:bodyPr wrap="square" lIns="0" tIns="0" rIns="0" bIns="0">
            <a:spAutoFit/>
          </a:bodyPr>
          <a:lstStyle/>
          <a:p>
            <a:pPr>
              <a:defRPr sz="1000">
                <a:latin typeface="Calibri"/>
              </a:defRPr>
            </a:pPr>
            <a:r>
              <a:rPr sz="1400" b="1" dirty="0">
                <a:solidFill>
                  <a:srgbClr val="1E3A5F"/>
                </a:solidFill>
              </a:rPr>
              <a:t>• User Security: </a:t>
            </a:r>
            <a:r>
              <a:rPr sz="1400" b="0" dirty="0">
                <a:solidFill>
                  <a:srgbClr val="1E293B"/>
                </a:solidFill>
              </a:rPr>
              <a:t>Secure registration and login with encrypted password storage.</a:t>
            </a:r>
          </a:p>
          <a:p>
            <a:pPr>
              <a:spcBef>
                <a:spcPts val="700"/>
              </a:spcBef>
              <a:defRPr sz="1000">
                <a:latin typeface="Calibri"/>
              </a:defRPr>
            </a:pPr>
            <a:r>
              <a:rPr sz="1400" b="1" dirty="0">
                <a:solidFill>
                  <a:srgbClr val="1E3A5F"/>
                </a:solidFill>
              </a:rPr>
              <a:t>• Account Hub: </a:t>
            </a:r>
            <a:r>
              <a:rPr sz="1400" b="0" dirty="0">
                <a:solidFill>
                  <a:srgbClr val="1E293B"/>
                </a:solidFill>
              </a:rPr>
              <a:t>Customer profile dashboard, order history, tracking status, and personal </a:t>
            </a:r>
            <a:r>
              <a:rPr sz="1400" b="0" dirty="0" err="1">
                <a:solidFill>
                  <a:srgbClr val="1E293B"/>
                </a:solidFill>
              </a:rPr>
              <a:t>wishlist</a:t>
            </a:r>
            <a:r>
              <a:rPr sz="1400" b="0" dirty="0">
                <a:solidFill>
                  <a:srgbClr val="1E293B"/>
                </a:solidFill>
              </a:rPr>
              <a:t> toggle.</a:t>
            </a:r>
          </a:p>
          <a:p>
            <a:pPr>
              <a:spcBef>
                <a:spcPts val="700"/>
              </a:spcBef>
              <a:defRPr sz="1000">
                <a:latin typeface="Calibri"/>
              </a:defRPr>
            </a:pPr>
            <a:r>
              <a:rPr sz="1400" b="1" dirty="0">
                <a:solidFill>
                  <a:srgbClr val="1E3A5F"/>
                </a:solidFill>
              </a:rPr>
              <a:t>• Role Security: </a:t>
            </a:r>
            <a:r>
              <a:rPr sz="1400" b="0" dirty="0">
                <a:solidFill>
                  <a:srgbClr val="1E293B"/>
                </a:solidFill>
              </a:rPr>
              <a:t>Strict separation between regular customers and store admins.</a:t>
            </a:r>
          </a:p>
        </p:txBody>
      </p:sp>
      <p:sp>
        <p:nvSpPr>
          <p:cNvPr id="13" name="Rounded Rectangle 12"/>
          <p:cNvSpPr/>
          <p:nvPr/>
        </p:nvSpPr>
        <p:spPr>
          <a:xfrm>
            <a:off x="731520" y="3931920"/>
            <a:ext cx="3413455"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096511"/>
            <a:ext cx="2956255" cy="200055"/>
          </a:xfrm>
          <a:prstGeom prst="rect">
            <a:avLst/>
          </a:prstGeom>
          <a:noFill/>
        </p:spPr>
        <p:txBody>
          <a:bodyPr wrap="square" lIns="0" tIns="0" rIns="0" bIns="0">
            <a:spAutoFit/>
          </a:bodyPr>
          <a:lstStyle/>
          <a:p>
            <a:pPr algn="ctr">
              <a:defRPr sz="1300" b="1">
                <a:solidFill>
                  <a:srgbClr val="0F1F38"/>
                </a:solidFill>
                <a:latin typeface="Calibri"/>
              </a:defRPr>
            </a:pPr>
            <a:r>
              <a:rPr dirty="0"/>
              <a:t>4. Cart &amp; Dynamic Checkout</a:t>
            </a:r>
          </a:p>
        </p:txBody>
      </p:sp>
      <p:sp>
        <p:nvSpPr>
          <p:cNvPr id="15" name="TextBox 14"/>
          <p:cNvSpPr txBox="1"/>
          <p:nvPr/>
        </p:nvSpPr>
        <p:spPr>
          <a:xfrm>
            <a:off x="914400" y="4343400"/>
            <a:ext cx="3047695" cy="1779974"/>
          </a:xfrm>
          <a:prstGeom prst="rect">
            <a:avLst/>
          </a:prstGeom>
          <a:noFill/>
        </p:spPr>
        <p:txBody>
          <a:bodyPr wrap="square" lIns="0" tIns="0" rIns="0" bIns="0">
            <a:spAutoFit/>
          </a:bodyPr>
          <a:lstStyle/>
          <a:p>
            <a:pPr>
              <a:defRPr sz="1000">
                <a:latin typeface="Calibri"/>
              </a:defRPr>
            </a:pPr>
            <a:r>
              <a:rPr sz="1300" b="1" dirty="0">
                <a:solidFill>
                  <a:srgbClr val="1E3A5F"/>
                </a:solidFill>
              </a:rPr>
              <a:t>• Cart Management: </a:t>
            </a:r>
            <a:r>
              <a:rPr sz="1300" b="0" dirty="0">
                <a:solidFill>
                  <a:srgbClr val="1E293B"/>
                </a:solidFill>
              </a:rPr>
              <a:t>Real-time quantity modification, price computation, and empty cart handling.</a:t>
            </a:r>
          </a:p>
          <a:p>
            <a:pPr>
              <a:spcBef>
                <a:spcPts val="700"/>
              </a:spcBef>
              <a:defRPr sz="1000">
                <a:latin typeface="Calibri"/>
              </a:defRPr>
            </a:pPr>
            <a:r>
              <a:rPr sz="1300" b="1" dirty="0">
                <a:solidFill>
                  <a:srgbClr val="1E3A5F"/>
                </a:solidFill>
              </a:rPr>
              <a:t>• Coupon Engine: </a:t>
            </a:r>
            <a:r>
              <a:rPr sz="1300" b="0" dirty="0">
                <a:solidFill>
                  <a:srgbClr val="1E293B"/>
                </a:solidFill>
              </a:rPr>
              <a:t>Discount coupon validation (e.g. FESTIVE10) with automatic order total deduction.</a:t>
            </a:r>
          </a:p>
          <a:p>
            <a:pPr>
              <a:spcBef>
                <a:spcPts val="700"/>
              </a:spcBef>
              <a:defRPr sz="1000">
                <a:latin typeface="Calibri"/>
              </a:defRPr>
            </a:pPr>
            <a:r>
              <a:rPr sz="1300" b="1" dirty="0">
                <a:solidFill>
                  <a:srgbClr val="1E3A5F"/>
                </a:solidFill>
              </a:rPr>
              <a:t>• Guest Checkout: </a:t>
            </a:r>
            <a:r>
              <a:rPr sz="1300" b="0" dirty="0">
                <a:solidFill>
                  <a:srgbClr val="1E293B"/>
                </a:solidFill>
              </a:rPr>
              <a:t>Enables quick orders with recipient name, phone, and delivery address.</a:t>
            </a:r>
          </a:p>
        </p:txBody>
      </p:sp>
      <p:sp>
        <p:nvSpPr>
          <p:cNvPr id="16" name="Rounded Rectangle 15"/>
          <p:cNvSpPr/>
          <p:nvPr/>
        </p:nvSpPr>
        <p:spPr>
          <a:xfrm>
            <a:off x="4389120" y="3931920"/>
            <a:ext cx="3413455"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17720" y="4096511"/>
            <a:ext cx="2956255" cy="215444"/>
          </a:xfrm>
          <a:prstGeom prst="rect">
            <a:avLst/>
          </a:prstGeom>
          <a:noFill/>
        </p:spPr>
        <p:txBody>
          <a:bodyPr wrap="square" lIns="0" tIns="0" rIns="0" bIns="0">
            <a:spAutoFit/>
          </a:bodyPr>
          <a:lstStyle/>
          <a:p>
            <a:pPr>
              <a:defRPr sz="1300" b="1">
                <a:solidFill>
                  <a:srgbClr val="0F1F38"/>
                </a:solidFill>
                <a:latin typeface="Calibri"/>
              </a:defRPr>
            </a:pPr>
            <a:r>
              <a:rPr sz="1400" dirty="0"/>
              <a:t>5. UPI QR Payment Workflow</a:t>
            </a:r>
          </a:p>
        </p:txBody>
      </p:sp>
      <p:sp>
        <p:nvSpPr>
          <p:cNvPr id="18" name="TextBox 17"/>
          <p:cNvSpPr txBox="1"/>
          <p:nvPr/>
        </p:nvSpPr>
        <p:spPr>
          <a:xfrm>
            <a:off x="4572000" y="4480559"/>
            <a:ext cx="3047695" cy="1779974"/>
          </a:xfrm>
          <a:prstGeom prst="rect">
            <a:avLst/>
          </a:prstGeom>
          <a:noFill/>
        </p:spPr>
        <p:txBody>
          <a:bodyPr wrap="square" lIns="0" tIns="0" rIns="0" bIns="0">
            <a:spAutoFit/>
          </a:bodyPr>
          <a:lstStyle/>
          <a:p>
            <a:pPr>
              <a:defRPr sz="1000">
                <a:latin typeface="Calibri"/>
              </a:defRPr>
            </a:pPr>
            <a:r>
              <a:rPr sz="1300" b="1" dirty="0">
                <a:solidFill>
                  <a:srgbClr val="1E3A5F"/>
                </a:solidFill>
              </a:rPr>
              <a:t>• Dynamic QR: </a:t>
            </a:r>
            <a:r>
              <a:rPr sz="1300" b="0" dirty="0">
                <a:solidFill>
                  <a:srgbClr val="1E293B"/>
                </a:solidFill>
              </a:rPr>
              <a:t>Generates order-specific UPI payment QR codes (Google Pay, PhonePe, Paytm).</a:t>
            </a:r>
          </a:p>
          <a:p>
            <a:pPr>
              <a:spcBef>
                <a:spcPts val="700"/>
              </a:spcBef>
              <a:defRPr sz="1000">
                <a:latin typeface="Calibri"/>
              </a:defRPr>
            </a:pPr>
            <a:r>
              <a:rPr sz="1300" b="1" dirty="0">
                <a:solidFill>
                  <a:srgbClr val="1E3A5F"/>
                </a:solidFill>
              </a:rPr>
              <a:t>• Payment Verification: </a:t>
            </a:r>
            <a:r>
              <a:rPr sz="1300" b="0" dirty="0">
                <a:solidFill>
                  <a:srgbClr val="1E293B"/>
                </a:solidFill>
              </a:rPr>
              <a:t>Captures customer UTR transaction number for counter reconciliation.</a:t>
            </a:r>
          </a:p>
          <a:p>
            <a:pPr>
              <a:spcBef>
                <a:spcPts val="700"/>
              </a:spcBef>
              <a:defRPr sz="1000">
                <a:latin typeface="Calibri"/>
              </a:defRPr>
            </a:pPr>
            <a:r>
              <a:rPr sz="1300" b="1" dirty="0">
                <a:solidFill>
                  <a:srgbClr val="1E3A5F"/>
                </a:solidFill>
              </a:rPr>
              <a:t>• Receipt Screen: </a:t>
            </a:r>
            <a:r>
              <a:rPr sz="1300" b="0" dirty="0">
                <a:solidFill>
                  <a:srgbClr val="1E293B"/>
                </a:solidFill>
              </a:rPr>
              <a:t>Instant order confirmation summary with itemized breakdown.</a:t>
            </a:r>
          </a:p>
        </p:txBody>
      </p:sp>
      <p:sp>
        <p:nvSpPr>
          <p:cNvPr id="19" name="Rounded Rectangle 18"/>
          <p:cNvSpPr/>
          <p:nvPr/>
        </p:nvSpPr>
        <p:spPr>
          <a:xfrm>
            <a:off x="8046720" y="3931920"/>
            <a:ext cx="3413455"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4096511"/>
            <a:ext cx="2956255" cy="411480"/>
          </a:xfrm>
          <a:prstGeom prst="rect">
            <a:avLst/>
          </a:prstGeom>
          <a:noFill/>
        </p:spPr>
        <p:txBody>
          <a:bodyPr wrap="square" lIns="0" tIns="0" rIns="0" bIns="0">
            <a:spAutoFit/>
          </a:bodyPr>
          <a:lstStyle/>
          <a:p>
            <a:pPr>
              <a:defRPr sz="1300" b="1">
                <a:solidFill>
                  <a:srgbClr val="0F1F38"/>
                </a:solidFill>
                <a:latin typeface="Calibri"/>
              </a:defRPr>
            </a:pPr>
            <a:r>
              <a:t>6. Administrative Control Hub</a:t>
            </a:r>
          </a:p>
        </p:txBody>
      </p:sp>
      <p:sp>
        <p:nvSpPr>
          <p:cNvPr id="21" name="TextBox 20"/>
          <p:cNvSpPr txBox="1"/>
          <p:nvPr/>
        </p:nvSpPr>
        <p:spPr>
          <a:xfrm>
            <a:off x="8229600" y="4480559"/>
            <a:ext cx="3047695" cy="1579920"/>
          </a:xfrm>
          <a:prstGeom prst="rect">
            <a:avLst/>
          </a:prstGeom>
          <a:noFill/>
        </p:spPr>
        <p:txBody>
          <a:bodyPr wrap="square" lIns="0" tIns="0" rIns="0" bIns="0">
            <a:spAutoFit/>
          </a:bodyPr>
          <a:lstStyle/>
          <a:p>
            <a:pPr>
              <a:defRPr sz="1000">
                <a:latin typeface="Calibri"/>
              </a:defRPr>
            </a:pPr>
            <a:r>
              <a:rPr sz="1300" b="1" dirty="0">
                <a:solidFill>
                  <a:srgbClr val="1E3A5F"/>
                </a:solidFill>
              </a:rPr>
              <a:t>• Inventory CRUD: </a:t>
            </a:r>
            <a:r>
              <a:rPr sz="1300" b="0" dirty="0">
                <a:solidFill>
                  <a:srgbClr val="1E293B"/>
                </a:solidFill>
              </a:rPr>
              <a:t>Add, edit, restock, or deactivate spare parts in the catalog.</a:t>
            </a:r>
          </a:p>
          <a:p>
            <a:pPr>
              <a:spcBef>
                <a:spcPts val="700"/>
              </a:spcBef>
              <a:defRPr sz="1000">
                <a:latin typeface="Calibri"/>
              </a:defRPr>
            </a:pPr>
            <a:r>
              <a:rPr sz="1300" b="1" dirty="0">
                <a:solidFill>
                  <a:srgbClr val="1E3A5F"/>
                </a:solidFill>
              </a:rPr>
              <a:t>• Order Manager: </a:t>
            </a:r>
            <a:r>
              <a:rPr sz="1300" b="0" dirty="0">
                <a:solidFill>
                  <a:srgbClr val="1E293B"/>
                </a:solidFill>
              </a:rPr>
              <a:t>Update fulfillment status: Pending -&gt; Confirmed -&gt; Shipped -&gt; Delivered.</a:t>
            </a:r>
          </a:p>
          <a:p>
            <a:pPr>
              <a:spcBef>
                <a:spcPts val="700"/>
              </a:spcBef>
              <a:defRPr sz="1000">
                <a:latin typeface="Calibri"/>
              </a:defRPr>
            </a:pPr>
            <a:r>
              <a:rPr sz="1300" b="1" dirty="0">
                <a:solidFill>
                  <a:srgbClr val="1E3A5F"/>
                </a:solidFill>
              </a:rPr>
              <a:t>• Audit Logging: </a:t>
            </a:r>
            <a:r>
              <a:rPr sz="1300" b="0" dirty="0">
                <a:solidFill>
                  <a:srgbClr val="1E293B"/>
                </a:solidFill>
              </a:rPr>
              <a:t>Automated </a:t>
            </a:r>
            <a:r>
              <a:rPr sz="1300" b="0" dirty="0" err="1">
                <a:solidFill>
                  <a:srgbClr val="1E293B"/>
                </a:solidFill>
              </a:rPr>
              <a:t>system_logs</a:t>
            </a:r>
            <a:r>
              <a:rPr sz="1300" b="0" dirty="0">
                <a:solidFill>
                  <a:srgbClr val="1E293B"/>
                </a:solidFill>
              </a:rPr>
              <a:t> capturing critical administrative events.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45839"/>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68680"/>
          </a:xfrm>
          <a:prstGeom prst="rect">
            <a:avLst/>
          </a:prstGeom>
          <a:noFill/>
        </p:spPr>
        <p:txBody>
          <a:bodyPr wrap="square" lIns="0" tIns="0" rIns="0" bIns="0">
            <a:spAutoFit/>
          </a:bodyPr>
          <a:lstStyle/>
          <a:p>
            <a:pPr>
              <a:defRPr sz="1000" b="1">
                <a:solidFill>
                  <a:srgbClr val="D32F2F"/>
                </a:solidFill>
                <a:latin typeface="Calibri"/>
              </a:defRPr>
            </a:pPr>
            <a:r>
              <a:t>DATA ARCHITECTURE</a:t>
            </a:r>
          </a:p>
          <a:p>
            <a:pPr>
              <a:spcBef>
                <a:spcPts val="200"/>
              </a:spcBef>
              <a:defRPr sz="2100" b="1">
                <a:solidFill>
                  <a:srgbClr val="0F1F38"/>
                </a:solidFill>
                <a:latin typeface="Calibri"/>
              </a:defRPr>
            </a:pPr>
            <a:r>
              <a:t>Database Design &amp; Entity Relationship (ER) Schema</a:t>
            </a:r>
          </a:p>
        </p:txBody>
      </p:sp>
      <p:sp>
        <p:nvSpPr>
          <p:cNvPr id="4" name="Rounded Rectangle 3"/>
          <p:cNvSpPr/>
          <p:nvPr/>
        </p:nvSpPr>
        <p:spPr>
          <a:xfrm>
            <a:off x="731520" y="1371600"/>
            <a:ext cx="33832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536192"/>
            <a:ext cx="2926080" cy="230832"/>
          </a:xfrm>
          <a:prstGeom prst="rect">
            <a:avLst/>
          </a:prstGeom>
          <a:noFill/>
        </p:spPr>
        <p:txBody>
          <a:bodyPr wrap="square" lIns="0" tIns="0" rIns="0" bIns="0">
            <a:spAutoFit/>
          </a:bodyPr>
          <a:lstStyle/>
          <a:p>
            <a:pPr algn="ctr">
              <a:defRPr sz="1300" b="1">
                <a:solidFill>
                  <a:srgbClr val="0F1F38"/>
                </a:solidFill>
                <a:latin typeface="Calibri"/>
              </a:defRPr>
            </a:pPr>
            <a:r>
              <a:rPr sz="1500" dirty="0"/>
              <a:t>Catalog &amp; Fitment Entities</a:t>
            </a:r>
          </a:p>
        </p:txBody>
      </p:sp>
      <p:sp>
        <p:nvSpPr>
          <p:cNvPr id="6" name="TextBox 5"/>
          <p:cNvSpPr txBox="1"/>
          <p:nvPr/>
        </p:nvSpPr>
        <p:spPr>
          <a:xfrm>
            <a:off x="960120" y="1920240"/>
            <a:ext cx="2926080" cy="4114800"/>
          </a:xfrm>
          <a:prstGeom prst="rect">
            <a:avLst/>
          </a:prstGeom>
          <a:noFill/>
        </p:spPr>
        <p:txBody>
          <a:bodyPr wrap="square" lIns="0" tIns="0" rIns="0" bIns="0">
            <a:spAutoFit/>
          </a:bodyPr>
          <a:lstStyle/>
          <a:p>
            <a:pPr>
              <a:defRPr sz="1050">
                <a:latin typeface="Calibri"/>
              </a:defRPr>
            </a:pPr>
            <a:r>
              <a:rPr sz="1600" b="1" dirty="0">
                <a:solidFill>
                  <a:srgbClr val="1E3A5F"/>
                </a:solidFill>
              </a:rPr>
              <a:t>• categories: </a:t>
            </a:r>
            <a:r>
              <a:rPr sz="1600" b="0" dirty="0">
                <a:solidFill>
                  <a:srgbClr val="1E293B"/>
                </a:solidFill>
              </a:rPr>
              <a:t>PK: </a:t>
            </a:r>
            <a:r>
              <a:rPr sz="1600" b="0" dirty="0" err="1">
                <a:solidFill>
                  <a:srgbClr val="1E293B"/>
                </a:solidFill>
              </a:rPr>
              <a:t>category_id</a:t>
            </a:r>
            <a:r>
              <a:rPr sz="1600" b="0" dirty="0">
                <a:solidFill>
                  <a:srgbClr val="1E293B"/>
                </a:solidFill>
              </a:rPr>
              <a:t>
Fields: name, description
Stores 8 automotive categories.</a:t>
            </a:r>
          </a:p>
          <a:p>
            <a:pPr>
              <a:spcBef>
                <a:spcPts val="700"/>
              </a:spcBef>
              <a:defRPr sz="1050">
                <a:latin typeface="Calibri"/>
              </a:defRPr>
            </a:pPr>
            <a:r>
              <a:rPr sz="1600" b="1" dirty="0">
                <a:solidFill>
                  <a:srgbClr val="1E3A5F"/>
                </a:solidFill>
              </a:rPr>
              <a:t>• products: </a:t>
            </a:r>
            <a:r>
              <a:rPr sz="1600" b="0" dirty="0">
                <a:solidFill>
                  <a:srgbClr val="1E293B"/>
                </a:solidFill>
              </a:rPr>
              <a:t>PK: </a:t>
            </a:r>
            <a:r>
              <a:rPr sz="1600" b="0" dirty="0" err="1">
                <a:solidFill>
                  <a:srgbClr val="1E293B"/>
                </a:solidFill>
              </a:rPr>
              <a:t>product_id</a:t>
            </a:r>
            <a:r>
              <a:rPr sz="1600" b="0" dirty="0">
                <a:solidFill>
                  <a:srgbClr val="1E293B"/>
                </a:solidFill>
              </a:rPr>
              <a:t>
FK: </a:t>
            </a:r>
            <a:r>
              <a:rPr sz="1600" b="0" dirty="0" err="1">
                <a:solidFill>
                  <a:srgbClr val="1E293B"/>
                </a:solidFill>
              </a:rPr>
              <a:t>category_id</a:t>
            </a:r>
            <a:r>
              <a:rPr sz="1600" b="0" dirty="0">
                <a:solidFill>
                  <a:srgbClr val="1E293B"/>
                </a:solidFill>
              </a:rPr>
              <a:t> -&gt; categories
Fields: name, brand, </a:t>
            </a:r>
            <a:r>
              <a:rPr sz="1600" b="0" dirty="0" err="1">
                <a:solidFill>
                  <a:srgbClr val="1E293B"/>
                </a:solidFill>
              </a:rPr>
              <a:t>part_number</a:t>
            </a:r>
            <a:r>
              <a:rPr sz="1600" b="0" dirty="0">
                <a:solidFill>
                  <a:srgbClr val="1E293B"/>
                </a:solidFill>
              </a:rPr>
              <a:t>, price, </a:t>
            </a:r>
            <a:r>
              <a:rPr sz="1600" b="0" dirty="0" err="1">
                <a:solidFill>
                  <a:srgbClr val="1E293B"/>
                </a:solidFill>
              </a:rPr>
              <a:t>stock_quantity</a:t>
            </a:r>
            <a:r>
              <a:rPr sz="1600" b="0" dirty="0">
                <a:solidFill>
                  <a:srgbClr val="1E293B"/>
                </a:solidFill>
              </a:rPr>
              <a:t>, </a:t>
            </a:r>
            <a:r>
              <a:rPr sz="1600" b="0" dirty="0" err="1">
                <a:solidFill>
                  <a:srgbClr val="1E293B"/>
                </a:solidFill>
              </a:rPr>
              <a:t>image_url</a:t>
            </a:r>
            <a:r>
              <a:rPr sz="1600" b="0" dirty="0">
                <a:solidFill>
                  <a:srgbClr val="1E293B"/>
                </a:solidFill>
              </a:rPr>
              <a:t>, </a:t>
            </a:r>
            <a:r>
              <a:rPr sz="1600" b="0" dirty="0" err="1">
                <a:solidFill>
                  <a:srgbClr val="1E293B"/>
                </a:solidFill>
              </a:rPr>
              <a:t>is_active</a:t>
            </a:r>
            <a:r>
              <a:rPr sz="1600" b="0" dirty="0">
                <a:solidFill>
                  <a:srgbClr val="1E293B"/>
                </a:solidFill>
              </a:rPr>
              <a:t>.</a:t>
            </a:r>
          </a:p>
          <a:p>
            <a:pPr>
              <a:spcBef>
                <a:spcPts val="700"/>
              </a:spcBef>
              <a:defRPr sz="1050">
                <a:latin typeface="Calibri"/>
              </a:defRPr>
            </a:pPr>
            <a:r>
              <a:rPr sz="1600" b="1" dirty="0">
                <a:solidFill>
                  <a:srgbClr val="1E3A5F"/>
                </a:solidFill>
              </a:rPr>
              <a:t>• </a:t>
            </a:r>
            <a:r>
              <a:rPr sz="1600" b="1" dirty="0" err="1">
                <a:solidFill>
                  <a:srgbClr val="1E3A5F"/>
                </a:solidFill>
              </a:rPr>
              <a:t>product_compatibility</a:t>
            </a:r>
            <a:r>
              <a:rPr sz="1600" b="1" dirty="0">
                <a:solidFill>
                  <a:srgbClr val="1E3A5F"/>
                </a:solidFill>
              </a:rPr>
              <a:t>: </a:t>
            </a:r>
            <a:r>
              <a:rPr sz="1600" b="0" dirty="0">
                <a:solidFill>
                  <a:srgbClr val="1E293B"/>
                </a:solidFill>
              </a:rPr>
              <a:t>PK: </a:t>
            </a:r>
            <a:r>
              <a:rPr sz="1600" b="0" dirty="0" err="1">
                <a:solidFill>
                  <a:srgbClr val="1E293B"/>
                </a:solidFill>
              </a:rPr>
              <a:t>compatibility_id</a:t>
            </a:r>
            <a:r>
              <a:rPr sz="1600" b="0" dirty="0">
                <a:solidFill>
                  <a:srgbClr val="1E293B"/>
                </a:solidFill>
              </a:rPr>
              <a:t>
FK: </a:t>
            </a:r>
            <a:r>
              <a:rPr sz="1600" b="0" dirty="0" err="1">
                <a:solidFill>
                  <a:srgbClr val="1E293B"/>
                </a:solidFill>
              </a:rPr>
              <a:t>product_id</a:t>
            </a:r>
            <a:r>
              <a:rPr sz="1600" b="0" dirty="0">
                <a:solidFill>
                  <a:srgbClr val="1E293B"/>
                </a:solidFill>
              </a:rPr>
              <a:t> -&gt; products
Fields: </a:t>
            </a:r>
            <a:r>
              <a:rPr sz="1600" b="0" dirty="0" err="1">
                <a:solidFill>
                  <a:srgbClr val="1E293B"/>
                </a:solidFill>
              </a:rPr>
              <a:t>vehicle_model</a:t>
            </a:r>
            <a:r>
              <a:rPr sz="1600" b="0" dirty="0">
                <a:solidFill>
                  <a:srgbClr val="1E293B"/>
                </a:solidFill>
              </a:rPr>
              <a:t>, </a:t>
            </a:r>
            <a:r>
              <a:rPr sz="1600" b="0" dirty="0" err="1">
                <a:solidFill>
                  <a:srgbClr val="1E293B"/>
                </a:solidFill>
              </a:rPr>
              <a:t>fitment_status</a:t>
            </a:r>
            <a:r>
              <a:rPr sz="1600" b="0" dirty="0">
                <a:solidFill>
                  <a:srgbClr val="1E293B"/>
                </a:solidFill>
              </a:rPr>
              <a:t>, notes
Maintains 1,655 verified relations.</a:t>
            </a:r>
          </a:p>
        </p:txBody>
      </p:sp>
      <p:sp>
        <p:nvSpPr>
          <p:cNvPr id="7" name="Rounded Rectangle 6"/>
          <p:cNvSpPr/>
          <p:nvPr/>
        </p:nvSpPr>
        <p:spPr>
          <a:xfrm>
            <a:off x="4389120" y="1371600"/>
            <a:ext cx="3429000" cy="5120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536192"/>
            <a:ext cx="2926080" cy="230832"/>
          </a:xfrm>
          <a:prstGeom prst="rect">
            <a:avLst/>
          </a:prstGeom>
          <a:noFill/>
        </p:spPr>
        <p:txBody>
          <a:bodyPr wrap="square" lIns="0" tIns="0" rIns="0" bIns="0">
            <a:spAutoFit/>
          </a:bodyPr>
          <a:lstStyle/>
          <a:p>
            <a:pPr algn="ctr">
              <a:defRPr sz="1300" b="1">
                <a:solidFill>
                  <a:srgbClr val="0F1F38"/>
                </a:solidFill>
                <a:latin typeface="Calibri"/>
              </a:defRPr>
            </a:pPr>
            <a:r>
              <a:rPr sz="1500" dirty="0"/>
              <a:t>Orders &amp; Commerce Entities</a:t>
            </a:r>
          </a:p>
        </p:txBody>
      </p:sp>
      <p:sp>
        <p:nvSpPr>
          <p:cNvPr id="9" name="TextBox 8"/>
          <p:cNvSpPr txBox="1"/>
          <p:nvPr/>
        </p:nvSpPr>
        <p:spPr>
          <a:xfrm>
            <a:off x="4617720" y="1920240"/>
            <a:ext cx="2926080" cy="4501232"/>
          </a:xfrm>
          <a:prstGeom prst="rect">
            <a:avLst/>
          </a:prstGeom>
          <a:noFill/>
        </p:spPr>
        <p:txBody>
          <a:bodyPr wrap="square" lIns="0" tIns="0" rIns="0" bIns="0">
            <a:spAutoFit/>
          </a:bodyPr>
          <a:lstStyle/>
          <a:p>
            <a:pPr>
              <a:defRPr sz="1050">
                <a:latin typeface="Calibri"/>
              </a:defRPr>
            </a:pPr>
            <a:r>
              <a:rPr sz="1500" b="1" dirty="0">
                <a:solidFill>
                  <a:srgbClr val="1E3A5F"/>
                </a:solidFill>
              </a:rPr>
              <a:t>• orders: </a:t>
            </a:r>
            <a:r>
              <a:rPr sz="1500" b="0" dirty="0">
                <a:solidFill>
                  <a:srgbClr val="1E293B"/>
                </a:solidFill>
              </a:rPr>
              <a:t>PK: </a:t>
            </a:r>
            <a:r>
              <a:rPr sz="1500" b="0" dirty="0" err="1">
                <a:solidFill>
                  <a:srgbClr val="1E293B"/>
                </a:solidFill>
              </a:rPr>
              <a:t>order_id</a:t>
            </a:r>
            <a:r>
              <a:rPr sz="1500" b="0" dirty="0">
                <a:solidFill>
                  <a:srgbClr val="1E293B"/>
                </a:solidFill>
              </a:rPr>
              <a:t>
FK: </a:t>
            </a:r>
            <a:r>
              <a:rPr sz="1500" b="0" dirty="0" err="1">
                <a:solidFill>
                  <a:srgbClr val="1E293B"/>
                </a:solidFill>
              </a:rPr>
              <a:t>user_id</a:t>
            </a:r>
            <a:r>
              <a:rPr sz="1500" b="0" dirty="0">
                <a:solidFill>
                  <a:srgbClr val="1E293B"/>
                </a:solidFill>
              </a:rPr>
              <a:t> (NULL for guest)
Fields: </a:t>
            </a:r>
            <a:r>
              <a:rPr sz="1500" b="0" dirty="0" err="1">
                <a:solidFill>
                  <a:srgbClr val="1E293B"/>
                </a:solidFill>
              </a:rPr>
              <a:t>total_amount</a:t>
            </a:r>
            <a:r>
              <a:rPr sz="1500" b="0" dirty="0">
                <a:solidFill>
                  <a:srgbClr val="1E293B"/>
                </a:solidFill>
              </a:rPr>
              <a:t>, </a:t>
            </a:r>
            <a:r>
              <a:rPr sz="1500" b="0" dirty="0" err="1">
                <a:solidFill>
                  <a:srgbClr val="1E293B"/>
                </a:solidFill>
              </a:rPr>
              <a:t>payment_status</a:t>
            </a:r>
            <a:r>
              <a:rPr sz="1500" b="0" dirty="0">
                <a:solidFill>
                  <a:srgbClr val="1E293B"/>
                </a:solidFill>
              </a:rPr>
              <a:t>, </a:t>
            </a:r>
            <a:r>
              <a:rPr sz="1500" b="0" dirty="0" err="1">
                <a:solidFill>
                  <a:srgbClr val="1E293B"/>
                </a:solidFill>
              </a:rPr>
              <a:t>payment_method</a:t>
            </a:r>
            <a:r>
              <a:rPr sz="1500" b="0" dirty="0">
                <a:solidFill>
                  <a:srgbClr val="1E293B"/>
                </a:solidFill>
              </a:rPr>
              <a:t>, </a:t>
            </a:r>
            <a:r>
              <a:rPr sz="1500" b="0" dirty="0" err="1">
                <a:solidFill>
                  <a:srgbClr val="1E293B"/>
                </a:solidFill>
              </a:rPr>
              <a:t>order_status</a:t>
            </a:r>
            <a:r>
              <a:rPr sz="1500" b="0" dirty="0">
                <a:solidFill>
                  <a:srgbClr val="1E293B"/>
                </a:solidFill>
              </a:rPr>
              <a:t>, </a:t>
            </a:r>
            <a:r>
              <a:rPr sz="1500" b="0" dirty="0" err="1">
                <a:solidFill>
                  <a:srgbClr val="1E293B"/>
                </a:solidFill>
              </a:rPr>
              <a:t>shipping_address</a:t>
            </a:r>
            <a:r>
              <a:rPr sz="1500" b="0" dirty="0">
                <a:solidFill>
                  <a:srgbClr val="1E293B"/>
                </a:solidFill>
              </a:rPr>
              <a:t>, </a:t>
            </a:r>
            <a:r>
              <a:rPr sz="1500" b="0" dirty="0" err="1">
                <a:solidFill>
                  <a:srgbClr val="1E293B"/>
                </a:solidFill>
              </a:rPr>
              <a:t>created_at</a:t>
            </a:r>
            <a:r>
              <a:rPr sz="1500" b="0" dirty="0">
                <a:solidFill>
                  <a:srgbClr val="1E293B"/>
                </a:solidFill>
              </a:rPr>
              <a:t>.</a:t>
            </a:r>
          </a:p>
          <a:p>
            <a:pPr>
              <a:spcBef>
                <a:spcPts val="700"/>
              </a:spcBef>
              <a:defRPr sz="1050">
                <a:latin typeface="Calibri"/>
              </a:defRPr>
            </a:pPr>
            <a:r>
              <a:rPr sz="1500" b="1" dirty="0">
                <a:solidFill>
                  <a:srgbClr val="1E3A5F"/>
                </a:solidFill>
              </a:rPr>
              <a:t>• </a:t>
            </a:r>
            <a:r>
              <a:rPr sz="1500" b="1" dirty="0" err="1">
                <a:solidFill>
                  <a:srgbClr val="1E3A5F"/>
                </a:solidFill>
              </a:rPr>
              <a:t>order_items</a:t>
            </a:r>
            <a:r>
              <a:rPr sz="1500" b="1" dirty="0">
                <a:solidFill>
                  <a:srgbClr val="1E3A5F"/>
                </a:solidFill>
              </a:rPr>
              <a:t>: </a:t>
            </a:r>
            <a:r>
              <a:rPr sz="1500" b="0" dirty="0">
                <a:solidFill>
                  <a:srgbClr val="1E293B"/>
                </a:solidFill>
              </a:rPr>
              <a:t>PK: </a:t>
            </a:r>
            <a:r>
              <a:rPr sz="1500" b="0" dirty="0" err="1">
                <a:solidFill>
                  <a:srgbClr val="1E293B"/>
                </a:solidFill>
              </a:rPr>
              <a:t>item_id</a:t>
            </a:r>
            <a:r>
              <a:rPr sz="1500" b="0" dirty="0">
                <a:solidFill>
                  <a:srgbClr val="1E293B"/>
                </a:solidFill>
              </a:rPr>
              <a:t>
FK: </a:t>
            </a:r>
            <a:r>
              <a:rPr sz="1500" b="0" dirty="0" err="1">
                <a:solidFill>
                  <a:srgbClr val="1E293B"/>
                </a:solidFill>
              </a:rPr>
              <a:t>order_id</a:t>
            </a:r>
            <a:r>
              <a:rPr sz="1500" b="0" dirty="0">
                <a:solidFill>
                  <a:srgbClr val="1E293B"/>
                </a:solidFill>
              </a:rPr>
              <a:t> -&gt; orders
FK: </a:t>
            </a:r>
            <a:r>
              <a:rPr sz="1500" b="0" dirty="0" err="1">
                <a:solidFill>
                  <a:srgbClr val="1E293B"/>
                </a:solidFill>
              </a:rPr>
              <a:t>product_id</a:t>
            </a:r>
            <a:r>
              <a:rPr sz="1500" b="0" dirty="0">
                <a:solidFill>
                  <a:srgbClr val="1E293B"/>
                </a:solidFill>
              </a:rPr>
              <a:t> -&gt; products
Fields: quantity, </a:t>
            </a:r>
            <a:r>
              <a:rPr sz="1500" b="0" dirty="0" err="1">
                <a:solidFill>
                  <a:srgbClr val="1E293B"/>
                </a:solidFill>
              </a:rPr>
              <a:t>unit_price</a:t>
            </a:r>
            <a:r>
              <a:rPr sz="1500" b="0" dirty="0">
                <a:solidFill>
                  <a:srgbClr val="1E293B"/>
                </a:solidFill>
              </a:rPr>
              <a:t>, subtotal.</a:t>
            </a:r>
          </a:p>
          <a:p>
            <a:pPr>
              <a:spcBef>
                <a:spcPts val="700"/>
              </a:spcBef>
              <a:defRPr sz="1050">
                <a:latin typeface="Calibri"/>
              </a:defRPr>
            </a:pPr>
            <a:r>
              <a:rPr sz="1500" b="1" dirty="0">
                <a:solidFill>
                  <a:srgbClr val="1E3A5F"/>
                </a:solidFill>
              </a:rPr>
              <a:t>• cart: </a:t>
            </a:r>
            <a:r>
              <a:rPr sz="1500" b="0" dirty="0">
                <a:solidFill>
                  <a:srgbClr val="1E293B"/>
                </a:solidFill>
              </a:rPr>
              <a:t>PK: </a:t>
            </a:r>
            <a:r>
              <a:rPr sz="1500" b="0" dirty="0" err="1">
                <a:solidFill>
                  <a:srgbClr val="1E293B"/>
                </a:solidFill>
              </a:rPr>
              <a:t>cart_id</a:t>
            </a:r>
            <a:r>
              <a:rPr sz="1500" b="0" dirty="0">
                <a:solidFill>
                  <a:srgbClr val="1E293B"/>
                </a:solidFill>
              </a:rPr>
              <a:t>
FK: </a:t>
            </a:r>
            <a:r>
              <a:rPr sz="1500" b="0" dirty="0" err="1">
                <a:solidFill>
                  <a:srgbClr val="1E293B"/>
                </a:solidFill>
              </a:rPr>
              <a:t>user_id</a:t>
            </a:r>
            <a:r>
              <a:rPr sz="1500" b="0" dirty="0">
                <a:solidFill>
                  <a:srgbClr val="1E293B"/>
                </a:solidFill>
              </a:rPr>
              <a:t>, </a:t>
            </a:r>
            <a:r>
              <a:rPr sz="1500" b="0" dirty="0" err="1">
                <a:solidFill>
                  <a:srgbClr val="1E293B"/>
                </a:solidFill>
              </a:rPr>
              <a:t>product_id</a:t>
            </a:r>
            <a:r>
              <a:rPr sz="1500" b="0" dirty="0">
                <a:solidFill>
                  <a:srgbClr val="1E293B"/>
                </a:solidFill>
              </a:rPr>
              <a:t>
Fields: quantity, </a:t>
            </a:r>
            <a:r>
              <a:rPr sz="1500" b="0" dirty="0" err="1">
                <a:solidFill>
                  <a:srgbClr val="1E293B"/>
                </a:solidFill>
              </a:rPr>
              <a:t>added_at</a:t>
            </a:r>
            <a:r>
              <a:rPr sz="1500" b="0" dirty="0">
                <a:solidFill>
                  <a:srgbClr val="1E293B"/>
                </a:solidFill>
              </a:rPr>
              <a:t>.</a:t>
            </a:r>
          </a:p>
          <a:p>
            <a:pPr>
              <a:spcBef>
                <a:spcPts val="700"/>
              </a:spcBef>
              <a:defRPr sz="1050">
                <a:latin typeface="Calibri"/>
              </a:defRPr>
            </a:pPr>
            <a:r>
              <a:rPr sz="1500" b="1" dirty="0">
                <a:solidFill>
                  <a:srgbClr val="1E3A5F"/>
                </a:solidFill>
              </a:rPr>
              <a:t>• coupons: </a:t>
            </a:r>
            <a:r>
              <a:rPr sz="1500" b="0" dirty="0">
                <a:solidFill>
                  <a:srgbClr val="1E293B"/>
                </a:solidFill>
              </a:rPr>
              <a:t>PK: </a:t>
            </a:r>
            <a:r>
              <a:rPr sz="1500" b="0" dirty="0" err="1">
                <a:solidFill>
                  <a:srgbClr val="1E293B"/>
                </a:solidFill>
              </a:rPr>
              <a:t>coupon_id</a:t>
            </a:r>
            <a:r>
              <a:rPr sz="1500" b="0" dirty="0">
                <a:solidFill>
                  <a:srgbClr val="1E293B"/>
                </a:solidFill>
              </a:rPr>
              <a:t>
Fields: code, </a:t>
            </a:r>
            <a:r>
              <a:rPr sz="1500" b="0" dirty="0" err="1">
                <a:solidFill>
                  <a:srgbClr val="1E293B"/>
                </a:solidFill>
              </a:rPr>
              <a:t>discount_percent</a:t>
            </a:r>
            <a:r>
              <a:rPr sz="1500" b="0" dirty="0">
                <a:solidFill>
                  <a:srgbClr val="1E293B"/>
                </a:solidFill>
              </a:rPr>
              <a:t>, </a:t>
            </a:r>
            <a:r>
              <a:rPr sz="1500" b="0" dirty="0" err="1">
                <a:solidFill>
                  <a:srgbClr val="1E293B"/>
                </a:solidFill>
              </a:rPr>
              <a:t>is_active</a:t>
            </a:r>
            <a:r>
              <a:rPr sz="1500" b="0" dirty="0">
                <a:solidFill>
                  <a:srgbClr val="1E293B"/>
                </a:solidFill>
              </a:rPr>
              <a:t>.</a:t>
            </a:r>
          </a:p>
        </p:txBody>
      </p:sp>
      <p:sp>
        <p:nvSpPr>
          <p:cNvPr id="10" name="Rounded Rectangle 9"/>
          <p:cNvSpPr/>
          <p:nvPr/>
        </p:nvSpPr>
        <p:spPr>
          <a:xfrm>
            <a:off x="8046720" y="1371600"/>
            <a:ext cx="33832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536192"/>
            <a:ext cx="2926080" cy="230832"/>
          </a:xfrm>
          <a:prstGeom prst="rect">
            <a:avLst/>
          </a:prstGeom>
          <a:noFill/>
        </p:spPr>
        <p:txBody>
          <a:bodyPr wrap="square" lIns="0" tIns="0" rIns="0" bIns="0">
            <a:spAutoFit/>
          </a:bodyPr>
          <a:lstStyle/>
          <a:p>
            <a:pPr algn="ctr">
              <a:defRPr sz="1300" b="1">
                <a:solidFill>
                  <a:srgbClr val="0F1F38"/>
                </a:solidFill>
                <a:latin typeface="Calibri"/>
              </a:defRPr>
            </a:pPr>
            <a:r>
              <a:rPr sz="1500" dirty="0"/>
              <a:t>User &amp; Audit Entities</a:t>
            </a:r>
          </a:p>
        </p:txBody>
      </p:sp>
      <p:sp>
        <p:nvSpPr>
          <p:cNvPr id="12" name="TextBox 11"/>
          <p:cNvSpPr txBox="1"/>
          <p:nvPr/>
        </p:nvSpPr>
        <p:spPr>
          <a:xfrm>
            <a:off x="8275320" y="1920240"/>
            <a:ext cx="2926080" cy="4321696"/>
          </a:xfrm>
          <a:prstGeom prst="rect">
            <a:avLst/>
          </a:prstGeom>
          <a:noFill/>
        </p:spPr>
        <p:txBody>
          <a:bodyPr wrap="square" lIns="0" tIns="0" rIns="0" bIns="0">
            <a:spAutoFit/>
          </a:bodyPr>
          <a:lstStyle/>
          <a:p>
            <a:pPr>
              <a:defRPr sz="1050">
                <a:latin typeface="Calibri"/>
              </a:defRPr>
            </a:pPr>
            <a:r>
              <a:rPr sz="1500" b="1" dirty="0">
                <a:solidFill>
                  <a:srgbClr val="1E3A5F"/>
                </a:solidFill>
              </a:rPr>
              <a:t>• users: </a:t>
            </a:r>
            <a:r>
              <a:rPr sz="1500" b="0" dirty="0">
                <a:solidFill>
                  <a:srgbClr val="1E293B"/>
                </a:solidFill>
              </a:rPr>
              <a:t>PK: </a:t>
            </a:r>
            <a:r>
              <a:rPr sz="1500" b="0" dirty="0" err="1">
                <a:solidFill>
                  <a:srgbClr val="1E293B"/>
                </a:solidFill>
              </a:rPr>
              <a:t>user_id</a:t>
            </a:r>
            <a:r>
              <a:rPr sz="1500" b="0" dirty="0">
                <a:solidFill>
                  <a:srgbClr val="1E293B"/>
                </a:solidFill>
              </a:rPr>
              <a:t>
Fields: name, email, </a:t>
            </a:r>
            <a:r>
              <a:rPr sz="1500" b="0" dirty="0" err="1">
                <a:solidFill>
                  <a:srgbClr val="1E293B"/>
                </a:solidFill>
              </a:rPr>
              <a:t>password_hash</a:t>
            </a:r>
            <a:r>
              <a:rPr sz="1500" b="0" dirty="0">
                <a:solidFill>
                  <a:srgbClr val="1E293B"/>
                </a:solidFill>
              </a:rPr>
              <a:t>, role (admin/customer), phone, </a:t>
            </a:r>
            <a:r>
              <a:rPr sz="1500" b="0" dirty="0" err="1">
                <a:solidFill>
                  <a:srgbClr val="1E293B"/>
                </a:solidFill>
              </a:rPr>
              <a:t>created_at</a:t>
            </a:r>
            <a:r>
              <a:rPr sz="1500" b="0" dirty="0">
                <a:solidFill>
                  <a:srgbClr val="1E293B"/>
                </a:solidFill>
              </a:rPr>
              <a:t>.</a:t>
            </a:r>
          </a:p>
          <a:p>
            <a:pPr>
              <a:spcBef>
                <a:spcPts val="700"/>
              </a:spcBef>
              <a:defRPr sz="1050">
                <a:latin typeface="Calibri"/>
              </a:defRPr>
            </a:pPr>
            <a:r>
              <a:rPr sz="1500" b="1" dirty="0">
                <a:solidFill>
                  <a:srgbClr val="1E3A5F"/>
                </a:solidFill>
              </a:rPr>
              <a:t>• </a:t>
            </a:r>
            <a:r>
              <a:rPr sz="1500" b="1" dirty="0" err="1">
                <a:solidFill>
                  <a:srgbClr val="1E3A5F"/>
                </a:solidFill>
              </a:rPr>
              <a:t>wishlist</a:t>
            </a:r>
            <a:r>
              <a:rPr sz="1500" b="1" dirty="0">
                <a:solidFill>
                  <a:srgbClr val="1E3A5F"/>
                </a:solidFill>
              </a:rPr>
              <a:t>: </a:t>
            </a:r>
            <a:r>
              <a:rPr sz="1500" b="0" dirty="0">
                <a:solidFill>
                  <a:srgbClr val="1E293B"/>
                </a:solidFill>
              </a:rPr>
              <a:t>PK: </a:t>
            </a:r>
            <a:r>
              <a:rPr sz="1500" b="0" dirty="0" err="1">
                <a:solidFill>
                  <a:srgbClr val="1E293B"/>
                </a:solidFill>
              </a:rPr>
              <a:t>wishlist_id</a:t>
            </a:r>
            <a:r>
              <a:rPr sz="1500" b="0" dirty="0">
                <a:solidFill>
                  <a:srgbClr val="1E293B"/>
                </a:solidFill>
              </a:rPr>
              <a:t>
FK: </a:t>
            </a:r>
            <a:r>
              <a:rPr sz="1500" b="0" dirty="0" err="1">
                <a:solidFill>
                  <a:srgbClr val="1E293B"/>
                </a:solidFill>
              </a:rPr>
              <a:t>user_id</a:t>
            </a:r>
            <a:r>
              <a:rPr sz="1500" b="0" dirty="0">
                <a:solidFill>
                  <a:srgbClr val="1E293B"/>
                </a:solidFill>
              </a:rPr>
              <a:t>, </a:t>
            </a:r>
            <a:r>
              <a:rPr sz="1500" b="0" dirty="0" err="1">
                <a:solidFill>
                  <a:srgbClr val="1E293B"/>
                </a:solidFill>
              </a:rPr>
              <a:t>product_id</a:t>
            </a:r>
            <a:r>
              <a:rPr sz="1500" b="0" dirty="0">
                <a:solidFill>
                  <a:srgbClr val="1E293B"/>
                </a:solidFill>
              </a:rPr>
              <a:t>
Personal saved items.</a:t>
            </a:r>
          </a:p>
          <a:p>
            <a:pPr>
              <a:spcBef>
                <a:spcPts val="700"/>
              </a:spcBef>
              <a:defRPr sz="1050">
                <a:latin typeface="Calibri"/>
              </a:defRPr>
            </a:pPr>
            <a:r>
              <a:rPr sz="1500" b="1" dirty="0">
                <a:solidFill>
                  <a:srgbClr val="1E3A5F"/>
                </a:solidFill>
              </a:rPr>
              <a:t>• reviews &amp; </a:t>
            </a:r>
            <a:r>
              <a:rPr sz="1500" b="1" dirty="0" err="1">
                <a:solidFill>
                  <a:srgbClr val="1E3A5F"/>
                </a:solidFill>
              </a:rPr>
              <a:t>review_media</a:t>
            </a:r>
            <a:r>
              <a:rPr sz="1500" b="1" dirty="0">
                <a:solidFill>
                  <a:srgbClr val="1E3A5F"/>
                </a:solidFill>
              </a:rPr>
              <a:t>: </a:t>
            </a:r>
            <a:r>
              <a:rPr sz="1500" b="0" dirty="0">
                <a:solidFill>
                  <a:srgbClr val="1E293B"/>
                </a:solidFill>
              </a:rPr>
              <a:t>Customer ratings &amp; uploaded repair photos.</a:t>
            </a:r>
          </a:p>
          <a:p>
            <a:pPr>
              <a:spcBef>
                <a:spcPts val="700"/>
              </a:spcBef>
              <a:defRPr sz="1050">
                <a:latin typeface="Calibri"/>
              </a:defRPr>
            </a:pPr>
            <a:r>
              <a:rPr sz="1500" b="1" dirty="0">
                <a:solidFill>
                  <a:srgbClr val="1E3A5F"/>
                </a:solidFill>
              </a:rPr>
              <a:t>• </a:t>
            </a:r>
            <a:r>
              <a:rPr sz="1500" b="1" dirty="0" err="1">
                <a:solidFill>
                  <a:srgbClr val="1E3A5F"/>
                </a:solidFill>
              </a:rPr>
              <a:t>contact_messages</a:t>
            </a:r>
            <a:r>
              <a:rPr sz="1500" b="1" dirty="0">
                <a:solidFill>
                  <a:srgbClr val="1E3A5F"/>
                </a:solidFill>
              </a:rPr>
              <a:t>: </a:t>
            </a:r>
            <a:r>
              <a:rPr sz="1500" b="0" dirty="0">
                <a:solidFill>
                  <a:srgbClr val="1E293B"/>
                </a:solidFill>
              </a:rPr>
              <a:t>Customer inquiries and fitment consultation queries.</a:t>
            </a:r>
          </a:p>
          <a:p>
            <a:pPr>
              <a:spcBef>
                <a:spcPts val="700"/>
              </a:spcBef>
              <a:defRPr sz="1050">
                <a:latin typeface="Calibri"/>
              </a:defRPr>
            </a:pPr>
            <a:r>
              <a:rPr sz="1500" b="1" dirty="0">
                <a:solidFill>
                  <a:srgbClr val="1E3A5F"/>
                </a:solidFill>
              </a:rPr>
              <a:t>• </a:t>
            </a:r>
            <a:r>
              <a:rPr sz="1500" b="1" dirty="0" err="1">
                <a:solidFill>
                  <a:srgbClr val="1E3A5F"/>
                </a:solidFill>
              </a:rPr>
              <a:t>system_logs</a:t>
            </a:r>
            <a:r>
              <a:rPr sz="1500" b="1" dirty="0">
                <a:solidFill>
                  <a:srgbClr val="1E3A5F"/>
                </a:solidFill>
              </a:rPr>
              <a:t>: </a:t>
            </a:r>
            <a:r>
              <a:rPr sz="1500" b="0" dirty="0">
                <a:solidFill>
                  <a:srgbClr val="1E293B"/>
                </a:solidFill>
              </a:rPr>
              <a:t>PK: </a:t>
            </a:r>
            <a:r>
              <a:rPr sz="1500" b="0" dirty="0" err="1">
                <a:solidFill>
                  <a:srgbClr val="1E293B"/>
                </a:solidFill>
              </a:rPr>
              <a:t>log_id</a:t>
            </a:r>
            <a:r>
              <a:rPr sz="1500" b="0" dirty="0">
                <a:solidFill>
                  <a:srgbClr val="1E293B"/>
                </a:solidFill>
              </a:rPr>
              <a:t>
Fields: action, user, timestamp, details.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733534"/>
          </a:xfrm>
          <a:prstGeom prst="rect">
            <a:avLst/>
          </a:prstGeom>
          <a:noFill/>
        </p:spPr>
        <p:txBody>
          <a:bodyPr wrap="square" lIns="0" tIns="0" rIns="0" bIns="0">
            <a:spAutoFit/>
          </a:bodyPr>
          <a:lstStyle/>
          <a:p>
            <a:pPr>
              <a:defRPr sz="1000" b="1">
                <a:solidFill>
                  <a:srgbClr val="D32F2F"/>
                </a:solidFill>
                <a:latin typeface="Calibri"/>
              </a:defRPr>
            </a:pPr>
            <a:r>
              <a:rPr dirty="0"/>
              <a:t>CORE OPERATIONS</a:t>
            </a:r>
          </a:p>
          <a:p>
            <a:pPr>
              <a:spcBef>
                <a:spcPts val="200"/>
              </a:spcBef>
              <a:defRPr sz="2100" b="1">
                <a:solidFill>
                  <a:srgbClr val="0F1F38"/>
                </a:solidFill>
                <a:latin typeface="Calibri"/>
              </a:defRPr>
            </a:pPr>
            <a:r>
              <a:rPr sz="3600" dirty="0">
                <a:solidFill>
                  <a:schemeClr val="accent6">
                    <a:lumMod val="50000"/>
                  </a:schemeClr>
                </a:solidFill>
              </a:rPr>
              <a:t>CRUD Operations in Automobile Inventory Management</a:t>
            </a:r>
          </a:p>
        </p:txBody>
      </p:sp>
      <p:sp>
        <p:nvSpPr>
          <p:cNvPr id="4" name="Rounded Rectangle 3"/>
          <p:cNvSpPr/>
          <p:nvPr/>
        </p:nvSpPr>
        <p:spPr>
          <a:xfrm>
            <a:off x="731520" y="1371600"/>
            <a:ext cx="521208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92634" y="1450214"/>
            <a:ext cx="4754880" cy="246221"/>
          </a:xfrm>
          <a:prstGeom prst="rect">
            <a:avLst/>
          </a:prstGeom>
          <a:noFill/>
        </p:spPr>
        <p:txBody>
          <a:bodyPr wrap="square" lIns="0" tIns="0" rIns="0" bIns="0">
            <a:spAutoFit/>
          </a:bodyPr>
          <a:lstStyle/>
          <a:p>
            <a:pPr>
              <a:defRPr sz="1300" b="1">
                <a:solidFill>
                  <a:srgbClr val="0F1F38"/>
                </a:solidFill>
                <a:latin typeface="Calibri"/>
              </a:defRPr>
            </a:pPr>
            <a:r>
              <a:rPr sz="1600" dirty="0">
                <a:solidFill>
                  <a:schemeClr val="accent5">
                    <a:lumMod val="50000"/>
                  </a:schemeClr>
                </a:solidFill>
              </a:rPr>
              <a:t>CREATE (Insert Record)</a:t>
            </a:r>
          </a:p>
        </p:txBody>
      </p:sp>
      <p:sp>
        <p:nvSpPr>
          <p:cNvPr id="6" name="TextBox 5"/>
          <p:cNvSpPr txBox="1"/>
          <p:nvPr/>
        </p:nvSpPr>
        <p:spPr>
          <a:xfrm>
            <a:off x="960120" y="1920240"/>
            <a:ext cx="4754880" cy="1903085"/>
          </a:xfrm>
          <a:prstGeom prst="rect">
            <a:avLst/>
          </a:prstGeom>
          <a:noFill/>
        </p:spPr>
        <p:txBody>
          <a:bodyPr wrap="square" lIns="0" tIns="0" rIns="0" bIns="0">
            <a:spAutoFit/>
          </a:bodyPr>
          <a:lstStyle/>
          <a:p>
            <a:pPr>
              <a:defRPr sz="1050">
                <a:latin typeface="Calibri"/>
              </a:defRPr>
            </a:pPr>
            <a:r>
              <a:rPr sz="1600" b="1" dirty="0">
                <a:solidFill>
                  <a:srgbClr val="1E3A5F"/>
                </a:solidFill>
              </a:rPr>
              <a:t>• Admin Inventory: </a:t>
            </a:r>
            <a:r>
              <a:rPr sz="1600" b="0" dirty="0">
                <a:solidFill>
                  <a:srgbClr val="1E293B"/>
                </a:solidFill>
              </a:rPr>
              <a:t>Adding a new spare part into the catalog with part number, brand, price, and category.</a:t>
            </a:r>
          </a:p>
          <a:p>
            <a:pPr>
              <a:spcBef>
                <a:spcPts val="700"/>
              </a:spcBef>
              <a:defRPr sz="1050">
                <a:latin typeface="Calibri"/>
              </a:defRPr>
            </a:pPr>
            <a:r>
              <a:rPr sz="1600" b="1" dirty="0">
                <a:solidFill>
                  <a:srgbClr val="1E3A5F"/>
                </a:solidFill>
              </a:rPr>
              <a:t>• Customer Order: </a:t>
            </a:r>
            <a:r>
              <a:rPr sz="1600" b="0" dirty="0">
                <a:solidFill>
                  <a:srgbClr val="1E293B"/>
                </a:solidFill>
              </a:rPr>
              <a:t>Inserting a new order header into 'orders' and line items into '</a:t>
            </a:r>
            <a:r>
              <a:rPr sz="1600" b="0" dirty="0" err="1">
                <a:solidFill>
                  <a:srgbClr val="1E293B"/>
                </a:solidFill>
              </a:rPr>
              <a:t>order_items</a:t>
            </a:r>
            <a:r>
              <a:rPr sz="1600" b="0" dirty="0">
                <a:solidFill>
                  <a:srgbClr val="1E293B"/>
                </a:solidFill>
              </a:rPr>
              <a:t>'.</a:t>
            </a:r>
          </a:p>
          <a:p>
            <a:pPr>
              <a:spcBef>
                <a:spcPts val="700"/>
              </a:spcBef>
              <a:defRPr sz="1050">
                <a:latin typeface="Calibri"/>
              </a:defRPr>
            </a:pPr>
            <a:r>
              <a:rPr sz="1600" b="1" dirty="0">
                <a:solidFill>
                  <a:srgbClr val="1E3A5F"/>
                </a:solidFill>
              </a:rPr>
              <a:t>• SQL Implementation: </a:t>
            </a:r>
            <a:r>
              <a:rPr sz="1600" b="0" dirty="0">
                <a:solidFill>
                  <a:srgbClr val="1E293B"/>
                </a:solidFill>
              </a:rPr>
              <a:t>INSERT INTO products (name, </a:t>
            </a:r>
            <a:r>
              <a:rPr sz="1600" b="0" dirty="0" err="1">
                <a:solidFill>
                  <a:srgbClr val="1E293B"/>
                </a:solidFill>
              </a:rPr>
              <a:t>category_id</a:t>
            </a:r>
            <a:r>
              <a:rPr sz="1600" b="0" dirty="0">
                <a:solidFill>
                  <a:srgbClr val="1E293B"/>
                </a:solidFill>
              </a:rPr>
              <a:t>, brand, price, </a:t>
            </a:r>
            <a:r>
              <a:rPr sz="1600" b="0" dirty="0" err="1">
                <a:solidFill>
                  <a:srgbClr val="1E293B"/>
                </a:solidFill>
              </a:rPr>
              <a:t>stock_quantity</a:t>
            </a:r>
            <a:r>
              <a:rPr sz="1600" b="0" dirty="0">
                <a:solidFill>
                  <a:srgbClr val="1E293B"/>
                </a:solidFill>
              </a:rPr>
              <a:t>) VALUES (%s, %s, %s, %s, %s);</a:t>
            </a:r>
          </a:p>
        </p:txBody>
      </p:sp>
      <p:sp>
        <p:nvSpPr>
          <p:cNvPr id="7" name="Rounded Rectangle 6"/>
          <p:cNvSpPr/>
          <p:nvPr/>
        </p:nvSpPr>
        <p:spPr>
          <a:xfrm>
            <a:off x="6217920" y="1371600"/>
            <a:ext cx="521208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11135" y="1443238"/>
            <a:ext cx="4754880" cy="246221"/>
          </a:xfrm>
          <a:prstGeom prst="rect">
            <a:avLst/>
          </a:prstGeom>
          <a:noFill/>
        </p:spPr>
        <p:txBody>
          <a:bodyPr wrap="square" lIns="0" tIns="0" rIns="0" bIns="0">
            <a:spAutoFit/>
          </a:bodyPr>
          <a:lstStyle/>
          <a:p>
            <a:pPr>
              <a:defRPr sz="1300" b="1">
                <a:solidFill>
                  <a:srgbClr val="0F1F38"/>
                </a:solidFill>
                <a:latin typeface="Calibri"/>
              </a:defRPr>
            </a:pPr>
            <a:r>
              <a:rPr sz="1600" dirty="0">
                <a:solidFill>
                  <a:schemeClr val="accent5">
                    <a:lumMod val="50000"/>
                  </a:schemeClr>
                </a:solidFill>
              </a:rPr>
              <a:t>READ (Query &amp; Filter)</a:t>
            </a:r>
          </a:p>
        </p:txBody>
      </p:sp>
      <p:sp>
        <p:nvSpPr>
          <p:cNvPr id="9" name="TextBox 8"/>
          <p:cNvSpPr txBox="1"/>
          <p:nvPr/>
        </p:nvSpPr>
        <p:spPr>
          <a:xfrm>
            <a:off x="6477000" y="1785869"/>
            <a:ext cx="4754880" cy="1903085"/>
          </a:xfrm>
          <a:prstGeom prst="rect">
            <a:avLst/>
          </a:prstGeom>
          <a:noFill/>
        </p:spPr>
        <p:txBody>
          <a:bodyPr wrap="square" lIns="0" tIns="0" rIns="0" bIns="0">
            <a:spAutoFit/>
          </a:bodyPr>
          <a:lstStyle/>
          <a:p>
            <a:pPr>
              <a:defRPr sz="1050">
                <a:latin typeface="Calibri"/>
              </a:defRPr>
            </a:pPr>
            <a:r>
              <a:rPr sz="1600" b="1" dirty="0">
                <a:solidFill>
                  <a:srgbClr val="1E3A5F"/>
                </a:solidFill>
              </a:rPr>
              <a:t>• Vehicle Filter: </a:t>
            </a:r>
            <a:r>
              <a:rPr sz="1600" b="0" dirty="0">
                <a:solidFill>
                  <a:srgbClr val="1E293B"/>
                </a:solidFill>
              </a:rPr>
              <a:t>Fetching parts compatible with a user's bike (e.g. Hero Splendor Plus or Bajaj Pulsar).</a:t>
            </a:r>
          </a:p>
          <a:p>
            <a:pPr>
              <a:spcBef>
                <a:spcPts val="700"/>
              </a:spcBef>
              <a:defRPr sz="1050">
                <a:latin typeface="Calibri"/>
              </a:defRPr>
            </a:pPr>
            <a:r>
              <a:rPr sz="1600" b="1" dirty="0">
                <a:solidFill>
                  <a:srgbClr val="1E3A5F"/>
                </a:solidFill>
              </a:rPr>
              <a:t>• Catalog Search: </a:t>
            </a:r>
            <a:r>
              <a:rPr sz="1600" b="0" dirty="0">
                <a:solidFill>
                  <a:srgbClr val="1E293B"/>
                </a:solidFill>
              </a:rPr>
              <a:t>Multi-parameter filtering by search keyword, category, price range, and in-stock status.</a:t>
            </a:r>
          </a:p>
          <a:p>
            <a:pPr>
              <a:spcBef>
                <a:spcPts val="700"/>
              </a:spcBef>
              <a:defRPr sz="1050">
                <a:latin typeface="Calibri"/>
              </a:defRPr>
            </a:pPr>
            <a:r>
              <a:rPr sz="1600" b="1" dirty="0">
                <a:solidFill>
                  <a:srgbClr val="1E3A5F"/>
                </a:solidFill>
              </a:rPr>
              <a:t>• SQL Implementation: </a:t>
            </a:r>
            <a:r>
              <a:rPr sz="1600" b="0" dirty="0">
                <a:solidFill>
                  <a:srgbClr val="1E293B"/>
                </a:solidFill>
              </a:rPr>
              <a:t>SELECT p.* FROM products p JOIN </a:t>
            </a:r>
            <a:r>
              <a:rPr sz="1600" b="0" dirty="0" err="1">
                <a:solidFill>
                  <a:srgbClr val="1E293B"/>
                </a:solidFill>
              </a:rPr>
              <a:t>product_compatibility</a:t>
            </a:r>
            <a:r>
              <a:rPr sz="1600" b="0" dirty="0">
                <a:solidFill>
                  <a:srgbClr val="1E293B"/>
                </a:solidFill>
              </a:rPr>
              <a:t> pc ON </a:t>
            </a:r>
            <a:r>
              <a:rPr sz="1600" b="0" dirty="0" err="1">
                <a:solidFill>
                  <a:srgbClr val="1E293B"/>
                </a:solidFill>
              </a:rPr>
              <a:t>p.product_id</a:t>
            </a:r>
            <a:r>
              <a:rPr sz="1600" b="0" dirty="0">
                <a:solidFill>
                  <a:srgbClr val="1E293B"/>
                </a:solidFill>
              </a:rPr>
              <a:t> = </a:t>
            </a:r>
            <a:r>
              <a:rPr sz="1600" b="0" dirty="0" err="1">
                <a:solidFill>
                  <a:srgbClr val="1E293B"/>
                </a:solidFill>
              </a:rPr>
              <a:t>pc.product_id</a:t>
            </a:r>
            <a:r>
              <a:rPr sz="1600" b="0" dirty="0">
                <a:solidFill>
                  <a:srgbClr val="1E293B"/>
                </a:solidFill>
              </a:rPr>
              <a:t> WHERE </a:t>
            </a:r>
            <a:r>
              <a:rPr sz="1600" b="0" dirty="0" err="1">
                <a:solidFill>
                  <a:srgbClr val="1E293B"/>
                </a:solidFill>
              </a:rPr>
              <a:t>pc.vehicle_model</a:t>
            </a:r>
            <a:r>
              <a:rPr sz="1600" b="0" dirty="0">
                <a:solidFill>
                  <a:srgbClr val="1E293B"/>
                </a:solidFill>
              </a:rPr>
              <a:t> = %s;</a:t>
            </a:r>
          </a:p>
        </p:txBody>
      </p:sp>
      <p:sp>
        <p:nvSpPr>
          <p:cNvPr id="10" name="Rounded Rectangle 9"/>
          <p:cNvSpPr/>
          <p:nvPr/>
        </p:nvSpPr>
        <p:spPr>
          <a:xfrm>
            <a:off x="731520" y="3931920"/>
            <a:ext cx="521208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35246" y="4053720"/>
            <a:ext cx="4754880" cy="246221"/>
          </a:xfrm>
          <a:prstGeom prst="rect">
            <a:avLst/>
          </a:prstGeom>
          <a:noFill/>
        </p:spPr>
        <p:txBody>
          <a:bodyPr wrap="square" lIns="0" tIns="0" rIns="0" bIns="0">
            <a:spAutoFit/>
          </a:bodyPr>
          <a:lstStyle/>
          <a:p>
            <a:pPr>
              <a:defRPr sz="1300" b="1">
                <a:solidFill>
                  <a:srgbClr val="0F1F38"/>
                </a:solidFill>
                <a:latin typeface="Calibri"/>
              </a:defRPr>
            </a:pPr>
            <a:r>
              <a:rPr sz="1600" dirty="0">
                <a:solidFill>
                  <a:schemeClr val="accent5">
                    <a:lumMod val="50000"/>
                  </a:schemeClr>
                </a:solidFill>
              </a:rPr>
              <a:t>UPDATE (Modify Record)</a:t>
            </a:r>
          </a:p>
        </p:txBody>
      </p:sp>
      <p:sp>
        <p:nvSpPr>
          <p:cNvPr id="12" name="TextBox 11"/>
          <p:cNvSpPr txBox="1"/>
          <p:nvPr/>
        </p:nvSpPr>
        <p:spPr>
          <a:xfrm>
            <a:off x="960120" y="4480559"/>
            <a:ext cx="4754880" cy="1737360"/>
          </a:xfrm>
          <a:prstGeom prst="rect">
            <a:avLst/>
          </a:prstGeom>
          <a:noFill/>
        </p:spPr>
        <p:txBody>
          <a:bodyPr wrap="square" lIns="0" tIns="0" rIns="0" bIns="0">
            <a:spAutoFit/>
          </a:bodyPr>
          <a:lstStyle/>
          <a:p>
            <a:pPr>
              <a:defRPr sz="1050">
                <a:latin typeface="Calibri"/>
              </a:defRPr>
            </a:pPr>
            <a:r>
              <a:rPr sz="1400" b="1" dirty="0">
                <a:solidFill>
                  <a:srgbClr val="1E3A5F"/>
                </a:solidFill>
              </a:rPr>
              <a:t>• Stock Adjustment: </a:t>
            </a:r>
            <a:r>
              <a:rPr sz="1400" b="0" dirty="0">
                <a:solidFill>
                  <a:srgbClr val="1E293B"/>
                </a:solidFill>
              </a:rPr>
              <a:t>Decrementing available </a:t>
            </a:r>
            <a:r>
              <a:rPr sz="1400" b="0" dirty="0" err="1">
                <a:solidFill>
                  <a:srgbClr val="1E293B"/>
                </a:solidFill>
              </a:rPr>
              <a:t>stock_quantity</a:t>
            </a:r>
            <a:r>
              <a:rPr sz="1400" b="0" dirty="0">
                <a:solidFill>
                  <a:srgbClr val="1E293B"/>
                </a:solidFill>
              </a:rPr>
              <a:t> upon completed order placement.</a:t>
            </a:r>
          </a:p>
          <a:p>
            <a:pPr>
              <a:spcBef>
                <a:spcPts val="700"/>
              </a:spcBef>
              <a:defRPr sz="1050">
                <a:latin typeface="Calibri"/>
              </a:defRPr>
            </a:pPr>
            <a:r>
              <a:rPr sz="1400" b="1" dirty="0">
                <a:solidFill>
                  <a:srgbClr val="1E3A5F"/>
                </a:solidFill>
              </a:rPr>
              <a:t>• Order Status: </a:t>
            </a:r>
            <a:r>
              <a:rPr sz="1400" b="0" dirty="0">
                <a:solidFill>
                  <a:srgbClr val="1E293B"/>
                </a:solidFill>
              </a:rPr>
              <a:t>Admin advancing fulfillment: Pending -&gt; Confirmed -&gt; Shipped -&gt; Delivered.</a:t>
            </a:r>
          </a:p>
          <a:p>
            <a:pPr>
              <a:spcBef>
                <a:spcPts val="700"/>
              </a:spcBef>
              <a:defRPr sz="1050">
                <a:latin typeface="Calibri"/>
              </a:defRPr>
            </a:pPr>
            <a:r>
              <a:rPr sz="1400" b="1" dirty="0">
                <a:solidFill>
                  <a:srgbClr val="1E3A5F"/>
                </a:solidFill>
              </a:rPr>
              <a:t>• SQL Implementation: </a:t>
            </a:r>
            <a:r>
              <a:rPr sz="1400" b="0" dirty="0">
                <a:solidFill>
                  <a:srgbClr val="1E293B"/>
                </a:solidFill>
              </a:rPr>
              <a:t>UPDATE products SET </a:t>
            </a:r>
            <a:r>
              <a:rPr sz="1400" b="0" dirty="0" err="1">
                <a:solidFill>
                  <a:srgbClr val="1E293B"/>
                </a:solidFill>
              </a:rPr>
              <a:t>stock_quantity</a:t>
            </a:r>
            <a:r>
              <a:rPr sz="1400" b="0" dirty="0">
                <a:solidFill>
                  <a:srgbClr val="1E293B"/>
                </a:solidFill>
              </a:rPr>
              <a:t> = </a:t>
            </a:r>
            <a:r>
              <a:rPr sz="1400" b="0" dirty="0" err="1">
                <a:solidFill>
                  <a:srgbClr val="1E293B"/>
                </a:solidFill>
              </a:rPr>
              <a:t>stock_quantity</a:t>
            </a:r>
            <a:r>
              <a:rPr sz="1400" b="0" dirty="0">
                <a:solidFill>
                  <a:srgbClr val="1E293B"/>
                </a:solidFill>
              </a:rPr>
              <a:t> - %s WHERE </a:t>
            </a:r>
            <a:r>
              <a:rPr sz="1400" b="0" dirty="0" err="1">
                <a:solidFill>
                  <a:srgbClr val="1E293B"/>
                </a:solidFill>
              </a:rPr>
              <a:t>product_id</a:t>
            </a:r>
            <a:r>
              <a:rPr sz="1400" b="0" dirty="0">
                <a:solidFill>
                  <a:srgbClr val="1E293B"/>
                </a:solidFill>
              </a:rPr>
              <a:t> = %s AND </a:t>
            </a:r>
            <a:r>
              <a:rPr sz="1400" b="0" dirty="0" err="1">
                <a:solidFill>
                  <a:srgbClr val="1E293B"/>
                </a:solidFill>
              </a:rPr>
              <a:t>stock_quantity</a:t>
            </a:r>
            <a:r>
              <a:rPr sz="1400" b="0" dirty="0">
                <a:solidFill>
                  <a:srgbClr val="1E293B"/>
                </a:solidFill>
              </a:rPr>
              <a:t> &gt;= %s;</a:t>
            </a:r>
          </a:p>
        </p:txBody>
      </p:sp>
      <p:sp>
        <p:nvSpPr>
          <p:cNvPr id="13" name="Rounded Rectangle 12"/>
          <p:cNvSpPr/>
          <p:nvPr/>
        </p:nvSpPr>
        <p:spPr>
          <a:xfrm>
            <a:off x="6217920" y="3931920"/>
            <a:ext cx="5212080" cy="2423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60920" y="4090805"/>
            <a:ext cx="4754880" cy="230832"/>
          </a:xfrm>
          <a:prstGeom prst="rect">
            <a:avLst/>
          </a:prstGeom>
          <a:noFill/>
        </p:spPr>
        <p:txBody>
          <a:bodyPr wrap="square" lIns="0" tIns="0" rIns="0" bIns="0">
            <a:spAutoFit/>
          </a:bodyPr>
          <a:lstStyle/>
          <a:p>
            <a:pPr>
              <a:defRPr sz="1300" b="1">
                <a:solidFill>
                  <a:srgbClr val="0F1F38"/>
                </a:solidFill>
                <a:latin typeface="Calibri"/>
              </a:defRPr>
            </a:pPr>
            <a:r>
              <a:rPr sz="1500" dirty="0">
                <a:solidFill>
                  <a:schemeClr val="accent5">
                    <a:lumMod val="50000"/>
                  </a:schemeClr>
                </a:solidFill>
              </a:rPr>
              <a:t>DELETE (Soft Deactivation)</a:t>
            </a:r>
          </a:p>
        </p:txBody>
      </p:sp>
      <p:sp>
        <p:nvSpPr>
          <p:cNvPr id="15" name="TextBox 14"/>
          <p:cNvSpPr txBox="1"/>
          <p:nvPr/>
        </p:nvSpPr>
        <p:spPr>
          <a:xfrm>
            <a:off x="6446520" y="4480559"/>
            <a:ext cx="4754880" cy="1737360"/>
          </a:xfrm>
          <a:prstGeom prst="rect">
            <a:avLst/>
          </a:prstGeom>
          <a:noFill/>
        </p:spPr>
        <p:txBody>
          <a:bodyPr wrap="square" lIns="0" tIns="0" rIns="0" bIns="0">
            <a:spAutoFit/>
          </a:bodyPr>
          <a:lstStyle/>
          <a:p>
            <a:pPr>
              <a:defRPr sz="1050">
                <a:latin typeface="Calibri"/>
              </a:defRPr>
            </a:pPr>
            <a:r>
              <a:rPr sz="1400" b="1" dirty="0">
                <a:solidFill>
                  <a:srgbClr val="1E3A5F"/>
                </a:solidFill>
              </a:rPr>
              <a:t>• Integrity Protection: </a:t>
            </a:r>
            <a:r>
              <a:rPr sz="1400" b="0" dirty="0">
                <a:solidFill>
                  <a:srgbClr val="1E293B"/>
                </a:solidFill>
              </a:rPr>
              <a:t>Physical DELETE cascades can break historical sales records and financial reports.</a:t>
            </a:r>
          </a:p>
          <a:p>
            <a:pPr>
              <a:spcBef>
                <a:spcPts val="700"/>
              </a:spcBef>
              <a:defRPr sz="1050">
                <a:latin typeface="Calibri"/>
              </a:defRPr>
            </a:pPr>
            <a:r>
              <a:rPr sz="1400" b="1" dirty="0">
                <a:solidFill>
                  <a:srgbClr val="1E3A5F"/>
                </a:solidFill>
              </a:rPr>
              <a:t>• Soft Delete Approach: </a:t>
            </a:r>
            <a:r>
              <a:rPr sz="1400" b="0" dirty="0">
                <a:solidFill>
                  <a:srgbClr val="1E293B"/>
                </a:solidFill>
              </a:rPr>
              <a:t>We implement soft deletion by toggling '</a:t>
            </a:r>
            <a:r>
              <a:rPr sz="1400" b="0" dirty="0" err="1">
                <a:solidFill>
                  <a:srgbClr val="1E293B"/>
                </a:solidFill>
              </a:rPr>
              <a:t>is_active</a:t>
            </a:r>
            <a:r>
              <a:rPr sz="1400" b="0" dirty="0">
                <a:solidFill>
                  <a:srgbClr val="1E293B"/>
                </a:solidFill>
              </a:rPr>
              <a:t> = 0', hiding it from catalog while preserving order history.</a:t>
            </a:r>
          </a:p>
          <a:p>
            <a:pPr>
              <a:spcBef>
                <a:spcPts val="700"/>
              </a:spcBef>
              <a:defRPr sz="1050">
                <a:latin typeface="Calibri"/>
              </a:defRPr>
            </a:pPr>
            <a:r>
              <a:rPr sz="1400" b="1" dirty="0">
                <a:solidFill>
                  <a:srgbClr val="1E3A5F"/>
                </a:solidFill>
              </a:rPr>
              <a:t>• SQL Implementation: </a:t>
            </a:r>
            <a:r>
              <a:rPr sz="1400" b="0" dirty="0">
                <a:solidFill>
                  <a:srgbClr val="1E293B"/>
                </a:solidFill>
              </a:rPr>
              <a:t>UPDATE products SET </a:t>
            </a:r>
            <a:r>
              <a:rPr sz="1400" b="0" dirty="0" err="1">
                <a:solidFill>
                  <a:srgbClr val="1E293B"/>
                </a:solidFill>
              </a:rPr>
              <a:t>is_active</a:t>
            </a:r>
            <a:r>
              <a:rPr sz="1400" b="0" dirty="0">
                <a:solidFill>
                  <a:srgbClr val="1E293B"/>
                </a:solidFill>
              </a:rPr>
              <a:t> = 0 WHERE </a:t>
            </a:r>
            <a:r>
              <a:rPr sz="1400" b="0" dirty="0" err="1">
                <a:solidFill>
                  <a:srgbClr val="1E293B"/>
                </a:solidFill>
              </a:rPr>
              <a:t>product_id</a:t>
            </a:r>
            <a:r>
              <a:rPr sz="1400" b="0" dirty="0">
                <a:solidFill>
                  <a:srgbClr val="1E293B"/>
                </a:solidFill>
              </a:rPr>
              <a:t> = %s;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68680"/>
          </a:xfrm>
          <a:prstGeom prst="rect">
            <a:avLst/>
          </a:prstGeom>
          <a:noFill/>
        </p:spPr>
        <p:txBody>
          <a:bodyPr wrap="square" lIns="0" tIns="0" rIns="0" bIns="0">
            <a:spAutoFit/>
          </a:bodyPr>
          <a:lstStyle/>
          <a:p>
            <a:pPr>
              <a:defRPr sz="1000" b="1">
                <a:solidFill>
                  <a:srgbClr val="D32F2F"/>
                </a:solidFill>
                <a:latin typeface="Calibri"/>
              </a:defRPr>
            </a:pPr>
            <a:r>
              <a:t>DATA FLOW</a:t>
            </a:r>
          </a:p>
          <a:p>
            <a:pPr>
              <a:spcBef>
                <a:spcPts val="200"/>
              </a:spcBef>
              <a:defRPr sz="2100" b="1">
                <a:solidFill>
                  <a:srgbClr val="0F1F38"/>
                </a:solidFill>
                <a:latin typeface="Calibri"/>
              </a:defRPr>
            </a:pPr>
            <a:r>
              <a:t>System Workflow &amp; Request-Response Lifecycle</a:t>
            </a:r>
          </a:p>
        </p:txBody>
      </p:sp>
      <p:sp>
        <p:nvSpPr>
          <p:cNvPr id="4" name="Rounded Rectangle 3"/>
          <p:cNvSpPr/>
          <p:nvPr/>
        </p:nvSpPr>
        <p:spPr>
          <a:xfrm>
            <a:off x="731520" y="1371600"/>
            <a:ext cx="10728655"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81328"/>
            <a:ext cx="2926080" cy="502920"/>
          </a:xfrm>
          <a:prstGeom prst="rect">
            <a:avLst/>
          </a:prstGeom>
          <a:noFill/>
        </p:spPr>
        <p:txBody>
          <a:bodyPr wrap="none">
            <a:spAutoFit/>
          </a:bodyPr>
          <a:lstStyle/>
          <a:p>
            <a:pPr>
              <a:defRPr sz="1200" b="1">
                <a:solidFill>
                  <a:srgbClr val="0F1F38"/>
                </a:solidFill>
              </a:defRPr>
            </a:pPr>
            <a:r>
              <a:rPr dirty="0"/>
              <a:t>Step 1: User Request</a:t>
            </a:r>
          </a:p>
        </p:txBody>
      </p:sp>
      <p:sp>
        <p:nvSpPr>
          <p:cNvPr id="6" name="TextBox 5"/>
          <p:cNvSpPr txBox="1"/>
          <p:nvPr/>
        </p:nvSpPr>
        <p:spPr>
          <a:xfrm>
            <a:off x="3931920" y="1481328"/>
            <a:ext cx="7315200" cy="502920"/>
          </a:xfrm>
          <a:prstGeom prst="rect">
            <a:avLst/>
          </a:prstGeom>
          <a:noFill/>
        </p:spPr>
        <p:txBody>
          <a:bodyPr wrap="square">
            <a:spAutoFit/>
          </a:bodyPr>
          <a:lstStyle/>
          <a:p>
            <a:pPr>
              <a:defRPr sz="1050">
                <a:solidFill>
                  <a:srgbClr val="64748B"/>
                </a:solidFill>
              </a:defRPr>
            </a:pPr>
            <a:r>
              <a:t>Client interacts with browser (e.g. filters by 'Hero Splendor Plus' or submits an order). An HTTP GET/POST request is dispatched to the Flask server.</a:t>
            </a:r>
          </a:p>
        </p:txBody>
      </p:sp>
      <p:sp>
        <p:nvSpPr>
          <p:cNvPr id="7" name="Rounded Rectangle 6"/>
          <p:cNvSpPr/>
          <p:nvPr/>
        </p:nvSpPr>
        <p:spPr>
          <a:xfrm>
            <a:off x="731520" y="2194560"/>
            <a:ext cx="10728655"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304288"/>
            <a:ext cx="2926080" cy="502920"/>
          </a:xfrm>
          <a:prstGeom prst="rect">
            <a:avLst/>
          </a:prstGeom>
          <a:noFill/>
        </p:spPr>
        <p:txBody>
          <a:bodyPr wrap="none">
            <a:spAutoFit/>
          </a:bodyPr>
          <a:lstStyle/>
          <a:p>
            <a:pPr>
              <a:defRPr sz="1200" b="1">
                <a:solidFill>
                  <a:srgbClr val="0F1F38"/>
                </a:solidFill>
              </a:defRPr>
            </a:pPr>
            <a:r>
              <a:t>Step 2: Routing &amp; Middleware</a:t>
            </a:r>
          </a:p>
        </p:txBody>
      </p:sp>
      <p:sp>
        <p:nvSpPr>
          <p:cNvPr id="9" name="TextBox 8"/>
          <p:cNvSpPr txBox="1"/>
          <p:nvPr/>
        </p:nvSpPr>
        <p:spPr>
          <a:xfrm>
            <a:off x="3931920" y="2304288"/>
            <a:ext cx="7315200" cy="502920"/>
          </a:xfrm>
          <a:prstGeom prst="rect">
            <a:avLst/>
          </a:prstGeom>
          <a:noFill/>
        </p:spPr>
        <p:txBody>
          <a:bodyPr wrap="square">
            <a:spAutoFit/>
          </a:bodyPr>
          <a:lstStyle/>
          <a:p>
            <a:pPr>
              <a:defRPr sz="1050">
                <a:solidFill>
                  <a:srgbClr val="64748B"/>
                </a:solidFill>
              </a:defRPr>
            </a:pPr>
            <a:r>
              <a:t>Flask WSGI server inspects the URL route (@app.route('/products')), executes session security checks, and extracts query parameters.</a:t>
            </a:r>
          </a:p>
        </p:txBody>
      </p:sp>
      <p:sp>
        <p:nvSpPr>
          <p:cNvPr id="10" name="Rounded Rectangle 9"/>
          <p:cNvSpPr/>
          <p:nvPr/>
        </p:nvSpPr>
        <p:spPr>
          <a:xfrm>
            <a:off x="731520" y="3017520"/>
            <a:ext cx="10728655"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127248"/>
            <a:ext cx="2926080" cy="502920"/>
          </a:xfrm>
          <a:prstGeom prst="rect">
            <a:avLst/>
          </a:prstGeom>
          <a:noFill/>
        </p:spPr>
        <p:txBody>
          <a:bodyPr wrap="none">
            <a:spAutoFit/>
          </a:bodyPr>
          <a:lstStyle/>
          <a:p>
            <a:pPr>
              <a:defRPr sz="1200" b="1">
                <a:solidFill>
                  <a:srgbClr val="0F1F38"/>
                </a:solidFill>
              </a:defRPr>
            </a:pPr>
            <a:r>
              <a:t>Step 3: Controller &amp; Business Logic</a:t>
            </a:r>
          </a:p>
        </p:txBody>
      </p:sp>
      <p:sp>
        <p:nvSpPr>
          <p:cNvPr id="12" name="TextBox 11"/>
          <p:cNvSpPr txBox="1"/>
          <p:nvPr/>
        </p:nvSpPr>
        <p:spPr>
          <a:xfrm>
            <a:off x="3931920" y="3127248"/>
            <a:ext cx="7315200" cy="502920"/>
          </a:xfrm>
          <a:prstGeom prst="rect">
            <a:avLst/>
          </a:prstGeom>
          <a:noFill/>
        </p:spPr>
        <p:txBody>
          <a:bodyPr wrap="square">
            <a:spAutoFit/>
          </a:bodyPr>
          <a:lstStyle/>
          <a:p>
            <a:pPr>
              <a:defRPr sz="1050">
                <a:solidFill>
                  <a:srgbClr val="64748B"/>
                </a:solidFill>
              </a:defRPr>
            </a:pPr>
            <a:r>
              <a:t>The controller calls db_queries methods. For fitment queries, it validates model parameters and prepares the SQL statement.</a:t>
            </a:r>
          </a:p>
        </p:txBody>
      </p:sp>
      <p:sp>
        <p:nvSpPr>
          <p:cNvPr id="13" name="Rounded Rectangle 12"/>
          <p:cNvSpPr/>
          <p:nvPr/>
        </p:nvSpPr>
        <p:spPr>
          <a:xfrm>
            <a:off x="731520" y="3840480"/>
            <a:ext cx="10728655"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950208"/>
            <a:ext cx="2926080" cy="502920"/>
          </a:xfrm>
          <a:prstGeom prst="rect">
            <a:avLst/>
          </a:prstGeom>
          <a:noFill/>
        </p:spPr>
        <p:txBody>
          <a:bodyPr wrap="none">
            <a:spAutoFit/>
          </a:bodyPr>
          <a:lstStyle/>
          <a:p>
            <a:pPr>
              <a:defRPr sz="1200" b="1">
                <a:solidFill>
                  <a:srgbClr val="0F1F38"/>
                </a:solidFill>
              </a:defRPr>
            </a:pPr>
            <a:r>
              <a:t>Step 4: MySQL Query Execution</a:t>
            </a:r>
          </a:p>
        </p:txBody>
      </p:sp>
      <p:sp>
        <p:nvSpPr>
          <p:cNvPr id="15" name="TextBox 14"/>
          <p:cNvSpPr txBox="1"/>
          <p:nvPr/>
        </p:nvSpPr>
        <p:spPr>
          <a:xfrm>
            <a:off x="3931920" y="3950208"/>
            <a:ext cx="7315200" cy="502920"/>
          </a:xfrm>
          <a:prstGeom prst="rect">
            <a:avLst/>
          </a:prstGeom>
          <a:noFill/>
        </p:spPr>
        <p:txBody>
          <a:bodyPr wrap="square">
            <a:spAutoFit/>
          </a:bodyPr>
          <a:lstStyle/>
          <a:p>
            <a:pPr>
              <a:defRPr sz="1050">
                <a:solidFill>
                  <a:srgbClr val="64748B"/>
                </a:solidFill>
              </a:defRPr>
            </a:pPr>
            <a:r>
              <a:t>The database connector opens a connection from the pool, executes parameterized SQL with bound parameters, and retrieves record tuples.</a:t>
            </a:r>
          </a:p>
        </p:txBody>
      </p:sp>
      <p:sp>
        <p:nvSpPr>
          <p:cNvPr id="16" name="Rounded Rectangle 15"/>
          <p:cNvSpPr/>
          <p:nvPr/>
        </p:nvSpPr>
        <p:spPr>
          <a:xfrm>
            <a:off x="731520" y="4663440"/>
            <a:ext cx="10728655"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773168"/>
            <a:ext cx="2926080" cy="502920"/>
          </a:xfrm>
          <a:prstGeom prst="rect">
            <a:avLst/>
          </a:prstGeom>
          <a:noFill/>
        </p:spPr>
        <p:txBody>
          <a:bodyPr wrap="none">
            <a:spAutoFit/>
          </a:bodyPr>
          <a:lstStyle/>
          <a:p>
            <a:pPr>
              <a:defRPr sz="1200" b="1">
                <a:solidFill>
                  <a:srgbClr val="0F1F38"/>
                </a:solidFill>
              </a:defRPr>
            </a:pPr>
            <a:r>
              <a:t>Step 5: Jinja2 Template Rendering</a:t>
            </a:r>
          </a:p>
        </p:txBody>
      </p:sp>
      <p:sp>
        <p:nvSpPr>
          <p:cNvPr id="18" name="TextBox 17"/>
          <p:cNvSpPr txBox="1"/>
          <p:nvPr/>
        </p:nvSpPr>
        <p:spPr>
          <a:xfrm>
            <a:off x="3931920" y="4773168"/>
            <a:ext cx="7315200" cy="502920"/>
          </a:xfrm>
          <a:prstGeom prst="rect">
            <a:avLst/>
          </a:prstGeom>
          <a:noFill/>
        </p:spPr>
        <p:txBody>
          <a:bodyPr wrap="square">
            <a:spAutoFit/>
          </a:bodyPr>
          <a:lstStyle/>
          <a:p>
            <a:pPr>
              <a:defRPr sz="1050">
                <a:solidFill>
                  <a:srgbClr val="64748B"/>
                </a:solidFill>
              </a:defRPr>
            </a:pPr>
            <a:r>
              <a:t>Flask merges the database recordsets with HTML templates (e.g. products.html), injecting stock counts, prices, and fitment badges.</a:t>
            </a:r>
          </a:p>
        </p:txBody>
      </p:sp>
      <p:sp>
        <p:nvSpPr>
          <p:cNvPr id="19" name="Rounded Rectangle 18"/>
          <p:cNvSpPr/>
          <p:nvPr/>
        </p:nvSpPr>
        <p:spPr>
          <a:xfrm>
            <a:off x="731520" y="5486400"/>
            <a:ext cx="10728655"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596128"/>
            <a:ext cx="2926080" cy="502920"/>
          </a:xfrm>
          <a:prstGeom prst="rect">
            <a:avLst/>
          </a:prstGeom>
          <a:noFill/>
        </p:spPr>
        <p:txBody>
          <a:bodyPr wrap="none">
            <a:spAutoFit/>
          </a:bodyPr>
          <a:lstStyle/>
          <a:p>
            <a:pPr>
              <a:defRPr sz="1200" b="1">
                <a:solidFill>
                  <a:srgbClr val="0F1F38"/>
                </a:solidFill>
              </a:defRPr>
            </a:pPr>
            <a:r>
              <a:t>Step 6: Client DOM Update</a:t>
            </a:r>
          </a:p>
        </p:txBody>
      </p:sp>
      <p:sp>
        <p:nvSpPr>
          <p:cNvPr id="21" name="TextBox 20"/>
          <p:cNvSpPr txBox="1"/>
          <p:nvPr/>
        </p:nvSpPr>
        <p:spPr>
          <a:xfrm>
            <a:off x="3931920" y="5596128"/>
            <a:ext cx="7315200" cy="502920"/>
          </a:xfrm>
          <a:prstGeom prst="rect">
            <a:avLst/>
          </a:prstGeom>
          <a:noFill/>
        </p:spPr>
        <p:txBody>
          <a:bodyPr wrap="square">
            <a:spAutoFit/>
          </a:bodyPr>
          <a:lstStyle/>
          <a:p>
            <a:pPr>
              <a:defRPr sz="1050">
                <a:solidFill>
                  <a:srgbClr val="64748B"/>
                </a:solidFill>
              </a:defRPr>
            </a:pPr>
            <a:r>
              <a:t>The browser receives semantic HTML/CSS and initializes JavaScript event listeners for live searching and quantity updates.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40577" y="163312"/>
            <a:ext cx="10698480" cy="610424"/>
          </a:xfrm>
          <a:prstGeom prst="rect">
            <a:avLst/>
          </a:prstGeom>
          <a:noFill/>
        </p:spPr>
        <p:txBody>
          <a:bodyPr wrap="square" lIns="0" tIns="0" rIns="0" bIns="0">
            <a:spAutoFit/>
          </a:bodyPr>
          <a:lstStyle/>
          <a:p>
            <a:pPr>
              <a:defRPr sz="1000" b="1">
                <a:solidFill>
                  <a:srgbClr val="D32F2F"/>
                </a:solidFill>
                <a:latin typeface="Calibri"/>
              </a:defRPr>
            </a:pPr>
            <a:r>
              <a:rPr dirty="0"/>
              <a:t>QUALITY ASSURANCE</a:t>
            </a:r>
          </a:p>
          <a:p>
            <a:pPr algn="ctr">
              <a:spcBef>
                <a:spcPts val="200"/>
              </a:spcBef>
              <a:defRPr sz="2100" b="1">
                <a:solidFill>
                  <a:srgbClr val="0F1F38"/>
                </a:solidFill>
                <a:latin typeface="Calibri"/>
              </a:defRPr>
            </a:pPr>
            <a:r>
              <a:rPr sz="2800" dirty="0">
                <a:solidFill>
                  <a:schemeClr val="accent6">
                    <a:lumMod val="50000"/>
                  </a:schemeClr>
                </a:solidFill>
              </a:rPr>
              <a:t>Software Testing, Test Cases &amp; Verification Results</a:t>
            </a:r>
          </a:p>
        </p:txBody>
      </p:sp>
      <p:graphicFrame>
        <p:nvGraphicFramePr>
          <p:cNvPr id="4" name="Table 3"/>
          <p:cNvGraphicFramePr>
            <a:graphicFrameLocks noGrp="1"/>
          </p:cNvGraphicFramePr>
          <p:nvPr>
            <p:extLst>
              <p:ext uri="{D42A27DB-BD31-4B8C-83A1-F6EECF244321}">
                <p14:modId xmlns:p14="http://schemas.microsoft.com/office/powerpoint/2010/main" val="1165749437"/>
              </p:ext>
            </p:extLst>
          </p:nvPr>
        </p:nvGraphicFramePr>
        <p:xfrm>
          <a:off x="563740" y="926982"/>
          <a:ext cx="10728655" cy="5675154"/>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139135">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810736">
                <a:tc>
                  <a:txBody>
                    <a:bodyPr/>
                    <a:lstStyle/>
                    <a:p>
                      <a:pPr>
                        <a:defRPr sz="1100" b="1">
                          <a:solidFill>
                            <a:srgbClr val="FFFFFF"/>
                          </a:solidFill>
                          <a:latin typeface="Calibri"/>
                        </a:defRPr>
                      </a:pPr>
                      <a:r>
                        <a:rPr sz="1500" dirty="0">
                          <a:solidFill>
                            <a:schemeClr val="accent3">
                              <a:lumMod val="60000"/>
                              <a:lumOff val="40000"/>
                            </a:schemeClr>
                          </a:solidFill>
                        </a:rPr>
                        <a:t>TC ID</a:t>
                      </a:r>
                    </a:p>
                  </a:txBody>
                  <a:tcPr anchor="ctr">
                    <a:solidFill>
                      <a:srgbClr val="0F1F38"/>
                    </a:solidFill>
                  </a:tcPr>
                </a:tc>
                <a:tc>
                  <a:txBody>
                    <a:bodyPr/>
                    <a:lstStyle/>
                    <a:p>
                      <a:pPr>
                        <a:defRPr sz="1100" b="1">
                          <a:solidFill>
                            <a:srgbClr val="FFFFFF"/>
                          </a:solidFill>
                          <a:latin typeface="Calibri"/>
                        </a:defRPr>
                      </a:pPr>
                      <a:r>
                        <a:rPr sz="1500" dirty="0">
                          <a:solidFill>
                            <a:schemeClr val="accent3">
                              <a:lumMod val="60000"/>
                              <a:lumOff val="40000"/>
                            </a:schemeClr>
                          </a:solidFill>
                        </a:rPr>
                        <a:t>Module Tested</a:t>
                      </a:r>
                    </a:p>
                  </a:txBody>
                  <a:tcPr anchor="ctr">
                    <a:solidFill>
                      <a:srgbClr val="0F1F38"/>
                    </a:solidFill>
                  </a:tcPr>
                </a:tc>
                <a:tc>
                  <a:txBody>
                    <a:bodyPr/>
                    <a:lstStyle/>
                    <a:p>
                      <a:pPr>
                        <a:defRPr sz="1100" b="1">
                          <a:solidFill>
                            <a:srgbClr val="FFFFFF"/>
                          </a:solidFill>
                          <a:latin typeface="Calibri"/>
                        </a:defRPr>
                      </a:pPr>
                      <a:r>
                        <a:rPr sz="1500" dirty="0">
                          <a:solidFill>
                            <a:schemeClr val="accent3">
                              <a:lumMod val="60000"/>
                              <a:lumOff val="40000"/>
                            </a:schemeClr>
                          </a:solidFill>
                        </a:rPr>
                        <a:t>Test Description &amp; Input</a:t>
                      </a:r>
                    </a:p>
                  </a:txBody>
                  <a:tcPr anchor="ctr">
                    <a:solidFill>
                      <a:srgbClr val="0F1F38"/>
                    </a:solidFill>
                  </a:tcPr>
                </a:tc>
                <a:tc>
                  <a:txBody>
                    <a:bodyPr/>
                    <a:lstStyle/>
                    <a:p>
                      <a:pPr>
                        <a:defRPr sz="1100" b="1">
                          <a:solidFill>
                            <a:srgbClr val="FFFFFF"/>
                          </a:solidFill>
                          <a:latin typeface="Calibri"/>
                        </a:defRPr>
                      </a:pPr>
                      <a:r>
                        <a:rPr sz="1500" dirty="0">
                          <a:solidFill>
                            <a:schemeClr val="accent3">
                              <a:lumMod val="60000"/>
                              <a:lumOff val="40000"/>
                            </a:schemeClr>
                          </a:solidFill>
                        </a:rPr>
                        <a:t>Expected &amp; Actual Outcome</a:t>
                      </a:r>
                    </a:p>
                  </a:txBody>
                  <a:tcPr anchor="ctr">
                    <a:solidFill>
                      <a:srgbClr val="0F1F38"/>
                    </a:solidFill>
                  </a:tcPr>
                </a:tc>
                <a:tc>
                  <a:txBody>
                    <a:bodyPr/>
                    <a:lstStyle/>
                    <a:p>
                      <a:pPr>
                        <a:defRPr sz="1100" b="1">
                          <a:solidFill>
                            <a:srgbClr val="FFFFFF"/>
                          </a:solidFill>
                          <a:latin typeface="Calibri"/>
                        </a:defRPr>
                      </a:pPr>
                      <a:r>
                        <a:rPr sz="1500" dirty="0">
                          <a:solidFill>
                            <a:schemeClr val="accent3"/>
                          </a:solidFill>
                        </a:rPr>
                        <a:t>Result</a:t>
                      </a:r>
                    </a:p>
                  </a:txBody>
                  <a:tcPr anchor="ctr">
                    <a:solidFill>
                      <a:srgbClr val="0F1F38"/>
                    </a:solidFill>
                  </a:tcPr>
                </a:tc>
                <a:extLst>
                  <a:ext uri="{0D108BD9-81ED-4DB2-BD59-A6C34878D82A}">
                    <a16:rowId xmlns:a16="http://schemas.microsoft.com/office/drawing/2014/main" val="10000"/>
                  </a:ext>
                </a:extLst>
              </a:tr>
              <a:tr h="810736">
                <a:tc>
                  <a:txBody>
                    <a:bodyPr/>
                    <a:lstStyle/>
                    <a:p>
                      <a:pPr>
                        <a:defRPr sz="950" b="1">
                          <a:solidFill>
                            <a:srgbClr val="1E293B"/>
                          </a:solidFill>
                          <a:latin typeface="Calibri"/>
                        </a:defRPr>
                      </a:pPr>
                      <a:r>
                        <a:rPr sz="1500"/>
                        <a:t>TC-01</a:t>
                      </a:r>
                    </a:p>
                  </a:txBody>
                  <a:tcPr anchor="ctr">
                    <a:solidFill>
                      <a:srgbClr val="FFFFFF"/>
                    </a:solidFill>
                  </a:tcPr>
                </a:tc>
                <a:tc>
                  <a:txBody>
                    <a:bodyPr/>
                    <a:lstStyle/>
                    <a:p>
                      <a:pPr>
                        <a:defRPr sz="950">
                          <a:solidFill>
                            <a:srgbClr val="1E293B"/>
                          </a:solidFill>
                          <a:latin typeface="Calibri"/>
                        </a:defRPr>
                      </a:pPr>
                      <a:r>
                        <a:rPr sz="1500"/>
                        <a:t>Fitment Engine</a:t>
                      </a:r>
                    </a:p>
                  </a:txBody>
                  <a:tcPr anchor="ctr">
                    <a:solidFill>
                      <a:srgbClr val="FFFFFF"/>
                    </a:solidFill>
                  </a:tcPr>
                </a:tc>
                <a:tc>
                  <a:txBody>
                    <a:bodyPr/>
                    <a:lstStyle/>
                    <a:p>
                      <a:pPr>
                        <a:defRPr sz="950">
                          <a:solidFill>
                            <a:srgbClr val="1E293B"/>
                          </a:solidFill>
                          <a:latin typeface="Calibri"/>
                        </a:defRPr>
                      </a:pPr>
                      <a:r>
                        <a:rPr sz="1500"/>
                        <a:t>Filter catalog by vehicle model 'Hero Splendor Plus'.</a:t>
                      </a:r>
                    </a:p>
                  </a:txBody>
                  <a:tcPr anchor="ctr">
                    <a:solidFill>
                      <a:srgbClr val="FFFFFF"/>
                    </a:solidFill>
                  </a:tcPr>
                </a:tc>
                <a:tc>
                  <a:txBody>
                    <a:bodyPr/>
                    <a:lstStyle/>
                    <a:p>
                      <a:pPr>
                        <a:defRPr sz="950">
                          <a:solidFill>
                            <a:srgbClr val="1E293B"/>
                          </a:solidFill>
                          <a:latin typeface="Calibri"/>
                        </a:defRPr>
                      </a:pPr>
                      <a:r>
                        <a:rPr sz="1500"/>
                        <a:t>Returns 164 compatible parts; completely excludes scooter CVT filters &amp; clutch cables.</a:t>
                      </a:r>
                    </a:p>
                  </a:txBody>
                  <a:tcPr anchor="ctr">
                    <a:solidFill>
                      <a:srgbClr val="FFFFFF"/>
                    </a:solidFill>
                  </a:tcPr>
                </a:tc>
                <a:tc>
                  <a:txBody>
                    <a:bodyPr/>
                    <a:lstStyle/>
                    <a:p>
                      <a:pPr algn="ctr">
                        <a:defRPr sz="950" b="1">
                          <a:solidFill>
                            <a:srgbClr val="10956A"/>
                          </a:solidFill>
                          <a:latin typeface="Calibri"/>
                        </a:defRPr>
                      </a:pPr>
                      <a:r>
                        <a:rPr sz="1500"/>
                        <a:t>PASS</a:t>
                      </a:r>
                    </a:p>
                  </a:txBody>
                  <a:tcPr anchor="ctr">
                    <a:solidFill>
                      <a:srgbClr val="FFFFFF"/>
                    </a:solidFill>
                  </a:tcPr>
                </a:tc>
                <a:extLst>
                  <a:ext uri="{0D108BD9-81ED-4DB2-BD59-A6C34878D82A}">
                    <a16:rowId xmlns:a16="http://schemas.microsoft.com/office/drawing/2014/main" val="10001"/>
                  </a:ext>
                </a:extLst>
              </a:tr>
              <a:tr h="810736">
                <a:tc>
                  <a:txBody>
                    <a:bodyPr/>
                    <a:lstStyle/>
                    <a:p>
                      <a:pPr>
                        <a:defRPr sz="950" b="1">
                          <a:solidFill>
                            <a:srgbClr val="1E293B"/>
                          </a:solidFill>
                          <a:latin typeface="Calibri"/>
                        </a:defRPr>
                      </a:pPr>
                      <a:r>
                        <a:rPr sz="1500"/>
                        <a:t>TC-02</a:t>
                      </a:r>
                    </a:p>
                  </a:txBody>
                  <a:tcPr anchor="ctr">
                    <a:solidFill>
                      <a:srgbClr val="F8FAFC"/>
                    </a:solidFill>
                  </a:tcPr>
                </a:tc>
                <a:tc>
                  <a:txBody>
                    <a:bodyPr/>
                    <a:lstStyle/>
                    <a:p>
                      <a:pPr>
                        <a:defRPr sz="950">
                          <a:solidFill>
                            <a:srgbClr val="1E293B"/>
                          </a:solidFill>
                          <a:latin typeface="Calibri"/>
                        </a:defRPr>
                      </a:pPr>
                      <a:r>
                        <a:rPr sz="1500" dirty="0"/>
                        <a:t>Authentication</a:t>
                      </a:r>
                    </a:p>
                  </a:txBody>
                  <a:tcPr anchor="ctr">
                    <a:solidFill>
                      <a:srgbClr val="F8FAFC"/>
                    </a:solidFill>
                  </a:tcPr>
                </a:tc>
                <a:tc>
                  <a:txBody>
                    <a:bodyPr/>
                    <a:lstStyle/>
                    <a:p>
                      <a:pPr>
                        <a:defRPr sz="950">
                          <a:solidFill>
                            <a:srgbClr val="1E293B"/>
                          </a:solidFill>
                          <a:latin typeface="Calibri"/>
                        </a:defRPr>
                      </a:pPr>
                      <a:r>
                        <a:rPr sz="1500" dirty="0"/>
                        <a:t>Attempt unauthorized access to /admin without admin session.</a:t>
                      </a:r>
                    </a:p>
                  </a:txBody>
                  <a:tcPr anchor="ctr">
                    <a:solidFill>
                      <a:srgbClr val="F8FAFC"/>
                    </a:solidFill>
                  </a:tcPr>
                </a:tc>
                <a:tc>
                  <a:txBody>
                    <a:bodyPr/>
                    <a:lstStyle/>
                    <a:p>
                      <a:pPr>
                        <a:defRPr sz="950">
                          <a:solidFill>
                            <a:srgbClr val="1E293B"/>
                          </a:solidFill>
                          <a:latin typeface="Calibri"/>
                        </a:defRPr>
                      </a:pPr>
                      <a:r>
                        <a:rPr sz="1500"/>
                        <a:t>Flask session validator halts request and redirects to login with flash warning.</a:t>
                      </a:r>
                    </a:p>
                  </a:txBody>
                  <a:tcPr anchor="ctr">
                    <a:solidFill>
                      <a:srgbClr val="F8FAFC"/>
                    </a:solidFill>
                  </a:tcPr>
                </a:tc>
                <a:tc>
                  <a:txBody>
                    <a:bodyPr/>
                    <a:lstStyle/>
                    <a:p>
                      <a:pPr algn="ctr">
                        <a:defRPr sz="950" b="1">
                          <a:solidFill>
                            <a:srgbClr val="10956A"/>
                          </a:solidFill>
                          <a:latin typeface="Calibri"/>
                        </a:defRPr>
                      </a:pPr>
                      <a:r>
                        <a:rPr sz="1500"/>
                        <a:t>PASS</a:t>
                      </a:r>
                    </a:p>
                  </a:txBody>
                  <a:tcPr anchor="ctr">
                    <a:solidFill>
                      <a:srgbClr val="F8FAFC"/>
                    </a:solidFill>
                  </a:tcPr>
                </a:tc>
                <a:extLst>
                  <a:ext uri="{0D108BD9-81ED-4DB2-BD59-A6C34878D82A}">
                    <a16:rowId xmlns:a16="http://schemas.microsoft.com/office/drawing/2014/main" val="10002"/>
                  </a:ext>
                </a:extLst>
              </a:tr>
              <a:tr h="810736">
                <a:tc>
                  <a:txBody>
                    <a:bodyPr/>
                    <a:lstStyle/>
                    <a:p>
                      <a:pPr>
                        <a:defRPr sz="950" b="1">
                          <a:solidFill>
                            <a:srgbClr val="1E293B"/>
                          </a:solidFill>
                          <a:latin typeface="Calibri"/>
                        </a:defRPr>
                      </a:pPr>
                      <a:r>
                        <a:rPr sz="1500"/>
                        <a:t>TC-03</a:t>
                      </a:r>
                    </a:p>
                  </a:txBody>
                  <a:tcPr anchor="ctr">
                    <a:solidFill>
                      <a:srgbClr val="FFFFFF"/>
                    </a:solidFill>
                  </a:tcPr>
                </a:tc>
                <a:tc>
                  <a:txBody>
                    <a:bodyPr/>
                    <a:lstStyle/>
                    <a:p>
                      <a:pPr>
                        <a:defRPr sz="950">
                          <a:solidFill>
                            <a:srgbClr val="1E293B"/>
                          </a:solidFill>
                          <a:latin typeface="Calibri"/>
                        </a:defRPr>
                      </a:pPr>
                      <a:r>
                        <a:rPr sz="1500"/>
                        <a:t>Cart &amp; Coupon</a:t>
                      </a:r>
                    </a:p>
                  </a:txBody>
                  <a:tcPr anchor="ctr">
                    <a:solidFill>
                      <a:srgbClr val="FFFFFF"/>
                    </a:solidFill>
                  </a:tcPr>
                </a:tc>
                <a:tc>
                  <a:txBody>
                    <a:bodyPr/>
                    <a:lstStyle/>
                    <a:p>
                      <a:pPr>
                        <a:defRPr sz="950">
                          <a:solidFill>
                            <a:srgbClr val="1E293B"/>
                          </a:solidFill>
                          <a:latin typeface="Calibri"/>
                        </a:defRPr>
                      </a:pPr>
                      <a:r>
                        <a:rPr sz="1500" dirty="0"/>
                        <a:t>Apply coupon code 'FESTIVE10' on cart subtotal of ₹1,000.</a:t>
                      </a:r>
                    </a:p>
                  </a:txBody>
                  <a:tcPr anchor="ctr">
                    <a:solidFill>
                      <a:srgbClr val="FFFFFF"/>
                    </a:solidFill>
                  </a:tcPr>
                </a:tc>
                <a:tc>
                  <a:txBody>
                    <a:bodyPr/>
                    <a:lstStyle/>
                    <a:p>
                      <a:pPr>
                        <a:defRPr sz="950">
                          <a:solidFill>
                            <a:srgbClr val="1E293B"/>
                          </a:solidFill>
                          <a:latin typeface="Calibri"/>
                        </a:defRPr>
                      </a:pPr>
                      <a:r>
                        <a:rPr sz="1500"/>
                        <a:t>Applies 10% discount (₹100); recalculates total to ₹900 accurately.</a:t>
                      </a:r>
                    </a:p>
                  </a:txBody>
                  <a:tcPr anchor="ctr">
                    <a:solidFill>
                      <a:srgbClr val="FFFFFF"/>
                    </a:solidFill>
                  </a:tcPr>
                </a:tc>
                <a:tc>
                  <a:txBody>
                    <a:bodyPr/>
                    <a:lstStyle/>
                    <a:p>
                      <a:pPr algn="ctr">
                        <a:defRPr sz="950" b="1">
                          <a:solidFill>
                            <a:srgbClr val="10956A"/>
                          </a:solidFill>
                          <a:latin typeface="Calibri"/>
                        </a:defRPr>
                      </a:pPr>
                      <a:r>
                        <a:rPr sz="1500"/>
                        <a:t>PASS</a:t>
                      </a:r>
                    </a:p>
                  </a:txBody>
                  <a:tcPr anchor="ctr">
                    <a:solidFill>
                      <a:srgbClr val="FFFFFF"/>
                    </a:solidFill>
                  </a:tcPr>
                </a:tc>
                <a:extLst>
                  <a:ext uri="{0D108BD9-81ED-4DB2-BD59-A6C34878D82A}">
                    <a16:rowId xmlns:a16="http://schemas.microsoft.com/office/drawing/2014/main" val="10003"/>
                  </a:ext>
                </a:extLst>
              </a:tr>
              <a:tr h="810736">
                <a:tc>
                  <a:txBody>
                    <a:bodyPr/>
                    <a:lstStyle/>
                    <a:p>
                      <a:pPr>
                        <a:defRPr sz="950" b="1">
                          <a:solidFill>
                            <a:srgbClr val="1E293B"/>
                          </a:solidFill>
                          <a:latin typeface="Calibri"/>
                        </a:defRPr>
                      </a:pPr>
                      <a:r>
                        <a:rPr sz="1500"/>
                        <a:t>TC-04</a:t>
                      </a:r>
                    </a:p>
                  </a:txBody>
                  <a:tcPr anchor="ctr">
                    <a:solidFill>
                      <a:srgbClr val="F8FAFC"/>
                    </a:solidFill>
                  </a:tcPr>
                </a:tc>
                <a:tc>
                  <a:txBody>
                    <a:bodyPr/>
                    <a:lstStyle/>
                    <a:p>
                      <a:pPr>
                        <a:defRPr sz="950">
                          <a:solidFill>
                            <a:srgbClr val="1E293B"/>
                          </a:solidFill>
                          <a:latin typeface="Calibri"/>
                        </a:defRPr>
                      </a:pPr>
                      <a:r>
                        <a:rPr sz="1500"/>
                        <a:t>Guest Checkout</a:t>
                      </a:r>
                    </a:p>
                  </a:txBody>
                  <a:tcPr anchor="ctr">
                    <a:solidFill>
                      <a:srgbClr val="F8FAFC"/>
                    </a:solidFill>
                  </a:tcPr>
                </a:tc>
                <a:tc>
                  <a:txBody>
                    <a:bodyPr/>
                    <a:lstStyle/>
                    <a:p>
                      <a:pPr>
                        <a:defRPr sz="950">
                          <a:solidFill>
                            <a:srgbClr val="1E293B"/>
                          </a:solidFill>
                          <a:latin typeface="Calibri"/>
                        </a:defRPr>
                      </a:pPr>
                      <a:r>
                        <a:rPr sz="1500" dirty="0"/>
                        <a:t>Submit order with name, phone, and address without login.</a:t>
                      </a:r>
                    </a:p>
                  </a:txBody>
                  <a:tcPr anchor="ctr">
                    <a:solidFill>
                      <a:srgbClr val="F8FAFC"/>
                    </a:solidFill>
                  </a:tcPr>
                </a:tc>
                <a:tc>
                  <a:txBody>
                    <a:bodyPr/>
                    <a:lstStyle/>
                    <a:p>
                      <a:pPr>
                        <a:defRPr sz="950">
                          <a:solidFill>
                            <a:srgbClr val="1E293B"/>
                          </a:solidFill>
                          <a:latin typeface="Calibri"/>
                        </a:defRPr>
                      </a:pPr>
                      <a:r>
                        <a:rPr sz="1500"/>
                        <a:t>Order created in database with user_id=NULL; unique order ID generated.</a:t>
                      </a:r>
                    </a:p>
                  </a:txBody>
                  <a:tcPr anchor="ctr">
                    <a:solidFill>
                      <a:srgbClr val="F8FAFC"/>
                    </a:solidFill>
                  </a:tcPr>
                </a:tc>
                <a:tc>
                  <a:txBody>
                    <a:bodyPr/>
                    <a:lstStyle/>
                    <a:p>
                      <a:pPr algn="ctr">
                        <a:defRPr sz="950" b="1">
                          <a:solidFill>
                            <a:srgbClr val="10956A"/>
                          </a:solidFill>
                          <a:latin typeface="Calibri"/>
                        </a:defRPr>
                      </a:pPr>
                      <a:r>
                        <a:rPr sz="1500"/>
                        <a:t>PASS</a:t>
                      </a:r>
                    </a:p>
                  </a:txBody>
                  <a:tcPr anchor="ctr">
                    <a:solidFill>
                      <a:srgbClr val="F8FAFC"/>
                    </a:solidFill>
                  </a:tcPr>
                </a:tc>
                <a:extLst>
                  <a:ext uri="{0D108BD9-81ED-4DB2-BD59-A6C34878D82A}">
                    <a16:rowId xmlns:a16="http://schemas.microsoft.com/office/drawing/2014/main" val="10004"/>
                  </a:ext>
                </a:extLst>
              </a:tr>
              <a:tr h="810736">
                <a:tc>
                  <a:txBody>
                    <a:bodyPr/>
                    <a:lstStyle/>
                    <a:p>
                      <a:pPr>
                        <a:defRPr sz="950" b="1">
                          <a:solidFill>
                            <a:srgbClr val="1E293B"/>
                          </a:solidFill>
                          <a:latin typeface="Calibri"/>
                        </a:defRPr>
                      </a:pPr>
                      <a:r>
                        <a:rPr sz="1500"/>
                        <a:t>TC-05</a:t>
                      </a:r>
                    </a:p>
                  </a:txBody>
                  <a:tcPr anchor="ctr">
                    <a:solidFill>
                      <a:srgbClr val="FFFFFF"/>
                    </a:solidFill>
                  </a:tcPr>
                </a:tc>
                <a:tc>
                  <a:txBody>
                    <a:bodyPr/>
                    <a:lstStyle/>
                    <a:p>
                      <a:pPr>
                        <a:defRPr sz="950">
                          <a:solidFill>
                            <a:srgbClr val="1E293B"/>
                          </a:solidFill>
                          <a:latin typeface="Calibri"/>
                        </a:defRPr>
                      </a:pPr>
                      <a:r>
                        <a:rPr sz="1500"/>
                        <a:t>Live Bike Filter</a:t>
                      </a:r>
                    </a:p>
                  </a:txBody>
                  <a:tcPr anchor="ctr">
                    <a:solidFill>
                      <a:srgbClr val="FFFFFF"/>
                    </a:solidFill>
                  </a:tcPr>
                </a:tc>
                <a:tc>
                  <a:txBody>
                    <a:bodyPr/>
                    <a:lstStyle/>
                    <a:p>
                      <a:pPr>
                        <a:defRPr sz="950">
                          <a:solidFill>
                            <a:srgbClr val="1E293B"/>
                          </a:solidFill>
                          <a:latin typeface="Calibri"/>
                        </a:defRPr>
                      </a:pPr>
                      <a:r>
                        <a:rPr sz="1500"/>
                        <a:t>Type 'Pulsar' into live compatibility search bar on /product/24.</a:t>
                      </a:r>
                    </a:p>
                  </a:txBody>
                  <a:tcPr anchor="ctr">
                    <a:solidFill>
                      <a:srgbClr val="FFFFFF"/>
                    </a:solidFill>
                  </a:tcPr>
                </a:tc>
                <a:tc>
                  <a:txBody>
                    <a:bodyPr/>
                    <a:lstStyle/>
                    <a:p>
                      <a:pPr>
                        <a:defRPr sz="950">
                          <a:solidFill>
                            <a:srgbClr val="1E293B"/>
                          </a:solidFill>
                          <a:latin typeface="Calibri"/>
                        </a:defRPr>
                      </a:pPr>
                      <a:r>
                        <a:rPr sz="1500"/>
                        <a:t>Instantly isolates Pulsar 150 &amp; NS200 rows; hides non-matching models in DOM.</a:t>
                      </a:r>
                    </a:p>
                  </a:txBody>
                  <a:tcPr anchor="ctr">
                    <a:solidFill>
                      <a:srgbClr val="FFFFFF"/>
                    </a:solidFill>
                  </a:tcPr>
                </a:tc>
                <a:tc>
                  <a:txBody>
                    <a:bodyPr/>
                    <a:lstStyle/>
                    <a:p>
                      <a:pPr algn="ctr">
                        <a:defRPr sz="950" b="1">
                          <a:solidFill>
                            <a:srgbClr val="10956A"/>
                          </a:solidFill>
                          <a:latin typeface="Calibri"/>
                        </a:defRPr>
                      </a:pPr>
                      <a:r>
                        <a:rPr sz="1500"/>
                        <a:t>PASS</a:t>
                      </a:r>
                    </a:p>
                  </a:txBody>
                  <a:tcPr anchor="ctr">
                    <a:solidFill>
                      <a:srgbClr val="FFFFFF"/>
                    </a:solidFill>
                  </a:tcPr>
                </a:tc>
                <a:extLst>
                  <a:ext uri="{0D108BD9-81ED-4DB2-BD59-A6C34878D82A}">
                    <a16:rowId xmlns:a16="http://schemas.microsoft.com/office/drawing/2014/main" val="10005"/>
                  </a:ext>
                </a:extLst>
              </a:tr>
              <a:tr h="810738">
                <a:tc>
                  <a:txBody>
                    <a:bodyPr/>
                    <a:lstStyle/>
                    <a:p>
                      <a:pPr>
                        <a:defRPr sz="950" b="1">
                          <a:solidFill>
                            <a:srgbClr val="1E293B"/>
                          </a:solidFill>
                          <a:latin typeface="Calibri"/>
                        </a:defRPr>
                      </a:pPr>
                      <a:r>
                        <a:rPr sz="1500"/>
                        <a:t>TC-06</a:t>
                      </a:r>
                    </a:p>
                  </a:txBody>
                  <a:tcPr anchor="ctr">
                    <a:solidFill>
                      <a:srgbClr val="F8FAFC"/>
                    </a:solidFill>
                  </a:tcPr>
                </a:tc>
                <a:tc>
                  <a:txBody>
                    <a:bodyPr/>
                    <a:lstStyle/>
                    <a:p>
                      <a:pPr>
                        <a:defRPr sz="950">
                          <a:solidFill>
                            <a:srgbClr val="1E293B"/>
                          </a:solidFill>
                          <a:latin typeface="Calibri"/>
                        </a:defRPr>
                      </a:pPr>
                      <a:r>
                        <a:rPr sz="1500"/>
                        <a:t>Inventory Update</a:t>
                      </a:r>
                    </a:p>
                  </a:txBody>
                  <a:tcPr anchor="ctr">
                    <a:solidFill>
                      <a:srgbClr val="F8FAFC"/>
                    </a:solidFill>
                  </a:tcPr>
                </a:tc>
                <a:tc>
                  <a:txBody>
                    <a:bodyPr/>
                    <a:lstStyle/>
                    <a:p>
                      <a:pPr>
                        <a:defRPr sz="950">
                          <a:solidFill>
                            <a:srgbClr val="1E293B"/>
                          </a:solidFill>
                          <a:latin typeface="Calibri"/>
                        </a:defRPr>
                      </a:pPr>
                      <a:r>
                        <a:rPr sz="1500" dirty="0"/>
                        <a:t>Complete checkout for 2 units of item with </a:t>
                      </a:r>
                      <a:r>
                        <a:rPr sz="1500" dirty="0" err="1"/>
                        <a:t>stock_quantity</a:t>
                      </a:r>
                      <a:r>
                        <a:rPr sz="1500" dirty="0"/>
                        <a:t>=10.</a:t>
                      </a:r>
                    </a:p>
                  </a:txBody>
                  <a:tcPr anchor="ctr">
                    <a:solidFill>
                      <a:srgbClr val="F8FAFC"/>
                    </a:solidFill>
                  </a:tcPr>
                </a:tc>
                <a:tc>
                  <a:txBody>
                    <a:bodyPr/>
                    <a:lstStyle/>
                    <a:p>
                      <a:pPr>
                        <a:defRPr sz="950">
                          <a:solidFill>
                            <a:srgbClr val="1E293B"/>
                          </a:solidFill>
                          <a:latin typeface="Calibri"/>
                        </a:defRPr>
                      </a:pPr>
                      <a:r>
                        <a:rPr sz="1500"/>
                        <a:t>Atomic transaction completes; stock_quantity correctly decremented to 8 in MySQL.</a:t>
                      </a:r>
                    </a:p>
                  </a:txBody>
                  <a:tcPr anchor="ctr">
                    <a:solidFill>
                      <a:srgbClr val="F8FAFC"/>
                    </a:solidFill>
                  </a:tcPr>
                </a:tc>
                <a:tc>
                  <a:txBody>
                    <a:bodyPr/>
                    <a:lstStyle/>
                    <a:p>
                      <a:pPr algn="ctr">
                        <a:defRPr sz="950" b="1">
                          <a:solidFill>
                            <a:srgbClr val="10956A"/>
                          </a:solidFill>
                          <a:latin typeface="Calibri"/>
                        </a:defRPr>
                      </a:pPr>
                      <a:r>
                        <a:rPr sz="1500" dirty="0"/>
                        <a:t>PASS</a:t>
                      </a:r>
                    </a:p>
                  </a:txBody>
                  <a:tcPr anchor="ctr">
                    <a:solidFill>
                      <a:srgbClr val="F8FA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797B83-BF08-C617-86BE-007D466C37C6}"/>
              </a:ext>
            </a:extLst>
          </p:cNvPr>
          <p:cNvSpPr txBox="1"/>
          <p:nvPr/>
        </p:nvSpPr>
        <p:spPr>
          <a:xfrm>
            <a:off x="1016426" y="2321004"/>
            <a:ext cx="10584692" cy="1107996"/>
          </a:xfrm>
          <a:prstGeom prst="rect">
            <a:avLst/>
          </a:prstGeom>
          <a:noFill/>
        </p:spPr>
        <p:txBody>
          <a:bodyPr wrap="none" rtlCol="0">
            <a:spAutoFit/>
          </a:bodyPr>
          <a:lstStyle/>
          <a:p>
            <a:r>
              <a:rPr lang="en-US" sz="6600" dirty="0">
                <a:solidFill>
                  <a:srgbClr val="7030A0"/>
                </a:solidFill>
              </a:rPr>
              <a:t>Demonstration  of the project </a:t>
            </a:r>
            <a:endParaRPr lang="en-IN" sz="6600" dirty="0">
              <a:solidFill>
                <a:srgbClr val="7030A0"/>
              </a:solidFill>
            </a:endParaRPr>
          </a:p>
        </p:txBody>
      </p:sp>
    </p:spTree>
    <p:extLst>
      <p:ext uri="{BB962C8B-B14F-4D97-AF65-F5344CB8AC3E}">
        <p14:creationId xmlns:p14="http://schemas.microsoft.com/office/powerpoint/2010/main" val="629224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671979"/>
          </a:xfrm>
          <a:prstGeom prst="rect">
            <a:avLst/>
          </a:prstGeom>
          <a:noFill/>
        </p:spPr>
        <p:txBody>
          <a:bodyPr wrap="square" lIns="0" tIns="0" rIns="0" bIns="0">
            <a:spAutoFit/>
          </a:bodyPr>
          <a:lstStyle/>
          <a:p>
            <a:pPr>
              <a:defRPr sz="1000" b="1">
                <a:solidFill>
                  <a:srgbClr val="D32F2F"/>
                </a:solidFill>
                <a:latin typeface="Calibri"/>
              </a:defRPr>
            </a:pPr>
            <a:r>
              <a:rPr dirty="0"/>
              <a:t>SYSTEM EVALUATION</a:t>
            </a:r>
          </a:p>
          <a:p>
            <a:pPr algn="ctr">
              <a:spcBef>
                <a:spcPts val="200"/>
              </a:spcBef>
              <a:defRPr sz="2100" b="1">
                <a:solidFill>
                  <a:srgbClr val="0F1F38"/>
                </a:solidFill>
                <a:latin typeface="Calibri"/>
              </a:defRPr>
            </a:pPr>
            <a:r>
              <a:rPr sz="3200" dirty="0">
                <a:solidFill>
                  <a:schemeClr val="accent5">
                    <a:lumMod val="50000"/>
                  </a:schemeClr>
                </a:solidFill>
              </a:rPr>
              <a:t>Practical Advantages &amp; Current System Limitations</a:t>
            </a:r>
          </a:p>
        </p:txBody>
      </p:sp>
      <p:sp>
        <p:nvSpPr>
          <p:cNvPr id="4" name="Rounded Rectangle 3"/>
          <p:cNvSpPr/>
          <p:nvPr/>
        </p:nvSpPr>
        <p:spPr>
          <a:xfrm>
            <a:off x="624992" y="1234440"/>
            <a:ext cx="5212080" cy="537314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1415534"/>
            <a:ext cx="4754880" cy="369332"/>
          </a:xfrm>
          <a:prstGeom prst="rect">
            <a:avLst/>
          </a:prstGeom>
          <a:noFill/>
        </p:spPr>
        <p:txBody>
          <a:bodyPr wrap="square" lIns="0" tIns="0" rIns="0" bIns="0">
            <a:spAutoFit/>
          </a:bodyPr>
          <a:lstStyle/>
          <a:p>
            <a:pPr algn="ctr">
              <a:defRPr sz="1300" b="1">
                <a:solidFill>
                  <a:srgbClr val="0F1F38"/>
                </a:solidFill>
                <a:latin typeface="Calibri"/>
              </a:defRPr>
            </a:pPr>
            <a:r>
              <a:rPr sz="2400" dirty="0">
                <a:solidFill>
                  <a:schemeClr val="accent6">
                    <a:lumMod val="50000"/>
                  </a:schemeClr>
                </a:solidFill>
              </a:rPr>
              <a:t>Practical Advantages</a:t>
            </a:r>
          </a:p>
        </p:txBody>
      </p:sp>
      <p:sp>
        <p:nvSpPr>
          <p:cNvPr id="6" name="TextBox 5"/>
          <p:cNvSpPr txBox="1"/>
          <p:nvPr/>
        </p:nvSpPr>
        <p:spPr>
          <a:xfrm>
            <a:off x="960120" y="1920240"/>
            <a:ext cx="4754880" cy="4544834"/>
          </a:xfrm>
          <a:prstGeom prst="rect">
            <a:avLst/>
          </a:prstGeom>
          <a:noFill/>
        </p:spPr>
        <p:txBody>
          <a:bodyPr wrap="square" lIns="0" tIns="0" rIns="0" bIns="0">
            <a:spAutoFit/>
          </a:bodyPr>
          <a:lstStyle/>
          <a:p>
            <a:pPr>
              <a:defRPr sz="1100">
                <a:latin typeface="Calibri"/>
              </a:defRPr>
            </a:pPr>
            <a:r>
              <a:rPr sz="1700" b="1" dirty="0">
                <a:solidFill>
                  <a:srgbClr val="1E3A5F"/>
                </a:solidFill>
              </a:rPr>
              <a:t>• Zero Part-Mismatch Returns: </a:t>
            </a:r>
            <a:r>
              <a:rPr sz="1700" b="0" dirty="0">
                <a:solidFill>
                  <a:srgbClr val="1E293B"/>
                </a:solidFill>
              </a:rPr>
              <a:t>The verified two-wheeler compatibility engine eliminates customer confusion and dramatically reduces product return costs.</a:t>
            </a:r>
          </a:p>
          <a:p>
            <a:pPr>
              <a:spcBef>
                <a:spcPts val="700"/>
              </a:spcBef>
              <a:defRPr sz="1100">
                <a:latin typeface="Calibri"/>
              </a:defRPr>
            </a:pPr>
            <a:r>
              <a:rPr sz="1700" b="1" dirty="0">
                <a:solidFill>
                  <a:srgbClr val="1E3A5F"/>
                </a:solidFill>
              </a:rPr>
              <a:t>• Frictionless Sales Conversion: </a:t>
            </a:r>
            <a:r>
              <a:rPr sz="1700" b="0" dirty="0">
                <a:solidFill>
                  <a:srgbClr val="1E293B"/>
                </a:solidFill>
              </a:rPr>
              <a:t>Guest checkout allows customers and local mechanics to complete purchases in seconds without password hurdles.</a:t>
            </a:r>
          </a:p>
          <a:p>
            <a:pPr>
              <a:spcBef>
                <a:spcPts val="700"/>
              </a:spcBef>
              <a:defRPr sz="1100">
                <a:latin typeface="Calibri"/>
              </a:defRPr>
            </a:pPr>
            <a:r>
              <a:rPr sz="1700" b="1" dirty="0">
                <a:solidFill>
                  <a:srgbClr val="1E3A5F"/>
                </a:solidFill>
              </a:rPr>
              <a:t>• High-Performance Lightweight Stack: </a:t>
            </a:r>
            <a:r>
              <a:rPr sz="1700" b="0" dirty="0">
                <a:solidFill>
                  <a:srgbClr val="1E293B"/>
                </a:solidFill>
              </a:rPr>
              <a:t>Python Flask delivers lightning-fast page response times compared to heavy enterprise frameworks.</a:t>
            </a:r>
          </a:p>
          <a:p>
            <a:pPr>
              <a:spcBef>
                <a:spcPts val="700"/>
              </a:spcBef>
              <a:defRPr sz="1100">
                <a:latin typeface="Calibri"/>
              </a:defRPr>
            </a:pPr>
            <a:r>
              <a:rPr sz="1700" b="1" dirty="0">
                <a:solidFill>
                  <a:srgbClr val="1E3A5F"/>
                </a:solidFill>
              </a:rPr>
              <a:t>• ACID-Compliant Transactions: </a:t>
            </a:r>
            <a:r>
              <a:rPr sz="1700" b="0" dirty="0">
                <a:solidFill>
                  <a:srgbClr val="1E293B"/>
                </a:solidFill>
              </a:rPr>
              <a:t>MySQL ensures consistent inventory numbers and prevents phantom reads or duplicate order anomalies.</a:t>
            </a:r>
          </a:p>
          <a:p>
            <a:pPr>
              <a:spcBef>
                <a:spcPts val="700"/>
              </a:spcBef>
              <a:defRPr sz="1100">
                <a:latin typeface="Calibri"/>
              </a:defRPr>
            </a:pPr>
            <a:r>
              <a:rPr sz="1700" b="1" dirty="0">
                <a:solidFill>
                  <a:srgbClr val="1E3A5F"/>
                </a:solidFill>
              </a:rPr>
              <a:t>• Responsive Cross-Platform UI: </a:t>
            </a:r>
            <a:r>
              <a:rPr sz="1700" b="0" dirty="0">
                <a:solidFill>
                  <a:srgbClr val="1E293B"/>
                </a:solidFill>
              </a:rPr>
              <a:t>Optimized for mechanics ordering via Android smartphones or desktop counter staff.</a:t>
            </a:r>
          </a:p>
        </p:txBody>
      </p:sp>
      <p:sp>
        <p:nvSpPr>
          <p:cNvPr id="7" name="Rounded Rectangle 6"/>
          <p:cNvSpPr/>
          <p:nvPr/>
        </p:nvSpPr>
        <p:spPr>
          <a:xfrm>
            <a:off x="6172200" y="1318330"/>
            <a:ext cx="5212080" cy="520536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56096" y="1503259"/>
            <a:ext cx="4754880" cy="369332"/>
          </a:xfrm>
          <a:prstGeom prst="rect">
            <a:avLst/>
          </a:prstGeom>
          <a:noFill/>
        </p:spPr>
        <p:txBody>
          <a:bodyPr wrap="square" lIns="0" tIns="0" rIns="0" bIns="0">
            <a:spAutoFit/>
          </a:bodyPr>
          <a:lstStyle/>
          <a:p>
            <a:pPr algn="ctr">
              <a:defRPr sz="1300" b="1">
                <a:solidFill>
                  <a:srgbClr val="0F1F38"/>
                </a:solidFill>
                <a:latin typeface="Calibri"/>
              </a:defRPr>
            </a:pPr>
            <a:r>
              <a:rPr sz="2400" dirty="0">
                <a:solidFill>
                  <a:schemeClr val="accent6">
                    <a:lumMod val="50000"/>
                  </a:schemeClr>
                </a:solidFill>
              </a:rPr>
              <a:t>Current Limitations</a:t>
            </a:r>
          </a:p>
        </p:txBody>
      </p:sp>
      <p:sp>
        <p:nvSpPr>
          <p:cNvPr id="9" name="TextBox 8"/>
          <p:cNvSpPr txBox="1"/>
          <p:nvPr/>
        </p:nvSpPr>
        <p:spPr>
          <a:xfrm>
            <a:off x="6446520" y="1920240"/>
            <a:ext cx="4754880" cy="4283224"/>
          </a:xfrm>
          <a:prstGeom prst="rect">
            <a:avLst/>
          </a:prstGeom>
          <a:noFill/>
        </p:spPr>
        <p:txBody>
          <a:bodyPr wrap="square" lIns="0" tIns="0" rIns="0" bIns="0">
            <a:spAutoFit/>
          </a:bodyPr>
          <a:lstStyle/>
          <a:p>
            <a:pPr>
              <a:defRPr sz="1100">
                <a:latin typeface="Calibri"/>
              </a:defRPr>
            </a:pPr>
            <a:r>
              <a:rPr sz="1700" b="1" dirty="0">
                <a:solidFill>
                  <a:srgbClr val="1E3A5F"/>
                </a:solidFill>
              </a:rPr>
              <a:t>• Manual Payment Reconciliation: </a:t>
            </a:r>
            <a:r>
              <a:rPr sz="1700" b="0" dirty="0">
                <a:solidFill>
                  <a:srgbClr val="1E293B"/>
                </a:solidFill>
              </a:rPr>
              <a:t>UPI payments rely on customer UTR transaction entry rather than an automated bank webhook settlement gateway.</a:t>
            </a:r>
          </a:p>
          <a:p>
            <a:pPr>
              <a:spcBef>
                <a:spcPts val="700"/>
              </a:spcBef>
              <a:defRPr sz="1100">
                <a:latin typeface="Calibri"/>
              </a:defRPr>
            </a:pPr>
            <a:r>
              <a:rPr sz="1700" b="1" dirty="0">
                <a:solidFill>
                  <a:srgbClr val="1E3A5F"/>
                </a:solidFill>
              </a:rPr>
              <a:t>• Offline Barcode POS Integration: </a:t>
            </a:r>
            <a:r>
              <a:rPr sz="1700" b="0" dirty="0">
                <a:solidFill>
                  <a:srgbClr val="1E293B"/>
                </a:solidFill>
              </a:rPr>
              <a:t>The current web app does not yet interface with physical counter handheld laser barcode scanners.</a:t>
            </a:r>
          </a:p>
          <a:p>
            <a:pPr>
              <a:spcBef>
                <a:spcPts val="700"/>
              </a:spcBef>
              <a:defRPr sz="1100">
                <a:latin typeface="Calibri"/>
              </a:defRPr>
            </a:pPr>
            <a:r>
              <a:rPr sz="1700" b="1" dirty="0">
                <a:solidFill>
                  <a:srgbClr val="1E3A5F"/>
                </a:solidFill>
              </a:rPr>
              <a:t>• Single-Currency Scope: </a:t>
            </a:r>
            <a:r>
              <a:rPr sz="1700" b="0" dirty="0">
                <a:solidFill>
                  <a:srgbClr val="1E293B"/>
                </a:solidFill>
              </a:rPr>
              <a:t>Transactions and pricing are restricted to Indian Rupees (INR) for domestic automobile retail.</a:t>
            </a:r>
          </a:p>
          <a:p>
            <a:pPr>
              <a:spcBef>
                <a:spcPts val="700"/>
              </a:spcBef>
              <a:defRPr sz="1100">
                <a:latin typeface="Calibri"/>
              </a:defRPr>
            </a:pPr>
            <a:r>
              <a:rPr sz="1700" b="1" dirty="0">
                <a:solidFill>
                  <a:srgbClr val="1E3A5F"/>
                </a:solidFill>
              </a:rPr>
              <a:t>• Manual Stock Refill Trigger: </a:t>
            </a:r>
            <a:r>
              <a:rPr sz="1700" b="0" dirty="0">
                <a:solidFill>
                  <a:srgbClr val="1E293B"/>
                </a:solidFill>
              </a:rPr>
              <a:t>Store managers must periodically check stock reports rather than receiving automated supplier purchase orders.</a:t>
            </a:r>
          </a:p>
          <a:p>
            <a:pPr>
              <a:spcBef>
                <a:spcPts val="700"/>
              </a:spcBef>
              <a:defRPr sz="1100">
                <a:latin typeface="Calibri"/>
              </a:defRPr>
            </a:pPr>
            <a:r>
              <a:rPr sz="1700" b="1" dirty="0">
                <a:solidFill>
                  <a:srgbClr val="1E3A5F"/>
                </a:solidFill>
              </a:rPr>
              <a:t>• Local Delivery Radius: </a:t>
            </a:r>
            <a:r>
              <a:rPr sz="1700" b="0" dirty="0">
                <a:solidFill>
                  <a:srgbClr val="1E293B"/>
                </a:solidFill>
              </a:rPr>
              <a:t>Shipping calculations currently assume local Hubballi and regional Karnataka fulfillment.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68680"/>
          </a:xfrm>
          <a:prstGeom prst="rect">
            <a:avLst/>
          </a:prstGeom>
          <a:noFill/>
        </p:spPr>
        <p:txBody>
          <a:bodyPr wrap="square" lIns="0" tIns="0" rIns="0" bIns="0">
            <a:spAutoFit/>
          </a:bodyPr>
          <a:lstStyle/>
          <a:p>
            <a:pPr>
              <a:defRPr sz="1000" b="1">
                <a:solidFill>
                  <a:srgbClr val="D32F2F"/>
                </a:solidFill>
                <a:latin typeface="Calibri"/>
              </a:defRPr>
            </a:pPr>
            <a:r>
              <a:t>PROJECT ROADMAP</a:t>
            </a:r>
          </a:p>
          <a:p>
            <a:pPr>
              <a:spcBef>
                <a:spcPts val="200"/>
              </a:spcBef>
              <a:defRPr sz="2100" b="1">
                <a:solidFill>
                  <a:srgbClr val="0F1F38"/>
                </a:solidFill>
                <a:latin typeface="Calibri"/>
              </a:defRPr>
            </a:pPr>
            <a:r>
              <a:t>Proposed Future Enhancements</a:t>
            </a:r>
          </a:p>
        </p:txBody>
      </p:sp>
      <p:sp>
        <p:nvSpPr>
          <p:cNvPr id="4" name="Rounded Rectangle 3"/>
          <p:cNvSpPr/>
          <p:nvPr/>
        </p:nvSpPr>
        <p:spPr>
          <a:xfrm>
            <a:off x="731520" y="1371600"/>
            <a:ext cx="10728655" cy="868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1536192"/>
            <a:ext cx="548640" cy="53035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F1</a:t>
            </a:r>
          </a:p>
        </p:txBody>
      </p:sp>
      <p:sp>
        <p:nvSpPr>
          <p:cNvPr id="6" name="TextBox 5"/>
          <p:cNvSpPr txBox="1"/>
          <p:nvPr/>
        </p:nvSpPr>
        <p:spPr>
          <a:xfrm>
            <a:off x="1645920" y="1508760"/>
            <a:ext cx="9601200" cy="594360"/>
          </a:xfrm>
          <a:prstGeom prst="rect">
            <a:avLst/>
          </a:prstGeom>
          <a:noFill/>
        </p:spPr>
        <p:txBody>
          <a:bodyPr wrap="square">
            <a:spAutoFit/>
          </a:bodyPr>
          <a:lstStyle/>
          <a:p>
            <a:pPr>
              <a:defRPr sz="1250" b="1">
                <a:solidFill>
                  <a:srgbClr val="0F1F38"/>
                </a:solidFill>
              </a:defRPr>
            </a:pPr>
            <a:r>
              <a:t>1. Payment Gateway Webhook Integration</a:t>
            </a:r>
          </a:p>
          <a:p>
            <a:pPr>
              <a:spcBef>
                <a:spcPts val="200"/>
              </a:spcBef>
              <a:defRPr sz="1000">
                <a:solidFill>
                  <a:srgbClr val="64748B"/>
                </a:solidFill>
              </a:defRPr>
            </a:pPr>
            <a:r>
              <a:t>Integrate automated Razorpay or Cashfree webhooks to achieve instantaneous, zero-human-touch UPI payment confirmation and invoice clearing.</a:t>
            </a:r>
          </a:p>
        </p:txBody>
      </p:sp>
      <p:sp>
        <p:nvSpPr>
          <p:cNvPr id="7" name="Rounded Rectangle 6"/>
          <p:cNvSpPr/>
          <p:nvPr/>
        </p:nvSpPr>
        <p:spPr>
          <a:xfrm>
            <a:off x="731520" y="2359152"/>
            <a:ext cx="10728655" cy="868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2523744"/>
            <a:ext cx="548640" cy="53035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F2</a:t>
            </a:r>
          </a:p>
        </p:txBody>
      </p:sp>
      <p:sp>
        <p:nvSpPr>
          <p:cNvPr id="9" name="TextBox 8"/>
          <p:cNvSpPr txBox="1"/>
          <p:nvPr/>
        </p:nvSpPr>
        <p:spPr>
          <a:xfrm>
            <a:off x="1645920" y="2496312"/>
            <a:ext cx="9601200" cy="594360"/>
          </a:xfrm>
          <a:prstGeom prst="rect">
            <a:avLst/>
          </a:prstGeom>
          <a:noFill/>
        </p:spPr>
        <p:txBody>
          <a:bodyPr wrap="square">
            <a:spAutoFit/>
          </a:bodyPr>
          <a:lstStyle/>
          <a:p>
            <a:pPr>
              <a:defRPr sz="1250" b="1">
                <a:solidFill>
                  <a:srgbClr val="0F1F38"/>
                </a:solidFill>
              </a:defRPr>
            </a:pPr>
            <a:r>
              <a:t>2. Automated WhatsApp &amp; SMS Notifications</a:t>
            </a:r>
          </a:p>
          <a:p>
            <a:pPr>
              <a:spcBef>
                <a:spcPts val="200"/>
              </a:spcBef>
              <a:defRPr sz="1000">
                <a:solidFill>
                  <a:srgbClr val="64748B"/>
                </a:solidFill>
              </a:defRPr>
            </a:pPr>
            <a:r>
              <a:t>Connect Twilio / Gupshup WhatsApp APIs to send instant order confirmations, dispatched courier tracking links, and pickup OTPs to customers.</a:t>
            </a:r>
          </a:p>
        </p:txBody>
      </p:sp>
      <p:sp>
        <p:nvSpPr>
          <p:cNvPr id="10" name="Rounded Rectangle 9"/>
          <p:cNvSpPr/>
          <p:nvPr/>
        </p:nvSpPr>
        <p:spPr>
          <a:xfrm>
            <a:off x="731520" y="3346704"/>
            <a:ext cx="10728655" cy="868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14400" y="3511296"/>
            <a:ext cx="548640" cy="53035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F3</a:t>
            </a:r>
          </a:p>
        </p:txBody>
      </p:sp>
      <p:sp>
        <p:nvSpPr>
          <p:cNvPr id="12" name="TextBox 11"/>
          <p:cNvSpPr txBox="1"/>
          <p:nvPr/>
        </p:nvSpPr>
        <p:spPr>
          <a:xfrm>
            <a:off x="1645920" y="3483864"/>
            <a:ext cx="9601200" cy="594360"/>
          </a:xfrm>
          <a:prstGeom prst="rect">
            <a:avLst/>
          </a:prstGeom>
          <a:noFill/>
        </p:spPr>
        <p:txBody>
          <a:bodyPr wrap="square">
            <a:spAutoFit/>
          </a:bodyPr>
          <a:lstStyle/>
          <a:p>
            <a:pPr>
              <a:defRPr sz="1250" b="1">
                <a:solidFill>
                  <a:srgbClr val="0F1F38"/>
                </a:solidFill>
              </a:defRPr>
            </a:pPr>
            <a:r>
              <a:t>3. Automated PDF Tax Invoice Generation</a:t>
            </a:r>
          </a:p>
          <a:p>
            <a:pPr>
              <a:spcBef>
                <a:spcPts val="200"/>
              </a:spcBef>
              <a:defRPr sz="1000">
                <a:solidFill>
                  <a:srgbClr val="64748B"/>
                </a:solidFill>
              </a:defRPr>
            </a:pPr>
            <a:r>
              <a:t>Implement ReportLab / WeasyPrint to auto-generate downloadable, GST-compliant tax invoices with shop registration numbers upon order completion.</a:t>
            </a:r>
          </a:p>
        </p:txBody>
      </p:sp>
      <p:sp>
        <p:nvSpPr>
          <p:cNvPr id="13" name="Rounded Rectangle 12"/>
          <p:cNvSpPr/>
          <p:nvPr/>
        </p:nvSpPr>
        <p:spPr>
          <a:xfrm>
            <a:off x="731520" y="4334256"/>
            <a:ext cx="10728655" cy="868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4498848"/>
            <a:ext cx="548640" cy="53035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F4</a:t>
            </a:r>
          </a:p>
        </p:txBody>
      </p:sp>
      <p:sp>
        <p:nvSpPr>
          <p:cNvPr id="15" name="TextBox 14"/>
          <p:cNvSpPr txBox="1"/>
          <p:nvPr/>
        </p:nvSpPr>
        <p:spPr>
          <a:xfrm>
            <a:off x="1645920" y="4471416"/>
            <a:ext cx="9601200" cy="594360"/>
          </a:xfrm>
          <a:prstGeom prst="rect">
            <a:avLst/>
          </a:prstGeom>
          <a:noFill/>
        </p:spPr>
        <p:txBody>
          <a:bodyPr wrap="square">
            <a:spAutoFit/>
          </a:bodyPr>
          <a:lstStyle/>
          <a:p>
            <a:pPr>
              <a:defRPr sz="1250" b="1">
                <a:solidFill>
                  <a:srgbClr val="0F1F38"/>
                </a:solidFill>
              </a:defRPr>
            </a:pPr>
            <a:r>
              <a:t>4. Predictive Low-Stock Supplier Alerts</a:t>
            </a:r>
          </a:p>
          <a:p>
            <a:pPr>
              <a:spcBef>
                <a:spcPts val="200"/>
              </a:spcBef>
              <a:defRPr sz="1000">
                <a:solidFill>
                  <a:srgbClr val="64748B"/>
                </a:solidFill>
              </a:defRPr>
            </a:pPr>
            <a:r>
              <a:t>Establish automated background cron jobs that detect when fast-moving items drop below threshold and auto-draft supplier purchase orders.</a:t>
            </a:r>
          </a:p>
        </p:txBody>
      </p:sp>
      <p:sp>
        <p:nvSpPr>
          <p:cNvPr id="16" name="Rounded Rectangle 15"/>
          <p:cNvSpPr/>
          <p:nvPr/>
        </p:nvSpPr>
        <p:spPr>
          <a:xfrm>
            <a:off x="731520" y="5321808"/>
            <a:ext cx="10728655" cy="868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14400" y="5486400"/>
            <a:ext cx="548640" cy="53035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F5</a:t>
            </a:r>
          </a:p>
        </p:txBody>
      </p:sp>
      <p:sp>
        <p:nvSpPr>
          <p:cNvPr id="18" name="TextBox 17"/>
          <p:cNvSpPr txBox="1"/>
          <p:nvPr/>
        </p:nvSpPr>
        <p:spPr>
          <a:xfrm>
            <a:off x="1645920" y="5458968"/>
            <a:ext cx="9601200" cy="594360"/>
          </a:xfrm>
          <a:prstGeom prst="rect">
            <a:avLst/>
          </a:prstGeom>
          <a:noFill/>
        </p:spPr>
        <p:txBody>
          <a:bodyPr wrap="square">
            <a:spAutoFit/>
          </a:bodyPr>
          <a:lstStyle/>
          <a:p>
            <a:pPr>
              <a:defRPr sz="1250" b="1">
                <a:solidFill>
                  <a:srgbClr val="0F1F38"/>
                </a:solidFill>
              </a:defRPr>
            </a:pPr>
            <a:r>
              <a:t>5. Machine Learning Part Recommendations</a:t>
            </a:r>
          </a:p>
          <a:p>
            <a:pPr>
              <a:spcBef>
                <a:spcPts val="200"/>
              </a:spcBef>
              <a:defRPr sz="1000">
                <a:solidFill>
                  <a:srgbClr val="64748B"/>
                </a:solidFill>
              </a:defRPr>
            </a:pPr>
            <a:r>
              <a:t>Deploy an association-rule recommendation engine suggesting complementary spares during checkout (e.g. suggesting brake fluid when purchasing disc pads).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548868"/>
          </a:xfrm>
          <a:prstGeom prst="rect">
            <a:avLst/>
          </a:prstGeom>
          <a:noFill/>
        </p:spPr>
        <p:txBody>
          <a:bodyPr wrap="square" lIns="0" tIns="0" rIns="0" bIns="0">
            <a:spAutoFit/>
          </a:bodyPr>
          <a:lstStyle/>
          <a:p>
            <a:pPr>
              <a:defRPr sz="1000" b="1">
                <a:solidFill>
                  <a:srgbClr val="D32F2F"/>
                </a:solidFill>
                <a:latin typeface="Calibri"/>
              </a:defRPr>
            </a:pPr>
            <a:r>
              <a:rPr dirty="0"/>
              <a:t>PROJECT CONCLUSION</a:t>
            </a:r>
          </a:p>
          <a:p>
            <a:pPr>
              <a:spcBef>
                <a:spcPts val="200"/>
              </a:spcBef>
              <a:defRPr sz="2100" b="1">
                <a:solidFill>
                  <a:srgbClr val="0F1F38"/>
                </a:solidFill>
                <a:latin typeface="Calibri"/>
              </a:defRPr>
            </a:pPr>
            <a:r>
              <a:rPr sz="2400" dirty="0">
                <a:solidFill>
                  <a:schemeClr val="accent5">
                    <a:lumMod val="50000"/>
                  </a:schemeClr>
                </a:solidFill>
              </a:rPr>
              <a:t>Conclusion </a:t>
            </a:r>
          </a:p>
        </p:txBody>
      </p:sp>
      <p:sp>
        <p:nvSpPr>
          <p:cNvPr id="4" name="Rounded Rectangle 3"/>
          <p:cNvSpPr/>
          <p:nvPr/>
        </p:nvSpPr>
        <p:spPr>
          <a:xfrm>
            <a:off x="1348974" y="1188720"/>
            <a:ext cx="9004415"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66159" y="1380915"/>
            <a:ext cx="4754880" cy="369332"/>
          </a:xfrm>
          <a:prstGeom prst="rect">
            <a:avLst/>
          </a:prstGeom>
          <a:noFill/>
        </p:spPr>
        <p:txBody>
          <a:bodyPr wrap="square" lIns="0" tIns="0" rIns="0" bIns="0">
            <a:spAutoFit/>
          </a:bodyPr>
          <a:lstStyle/>
          <a:p>
            <a:pPr>
              <a:defRPr sz="1300" b="1">
                <a:solidFill>
                  <a:srgbClr val="0F1F38"/>
                </a:solidFill>
                <a:latin typeface="Calibri"/>
              </a:defRPr>
            </a:pPr>
            <a:r>
              <a:rPr sz="2400" dirty="0">
                <a:solidFill>
                  <a:schemeClr val="accent6">
                    <a:lumMod val="50000"/>
                  </a:schemeClr>
                </a:solidFill>
              </a:rPr>
              <a:t>Project Conclusion &amp; Impact</a:t>
            </a:r>
          </a:p>
        </p:txBody>
      </p:sp>
      <p:sp>
        <p:nvSpPr>
          <p:cNvPr id="6" name="TextBox 5"/>
          <p:cNvSpPr txBox="1"/>
          <p:nvPr/>
        </p:nvSpPr>
        <p:spPr>
          <a:xfrm>
            <a:off x="1610546" y="2340475"/>
            <a:ext cx="8481270" cy="2731517"/>
          </a:xfrm>
          <a:prstGeom prst="rect">
            <a:avLst/>
          </a:prstGeom>
          <a:noFill/>
        </p:spPr>
        <p:txBody>
          <a:bodyPr wrap="square" lIns="0" tIns="0" rIns="0" bIns="0">
            <a:spAutoFit/>
          </a:bodyPr>
          <a:lstStyle/>
          <a:p>
            <a:pPr>
              <a:defRPr sz="1100">
                <a:latin typeface="Calibri"/>
              </a:defRPr>
            </a:pPr>
            <a:r>
              <a:rPr sz="2000" b="1" dirty="0">
                <a:solidFill>
                  <a:srgbClr val="1E3A5F"/>
                </a:solidFill>
              </a:rPr>
              <a:t>• Successful Digitalization: </a:t>
            </a:r>
            <a:r>
              <a:rPr sz="2000" b="0" dirty="0">
                <a:solidFill>
                  <a:srgbClr val="1E293B"/>
                </a:solidFill>
              </a:rPr>
              <a:t>NK Automobiles successfully bridges traditional retail automobile shopkeeping with modern, scalable web engineering.</a:t>
            </a:r>
          </a:p>
          <a:p>
            <a:pPr>
              <a:spcBef>
                <a:spcPts val="700"/>
              </a:spcBef>
              <a:defRPr sz="1100">
                <a:latin typeface="Calibri"/>
              </a:defRPr>
            </a:pPr>
            <a:r>
              <a:rPr sz="2000" b="1" dirty="0">
                <a:solidFill>
                  <a:srgbClr val="1E3A5F"/>
                </a:solidFill>
              </a:rPr>
              <a:t>• Solves Core Industry Pain: </a:t>
            </a:r>
            <a:r>
              <a:rPr sz="2000" b="0" dirty="0">
                <a:solidFill>
                  <a:srgbClr val="1E293B"/>
                </a:solidFill>
              </a:rPr>
              <a:t>The Two-Wheeler Compatibility Engine sets this system apart by eliminating part mismatch returns across 1,655 vehicle relations.</a:t>
            </a:r>
          </a:p>
          <a:p>
            <a:pPr>
              <a:spcBef>
                <a:spcPts val="700"/>
              </a:spcBef>
              <a:defRPr sz="1100">
                <a:latin typeface="Calibri"/>
              </a:defRPr>
            </a:pPr>
            <a:r>
              <a:rPr sz="2000" b="1" dirty="0">
                <a:solidFill>
                  <a:srgbClr val="1E3A5F"/>
                </a:solidFill>
              </a:rPr>
              <a:t>• Commercial Readiness: </a:t>
            </a:r>
            <a:r>
              <a:rPr sz="2000" b="0" dirty="0">
                <a:solidFill>
                  <a:srgbClr val="1E293B"/>
                </a:solidFill>
              </a:rPr>
              <a:t>Features like Guest Checkout and dynamic UPI QR codes make the application instantly deployable for real-world business.</a:t>
            </a:r>
          </a:p>
          <a:p>
            <a:pPr>
              <a:spcBef>
                <a:spcPts val="700"/>
              </a:spcBef>
              <a:defRPr sz="1100">
                <a:latin typeface="Calibri"/>
              </a:defRPr>
            </a:pPr>
            <a:r>
              <a:rPr sz="2000" b="1" dirty="0">
                <a:solidFill>
                  <a:srgbClr val="1E3A5F"/>
                </a:solidFill>
              </a:rPr>
              <a:t>• Clean Maintainable Codebase: </a:t>
            </a:r>
            <a:r>
              <a:rPr sz="2000" b="0" dirty="0">
                <a:solidFill>
                  <a:srgbClr val="1E293B"/>
                </a:solidFill>
              </a:rPr>
              <a:t>Built with clean MVC separation, parameterized SQL security, and modular Python Flask architecture.</a:t>
            </a:r>
          </a:p>
        </p:txBody>
      </p:sp>
      <p:sp>
        <p:nvSpPr>
          <p:cNvPr id="10" name="TextBox 9"/>
          <p:cNvSpPr txBox="1"/>
          <p:nvPr/>
        </p:nvSpPr>
        <p:spPr>
          <a:xfrm>
            <a:off x="579272" y="6492240"/>
            <a:ext cx="10728655" cy="731520"/>
          </a:xfrm>
          <a:prstGeom prst="rect">
            <a:avLst/>
          </a:prstGeom>
          <a:noFill/>
        </p:spPr>
        <p:txBody>
          <a:bodyPr wrap="none">
            <a:spAutoFit/>
          </a:bodyPr>
          <a:lstStyle/>
          <a:p>
            <a:pPr algn="ctr">
              <a:defRPr sz="1150" b="1">
                <a:solidFill>
                  <a:srgbClr val="0F1F38"/>
                </a:solidFill>
              </a:defRPr>
            </a:pPr>
            <a:r>
              <a:rPr dirty="0"/>
              <a:t>Thank you to our Project Guide, HOD, Faculty of Chetan Business School, and External Examiners. We welcome your questions!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68680"/>
          </a:xfrm>
          <a:prstGeom prst="rect">
            <a:avLst/>
          </a:prstGeom>
          <a:noFill/>
        </p:spPr>
        <p:txBody>
          <a:bodyPr wrap="square" lIns="0" tIns="0" rIns="0" bIns="0">
            <a:spAutoFit/>
          </a:bodyPr>
          <a:lstStyle/>
          <a:p>
            <a:pPr>
              <a:defRPr sz="1000" b="1">
                <a:solidFill>
                  <a:srgbClr val="D32F2F"/>
                </a:solidFill>
                <a:latin typeface="Calibri"/>
              </a:defRPr>
            </a:pPr>
            <a:r>
              <a:t>VIVA PREPARATION</a:t>
            </a:r>
          </a:p>
          <a:p>
            <a:pPr>
              <a:spcBef>
                <a:spcPts val="200"/>
              </a:spcBef>
              <a:defRPr sz="2100" b="1">
                <a:solidFill>
                  <a:srgbClr val="0F1F38"/>
                </a:solidFill>
                <a:latin typeface="Calibri"/>
              </a:defRPr>
            </a:pPr>
            <a:r>
              <a:t>Appendix: Top 10 MCA Viva Voce Questions &amp; Model Answers</a:t>
            </a:r>
          </a:p>
        </p:txBody>
      </p:sp>
      <p:sp>
        <p:nvSpPr>
          <p:cNvPr id="4" name="Rounded Rectangle 3"/>
          <p:cNvSpPr/>
          <p:nvPr/>
        </p:nvSpPr>
        <p:spPr>
          <a:xfrm>
            <a:off x="731520" y="137160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63040"/>
            <a:ext cx="4937760" cy="731520"/>
          </a:xfrm>
          <a:prstGeom prst="rect">
            <a:avLst/>
          </a:prstGeom>
          <a:noFill/>
        </p:spPr>
        <p:txBody>
          <a:bodyPr wrap="square">
            <a:spAutoFit/>
          </a:bodyPr>
          <a:lstStyle/>
          <a:p>
            <a:pPr>
              <a:defRPr sz="1000" b="1">
                <a:solidFill>
                  <a:srgbClr val="0F1F38"/>
                </a:solidFill>
              </a:defRPr>
            </a:pPr>
            <a:r>
              <a:t>Q1: Why did you choose Flask over Django?</a:t>
            </a:r>
          </a:p>
          <a:p>
            <a:pPr>
              <a:spcBef>
                <a:spcPts val="200"/>
              </a:spcBef>
              <a:defRPr sz="900">
                <a:solidFill>
                  <a:srgbClr val="64748B"/>
                </a:solidFill>
              </a:defRPr>
            </a:pPr>
            <a:r>
              <a:t>Flask is a lightweight micro-framework giving full architectural control without the monolithic overhead of Django, making it ideal for custom automotive schemas and fast execution.</a:t>
            </a:r>
          </a:p>
        </p:txBody>
      </p:sp>
      <p:sp>
        <p:nvSpPr>
          <p:cNvPr id="6" name="Rounded Rectangle 5"/>
          <p:cNvSpPr/>
          <p:nvPr/>
        </p:nvSpPr>
        <p:spPr>
          <a:xfrm>
            <a:off x="6217920" y="137160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55080" y="1463040"/>
            <a:ext cx="4937760" cy="731520"/>
          </a:xfrm>
          <a:prstGeom prst="rect">
            <a:avLst/>
          </a:prstGeom>
          <a:noFill/>
        </p:spPr>
        <p:txBody>
          <a:bodyPr wrap="square">
            <a:spAutoFit/>
          </a:bodyPr>
          <a:lstStyle/>
          <a:p>
            <a:pPr>
              <a:defRPr sz="1000" b="1">
                <a:solidFill>
                  <a:srgbClr val="0F1F38"/>
                </a:solidFill>
              </a:defRPr>
            </a:pPr>
            <a:r>
              <a:t>Q2: How do you prevent SQL Injection?</a:t>
            </a:r>
          </a:p>
          <a:p>
            <a:pPr>
              <a:spcBef>
                <a:spcPts val="200"/>
              </a:spcBef>
              <a:defRPr sz="900">
                <a:solidFill>
                  <a:srgbClr val="64748B"/>
                </a:solidFill>
              </a:defRPr>
            </a:pPr>
            <a:r>
              <a:t>Every database interaction in db_queries.py uses parameterized queries (e.g. cursor.execute(query, tuple(params))) where user inputs are treated as literal values, never concatenated.</a:t>
            </a:r>
          </a:p>
        </p:txBody>
      </p:sp>
      <p:sp>
        <p:nvSpPr>
          <p:cNvPr id="8" name="Rounded Rectangle 7"/>
          <p:cNvSpPr/>
          <p:nvPr/>
        </p:nvSpPr>
        <p:spPr>
          <a:xfrm>
            <a:off x="731520" y="237744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468880"/>
            <a:ext cx="4937760" cy="731520"/>
          </a:xfrm>
          <a:prstGeom prst="rect">
            <a:avLst/>
          </a:prstGeom>
          <a:noFill/>
        </p:spPr>
        <p:txBody>
          <a:bodyPr wrap="square">
            <a:spAutoFit/>
          </a:bodyPr>
          <a:lstStyle/>
          <a:p>
            <a:pPr>
              <a:defRPr sz="1000" b="1">
                <a:solidFill>
                  <a:srgbClr val="0F1F38"/>
                </a:solidFill>
              </a:defRPr>
            </a:pPr>
            <a:r>
              <a:t>Q3: How is password security managed?</a:t>
            </a:r>
          </a:p>
          <a:p>
            <a:pPr>
              <a:spcBef>
                <a:spcPts val="200"/>
              </a:spcBef>
              <a:defRPr sz="900">
                <a:solidFill>
                  <a:srgbClr val="64748B"/>
                </a:solidFill>
              </a:defRPr>
            </a:pPr>
            <a:r>
              <a:t>Passwords are never stored in plaintext. We utilize Werkzeug Security's generate_password_hash() and check_password_hash(), utilizing salted cryptographic hashing.</a:t>
            </a:r>
          </a:p>
        </p:txBody>
      </p:sp>
      <p:sp>
        <p:nvSpPr>
          <p:cNvPr id="10" name="Rounded Rectangle 9"/>
          <p:cNvSpPr/>
          <p:nvPr/>
        </p:nvSpPr>
        <p:spPr>
          <a:xfrm>
            <a:off x="6217920" y="237744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2468880"/>
            <a:ext cx="4937760" cy="731520"/>
          </a:xfrm>
          <a:prstGeom prst="rect">
            <a:avLst/>
          </a:prstGeom>
          <a:noFill/>
        </p:spPr>
        <p:txBody>
          <a:bodyPr wrap="square">
            <a:spAutoFit/>
          </a:bodyPr>
          <a:lstStyle/>
          <a:p>
            <a:pPr>
              <a:defRPr sz="1000" b="1">
                <a:solidFill>
                  <a:srgbClr val="0F1F38"/>
                </a:solidFill>
              </a:defRPr>
            </a:pPr>
            <a:r>
              <a:t>Q4: What is the normalization level of your schema?</a:t>
            </a:r>
          </a:p>
          <a:p>
            <a:pPr>
              <a:spcBef>
                <a:spcPts val="200"/>
              </a:spcBef>
              <a:defRPr sz="900">
                <a:solidFill>
                  <a:srgbClr val="64748B"/>
                </a:solidFill>
              </a:defRPr>
            </a:pPr>
            <a:r>
              <a:t>The database is normalized to Third Normal Form (3NF). Repeating groups are eliminated, partial dependencies are removed, and transitive dependencies are decoupled into separate tables.</a:t>
            </a:r>
          </a:p>
        </p:txBody>
      </p:sp>
      <p:sp>
        <p:nvSpPr>
          <p:cNvPr id="12" name="Rounded Rectangle 11"/>
          <p:cNvSpPr/>
          <p:nvPr/>
        </p:nvSpPr>
        <p:spPr>
          <a:xfrm>
            <a:off x="731520" y="338328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3474720"/>
            <a:ext cx="4937760" cy="731520"/>
          </a:xfrm>
          <a:prstGeom prst="rect">
            <a:avLst/>
          </a:prstGeom>
          <a:noFill/>
        </p:spPr>
        <p:txBody>
          <a:bodyPr wrap="square">
            <a:spAutoFit/>
          </a:bodyPr>
          <a:lstStyle/>
          <a:p>
            <a:pPr>
              <a:defRPr sz="1000" b="1">
                <a:solidFill>
                  <a:srgbClr val="0F1F38"/>
                </a:solidFill>
              </a:defRPr>
            </a:pPr>
            <a:r>
              <a:t>Q5: How does the Two-Wheeler Compatibility Engine work?</a:t>
            </a:r>
          </a:p>
          <a:p>
            <a:pPr>
              <a:spcBef>
                <a:spcPts val="200"/>
              </a:spcBef>
              <a:defRPr sz="900">
                <a:solidFill>
                  <a:srgbClr val="64748B"/>
                </a:solidFill>
              </a:defRPr>
            </a:pPr>
            <a:r>
              <a:t>It uses a many-to-many relationship table (product_compatibility) linking products to specific bike models. A client-side JavaScript engine provides instant real-time filtering without page reloads.</a:t>
            </a:r>
          </a:p>
        </p:txBody>
      </p:sp>
      <p:sp>
        <p:nvSpPr>
          <p:cNvPr id="14" name="Rounded Rectangle 13"/>
          <p:cNvSpPr/>
          <p:nvPr/>
        </p:nvSpPr>
        <p:spPr>
          <a:xfrm>
            <a:off x="6217920" y="338328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3474720"/>
            <a:ext cx="4937760" cy="731520"/>
          </a:xfrm>
          <a:prstGeom prst="rect">
            <a:avLst/>
          </a:prstGeom>
          <a:noFill/>
        </p:spPr>
        <p:txBody>
          <a:bodyPr wrap="square">
            <a:spAutoFit/>
          </a:bodyPr>
          <a:lstStyle/>
          <a:p>
            <a:pPr>
              <a:defRPr sz="1000" b="1">
                <a:solidFill>
                  <a:srgbClr val="0F1F38"/>
                </a:solidFill>
              </a:defRPr>
            </a:pPr>
            <a:r>
              <a:t>Q6: How are database transactions handled during order checkout?</a:t>
            </a:r>
          </a:p>
          <a:p>
            <a:pPr>
              <a:spcBef>
                <a:spcPts val="200"/>
              </a:spcBef>
              <a:defRPr sz="900">
                <a:solidFill>
                  <a:srgbClr val="64748B"/>
                </a:solidFill>
              </a:defRPr>
            </a:pPr>
            <a:r>
              <a:t>We wrap order creation and stock decrement in an atomic transaction: if any insertion fails, conn.rollback() triggers, preventing phantom orders or corrupted stock counts.</a:t>
            </a:r>
          </a:p>
        </p:txBody>
      </p:sp>
      <p:sp>
        <p:nvSpPr>
          <p:cNvPr id="16" name="Rounded Rectangle 15"/>
          <p:cNvSpPr/>
          <p:nvPr/>
        </p:nvSpPr>
        <p:spPr>
          <a:xfrm>
            <a:off x="731520" y="438912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480560"/>
            <a:ext cx="4937760" cy="731520"/>
          </a:xfrm>
          <a:prstGeom prst="rect">
            <a:avLst/>
          </a:prstGeom>
          <a:noFill/>
        </p:spPr>
        <p:txBody>
          <a:bodyPr wrap="square">
            <a:spAutoFit/>
          </a:bodyPr>
          <a:lstStyle/>
          <a:p>
            <a:pPr>
              <a:defRPr sz="1000" b="1">
                <a:solidFill>
                  <a:srgbClr val="0F1F38"/>
                </a:solidFill>
              </a:defRPr>
            </a:pPr>
            <a:r>
              <a:t>Q7: Why implement Guest Checkout?</a:t>
            </a:r>
          </a:p>
          <a:p>
            <a:pPr>
              <a:spcBef>
                <a:spcPts val="200"/>
              </a:spcBef>
              <a:defRPr sz="900">
                <a:solidFill>
                  <a:srgbClr val="64748B"/>
                </a:solidFill>
              </a:defRPr>
            </a:pPr>
            <a:r>
              <a:t>Automobile customers often need quick emergency spares and abandon purchases if forced to register. Guest checkout maximizes conversion by requiring only recipient details.</a:t>
            </a:r>
          </a:p>
        </p:txBody>
      </p:sp>
      <p:sp>
        <p:nvSpPr>
          <p:cNvPr id="18" name="Rounded Rectangle 17"/>
          <p:cNvSpPr/>
          <p:nvPr/>
        </p:nvSpPr>
        <p:spPr>
          <a:xfrm>
            <a:off x="6217920" y="438912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4480560"/>
            <a:ext cx="4937760" cy="731520"/>
          </a:xfrm>
          <a:prstGeom prst="rect">
            <a:avLst/>
          </a:prstGeom>
          <a:noFill/>
        </p:spPr>
        <p:txBody>
          <a:bodyPr wrap="square">
            <a:spAutoFit/>
          </a:bodyPr>
          <a:lstStyle/>
          <a:p>
            <a:pPr>
              <a:defRPr sz="1000" b="1">
                <a:solidFill>
                  <a:srgbClr val="0F1F38"/>
                </a:solidFill>
              </a:defRPr>
            </a:pPr>
            <a:r>
              <a:t>Q8: How does the dynamic UPI QR code function?</a:t>
            </a:r>
          </a:p>
          <a:p>
            <a:pPr>
              <a:spcBef>
                <a:spcPts val="200"/>
              </a:spcBef>
              <a:defRPr sz="900">
                <a:solidFill>
                  <a:srgbClr val="64748B"/>
                </a:solidFill>
              </a:defRPr>
            </a:pPr>
            <a:r>
              <a:t>It dynamically encodes standard NPCI UPI URI strings containing the payee VPA, payee name, amount, and order reference ID into a scannable QR code.</a:t>
            </a:r>
          </a:p>
        </p:txBody>
      </p:sp>
      <p:sp>
        <p:nvSpPr>
          <p:cNvPr id="20" name="Rounded Rectangle 19"/>
          <p:cNvSpPr/>
          <p:nvPr/>
        </p:nvSpPr>
        <p:spPr>
          <a:xfrm>
            <a:off x="731520" y="539496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5486400"/>
            <a:ext cx="4937760" cy="731520"/>
          </a:xfrm>
          <a:prstGeom prst="rect">
            <a:avLst/>
          </a:prstGeom>
          <a:noFill/>
        </p:spPr>
        <p:txBody>
          <a:bodyPr wrap="square">
            <a:spAutoFit/>
          </a:bodyPr>
          <a:lstStyle/>
          <a:p>
            <a:pPr>
              <a:defRPr sz="1000" b="1">
                <a:solidFill>
                  <a:srgbClr val="0F1F38"/>
                </a:solidFill>
              </a:defRPr>
            </a:pPr>
            <a:r>
              <a:t>Q9: What happens if an admin tries to delete a product already present in previous orders?</a:t>
            </a:r>
          </a:p>
          <a:p>
            <a:pPr>
              <a:spcBef>
                <a:spcPts val="200"/>
              </a:spcBef>
              <a:defRPr sz="900">
                <a:solidFill>
                  <a:srgbClr val="64748B"/>
                </a:solidFill>
              </a:defRPr>
            </a:pPr>
            <a:r>
              <a:t>We implemented Soft Deletion (setting is_active = 0). Physical deletion is avoided to protect referential integrity and historical financial reports.</a:t>
            </a:r>
          </a:p>
        </p:txBody>
      </p:sp>
      <p:sp>
        <p:nvSpPr>
          <p:cNvPr id="22" name="Rounded Rectangle 21"/>
          <p:cNvSpPr/>
          <p:nvPr/>
        </p:nvSpPr>
        <p:spPr>
          <a:xfrm>
            <a:off x="6217920" y="5394960"/>
            <a:ext cx="5212080" cy="914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5486400"/>
            <a:ext cx="4937760" cy="731520"/>
          </a:xfrm>
          <a:prstGeom prst="rect">
            <a:avLst/>
          </a:prstGeom>
          <a:noFill/>
        </p:spPr>
        <p:txBody>
          <a:bodyPr wrap="square">
            <a:spAutoFit/>
          </a:bodyPr>
          <a:lstStyle/>
          <a:p>
            <a:pPr>
              <a:defRPr sz="1000" b="1">
                <a:solidFill>
                  <a:srgbClr val="0F1F38"/>
                </a:solidFill>
              </a:defRPr>
            </a:pPr>
            <a:r>
              <a:t>Q10: How are user sessions handled in Flask?</a:t>
            </a:r>
          </a:p>
          <a:p>
            <a:pPr>
              <a:spcBef>
                <a:spcPts val="200"/>
              </a:spcBef>
              <a:defRPr sz="900">
                <a:solidFill>
                  <a:srgbClr val="64748B"/>
                </a:solidFill>
              </a:defRPr>
            </a:pPr>
            <a:r>
              <a:t>Sessions are cryptographically signed using Flask's SECRET_KEY and stored in secure browser cookies, preventing client-side tampering of user IDs and admin roles.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TotalTime>
  <Words>5062</Words>
  <Application>Microsoft Office PowerPoint</Application>
  <PresentationFormat>Widescreen</PresentationFormat>
  <Paragraphs>314</Paragraphs>
  <Slides>17</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shridhar kusugal</cp:lastModifiedBy>
  <cp:revision>1</cp:revision>
  <dcterms:created xsi:type="dcterms:W3CDTF">2013-01-27T09:14:16Z</dcterms:created>
  <dcterms:modified xsi:type="dcterms:W3CDTF">2026-10-27T13:54:59Z</dcterms:modified>
  <cp:category/>
</cp:coreProperties>
</file>